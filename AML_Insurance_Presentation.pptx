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9144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1247120" cy="822960"/>
          </a:xfrm>
          <a:prstGeom prst="rect">
            <a:avLst/>
          </a:prstGeom>
          <a:noFill/>
        </p:spPr>
        <p:txBody>
          <a:bodyPr wrap="square">
            <a:spAutoFit/>
          </a:bodyPr>
          <a:lstStyle/>
          <a:p>
            <a:pPr algn="ctr"/>
            <a:r>
              <a:rPr sz="3800" b="1" i="0">
                <a:solidFill>
                  <a:srgbClr val="FFFFFF"/>
                </a:solidFill>
              </a:rPr>
              <a:t>ANTI-MONEY LAUNDERING (AML)</a:t>
            </a:r>
          </a:p>
        </p:txBody>
      </p:sp>
      <p:sp>
        <p:nvSpPr>
          <p:cNvPr id="5" name="TextBox 4"/>
          <p:cNvSpPr txBox="1"/>
          <p:nvPr/>
        </p:nvSpPr>
        <p:spPr>
          <a:xfrm>
            <a:off x="457200" y="1325880"/>
            <a:ext cx="11247120" cy="731520"/>
          </a:xfrm>
          <a:prstGeom prst="rect">
            <a:avLst/>
          </a:prstGeom>
          <a:noFill/>
        </p:spPr>
        <p:txBody>
          <a:bodyPr wrap="square">
            <a:spAutoFit/>
          </a:bodyPr>
          <a:lstStyle/>
          <a:p>
            <a:pPr algn="ctr"/>
            <a:r>
              <a:rPr sz="3200" b="1" i="0">
                <a:solidFill>
                  <a:srgbClr val="F0A500"/>
                </a:solidFill>
              </a:rPr>
              <a:t>IN THE INSURANCE SECTOR</a:t>
            </a:r>
          </a:p>
        </p:txBody>
      </p:sp>
      <p:sp>
        <p:nvSpPr>
          <p:cNvPr id="6" name="TextBox 5"/>
          <p:cNvSpPr txBox="1"/>
          <p:nvPr/>
        </p:nvSpPr>
        <p:spPr>
          <a:xfrm>
            <a:off x="457200" y="2057400"/>
            <a:ext cx="11247120" cy="1005840"/>
          </a:xfrm>
          <a:prstGeom prst="rect">
            <a:avLst/>
          </a:prstGeom>
          <a:noFill/>
        </p:spPr>
        <p:txBody>
          <a:bodyPr wrap="square">
            <a:spAutoFit/>
          </a:bodyPr>
          <a:lstStyle/>
          <a:p>
            <a:pPr algn="ctr"/>
            <a:r>
              <a:rPr sz="1800" b="0" i="0">
                <a:solidFill>
                  <a:srgbClr val="FFFFFF"/>
                </a:solidFill>
              </a:rPr>
              <a:t>Intelligent Multi-Layer Machine Learning Framework for
Risk Identification and Regulatory Compliance</a:t>
            </a:r>
          </a:p>
        </p:txBody>
      </p:sp>
      <p:sp>
        <p:nvSpPr>
          <p:cNvPr id="7" name="Rectangle 6"/>
          <p:cNvSpPr/>
          <p:nvPr/>
        </p:nvSpPr>
        <p:spPr>
          <a:xfrm>
            <a:off x="0" y="3337560"/>
            <a:ext cx="12188952"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474720"/>
            <a:ext cx="11247120" cy="502920"/>
          </a:xfrm>
          <a:prstGeom prst="rect">
            <a:avLst/>
          </a:prstGeom>
          <a:noFill/>
        </p:spPr>
        <p:txBody>
          <a:bodyPr wrap="square">
            <a:spAutoFit/>
          </a:bodyPr>
          <a:lstStyle/>
          <a:p>
            <a:pPr algn="ctr"/>
            <a:r>
              <a:rPr sz="1600" b="0" i="0">
                <a:solidFill>
                  <a:srgbClr val="AACCFF"/>
                </a:solidFill>
              </a:rPr>
              <a:t>A Research Case Study</a:t>
            </a:r>
          </a:p>
        </p:txBody>
      </p:sp>
      <p:sp>
        <p:nvSpPr>
          <p:cNvPr id="9" name="TextBox 8"/>
          <p:cNvSpPr txBox="1"/>
          <p:nvPr/>
        </p:nvSpPr>
        <p:spPr>
          <a:xfrm>
            <a:off x="457200" y="4023360"/>
            <a:ext cx="11247120" cy="457200"/>
          </a:xfrm>
          <a:prstGeom prst="rect">
            <a:avLst/>
          </a:prstGeom>
          <a:noFill/>
        </p:spPr>
        <p:txBody>
          <a:bodyPr wrap="square">
            <a:spAutoFit/>
          </a:bodyPr>
          <a:lstStyle/>
          <a:p>
            <a:pPr algn="ctr"/>
            <a:r>
              <a:rPr sz="1300" b="0" i="1">
                <a:solidFill>
                  <a:srgbClr val="88AADD"/>
                </a:solidFill>
              </a:rPr>
              <a:t>Supervised | Unsupervised | Graph Neural Networks | Regulatory Compliance</a:t>
            </a:r>
          </a:p>
        </p:txBody>
      </p:sp>
      <p:sp>
        <p:nvSpPr>
          <p:cNvPr id="10" name="TextBox 9"/>
          <p:cNvSpPr txBox="1"/>
          <p:nvPr/>
        </p:nvSpPr>
        <p:spPr>
          <a:xfrm>
            <a:off x="457200" y="6217920"/>
            <a:ext cx="11247120" cy="457200"/>
          </a:xfrm>
          <a:prstGeom prst="rect">
            <a:avLst/>
          </a:prstGeom>
          <a:noFill/>
        </p:spPr>
        <p:txBody>
          <a:bodyPr wrap="square">
            <a:spAutoFit/>
          </a:bodyPr>
          <a:lstStyle/>
          <a:p>
            <a:pPr algn="ctr"/>
            <a:r>
              <a:rPr sz="1400" b="0" i="0">
                <a:solidFill>
                  <a:srgbClr val="88AADD"/>
                </a:solidFill>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Agenda</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Overview of Presentation</a:t>
            </a:r>
          </a:p>
        </p:txBody>
      </p:sp>
      <p:sp>
        <p:nvSpPr>
          <p:cNvPr id="7" name="Rectangle 6"/>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371600"/>
            <a:ext cx="594360" cy="548640"/>
          </a:xfrm>
          <a:prstGeom prst="rect">
            <a:avLst/>
          </a:prstGeom>
          <a:noFill/>
        </p:spPr>
        <p:txBody>
          <a:bodyPr wrap="square">
            <a:spAutoFit/>
          </a:bodyPr>
          <a:lstStyle/>
          <a:p>
            <a:pPr algn="ctr"/>
            <a:r>
              <a:rPr sz="1800" b="1" i="0">
                <a:solidFill>
                  <a:srgbClr val="FFFFFF"/>
                </a:solidFill>
              </a:rPr>
              <a:t>01</a:t>
            </a:r>
          </a:p>
        </p:txBody>
      </p:sp>
      <p:sp>
        <p:nvSpPr>
          <p:cNvPr id="10" name="Rectangle 9"/>
          <p:cNvSpPr/>
          <p:nvPr/>
        </p:nvSpPr>
        <p:spPr>
          <a:xfrm>
            <a:off x="896112" y="137160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44752"/>
            <a:ext cx="5029200" cy="457200"/>
          </a:xfrm>
          <a:prstGeom prst="rect">
            <a:avLst/>
          </a:prstGeom>
          <a:noFill/>
        </p:spPr>
        <p:txBody>
          <a:bodyPr wrap="square">
            <a:spAutoFit/>
          </a:bodyPr>
          <a:lstStyle/>
          <a:p>
            <a:pPr algn="l"/>
            <a:r>
              <a:rPr sz="1500" b="0" i="0">
                <a:solidFill>
                  <a:srgbClr val="0D2B55"/>
                </a:solidFill>
              </a:rPr>
              <a:t>Title &amp; Problem Statement</a:t>
            </a:r>
          </a:p>
        </p:txBody>
      </p:sp>
      <p:sp>
        <p:nvSpPr>
          <p:cNvPr id="12" name="Rectangle 11"/>
          <p:cNvSpPr/>
          <p:nvPr/>
        </p:nvSpPr>
        <p:spPr>
          <a:xfrm>
            <a:off x="274320" y="214884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148840"/>
            <a:ext cx="594360" cy="548640"/>
          </a:xfrm>
          <a:prstGeom prst="rect">
            <a:avLst/>
          </a:prstGeom>
          <a:noFill/>
        </p:spPr>
        <p:txBody>
          <a:bodyPr wrap="square">
            <a:spAutoFit/>
          </a:bodyPr>
          <a:lstStyle/>
          <a:p>
            <a:pPr algn="ctr"/>
            <a:r>
              <a:rPr sz="1800" b="1" i="0">
                <a:solidFill>
                  <a:srgbClr val="FFFFFF"/>
                </a:solidFill>
              </a:rPr>
              <a:t>02</a:t>
            </a:r>
          </a:p>
        </p:txBody>
      </p:sp>
      <p:sp>
        <p:nvSpPr>
          <p:cNvPr id="14" name="Rectangle 13"/>
          <p:cNvSpPr/>
          <p:nvPr/>
        </p:nvSpPr>
        <p:spPr>
          <a:xfrm>
            <a:off x="896112" y="214884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221992"/>
            <a:ext cx="5029200" cy="457200"/>
          </a:xfrm>
          <a:prstGeom prst="rect">
            <a:avLst/>
          </a:prstGeom>
          <a:noFill/>
        </p:spPr>
        <p:txBody>
          <a:bodyPr wrap="square">
            <a:spAutoFit/>
          </a:bodyPr>
          <a:lstStyle/>
          <a:p>
            <a:pPr algn="l"/>
            <a:r>
              <a:rPr sz="1500" b="0" i="0">
                <a:solidFill>
                  <a:srgbClr val="0D2B55"/>
                </a:solidFill>
              </a:rPr>
              <a:t>Abstract</a:t>
            </a:r>
          </a:p>
        </p:txBody>
      </p:sp>
      <p:sp>
        <p:nvSpPr>
          <p:cNvPr id="16" name="Rectangle 15"/>
          <p:cNvSpPr/>
          <p:nvPr/>
        </p:nvSpPr>
        <p:spPr>
          <a:xfrm>
            <a:off x="274320" y="292608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2926080"/>
            <a:ext cx="594360" cy="548640"/>
          </a:xfrm>
          <a:prstGeom prst="rect">
            <a:avLst/>
          </a:prstGeom>
          <a:noFill/>
        </p:spPr>
        <p:txBody>
          <a:bodyPr wrap="square">
            <a:spAutoFit/>
          </a:bodyPr>
          <a:lstStyle/>
          <a:p>
            <a:pPr algn="ctr"/>
            <a:r>
              <a:rPr sz="1800" b="1" i="0">
                <a:solidFill>
                  <a:srgbClr val="FFFFFF"/>
                </a:solidFill>
              </a:rPr>
              <a:t>03</a:t>
            </a:r>
          </a:p>
        </p:txBody>
      </p:sp>
      <p:sp>
        <p:nvSpPr>
          <p:cNvPr id="18" name="Rectangle 17"/>
          <p:cNvSpPr/>
          <p:nvPr/>
        </p:nvSpPr>
        <p:spPr>
          <a:xfrm>
            <a:off x="896112" y="292608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2999232"/>
            <a:ext cx="5029200" cy="457200"/>
          </a:xfrm>
          <a:prstGeom prst="rect">
            <a:avLst/>
          </a:prstGeom>
          <a:noFill/>
        </p:spPr>
        <p:txBody>
          <a:bodyPr wrap="square">
            <a:spAutoFit/>
          </a:bodyPr>
          <a:lstStyle/>
          <a:p>
            <a:pPr algn="l"/>
            <a:r>
              <a:rPr sz="1500" b="0" i="0">
                <a:solidFill>
                  <a:srgbClr val="0D2B55"/>
                </a:solidFill>
              </a:rPr>
              <a:t>Literature Review</a:t>
            </a:r>
          </a:p>
        </p:txBody>
      </p:sp>
      <p:sp>
        <p:nvSpPr>
          <p:cNvPr id="20" name="Rectangle 19"/>
          <p:cNvSpPr/>
          <p:nvPr/>
        </p:nvSpPr>
        <p:spPr>
          <a:xfrm>
            <a:off x="274320" y="370332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3703320"/>
            <a:ext cx="594360" cy="548640"/>
          </a:xfrm>
          <a:prstGeom prst="rect">
            <a:avLst/>
          </a:prstGeom>
          <a:noFill/>
        </p:spPr>
        <p:txBody>
          <a:bodyPr wrap="square">
            <a:spAutoFit/>
          </a:bodyPr>
          <a:lstStyle/>
          <a:p>
            <a:pPr algn="ctr"/>
            <a:r>
              <a:rPr sz="1800" b="1" i="0">
                <a:solidFill>
                  <a:srgbClr val="FFFFFF"/>
                </a:solidFill>
              </a:rPr>
              <a:t>04</a:t>
            </a:r>
          </a:p>
        </p:txBody>
      </p:sp>
      <p:sp>
        <p:nvSpPr>
          <p:cNvPr id="22" name="Rectangle 21"/>
          <p:cNvSpPr/>
          <p:nvPr/>
        </p:nvSpPr>
        <p:spPr>
          <a:xfrm>
            <a:off x="896112" y="370332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776472"/>
            <a:ext cx="5029200" cy="457200"/>
          </a:xfrm>
          <a:prstGeom prst="rect">
            <a:avLst/>
          </a:prstGeom>
          <a:noFill/>
        </p:spPr>
        <p:txBody>
          <a:bodyPr wrap="square">
            <a:spAutoFit/>
          </a:bodyPr>
          <a:lstStyle/>
          <a:p>
            <a:pPr algn="l"/>
            <a:r>
              <a:rPr sz="1500" b="0" i="0">
                <a:solidFill>
                  <a:srgbClr val="0D2B55"/>
                </a:solidFill>
              </a:rPr>
              <a:t>Novelty Justification</a:t>
            </a:r>
          </a:p>
        </p:txBody>
      </p:sp>
      <p:sp>
        <p:nvSpPr>
          <p:cNvPr id="24" name="Rectangle 23"/>
          <p:cNvSpPr/>
          <p:nvPr/>
        </p:nvSpPr>
        <p:spPr>
          <a:xfrm>
            <a:off x="6309360" y="137160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1371600"/>
            <a:ext cx="594360" cy="548640"/>
          </a:xfrm>
          <a:prstGeom prst="rect">
            <a:avLst/>
          </a:prstGeom>
          <a:noFill/>
        </p:spPr>
        <p:txBody>
          <a:bodyPr wrap="square">
            <a:spAutoFit/>
          </a:bodyPr>
          <a:lstStyle/>
          <a:p>
            <a:pPr algn="ctr"/>
            <a:r>
              <a:rPr sz="1800" b="1" i="0">
                <a:solidFill>
                  <a:srgbClr val="FFFFFF"/>
                </a:solidFill>
              </a:rPr>
              <a:t>05</a:t>
            </a:r>
          </a:p>
        </p:txBody>
      </p:sp>
      <p:sp>
        <p:nvSpPr>
          <p:cNvPr id="26" name="Rectangle 25"/>
          <p:cNvSpPr/>
          <p:nvPr/>
        </p:nvSpPr>
        <p:spPr>
          <a:xfrm>
            <a:off x="6931152" y="137160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5160" y="1444752"/>
            <a:ext cx="5029200" cy="457200"/>
          </a:xfrm>
          <a:prstGeom prst="rect">
            <a:avLst/>
          </a:prstGeom>
          <a:noFill/>
        </p:spPr>
        <p:txBody>
          <a:bodyPr wrap="square">
            <a:spAutoFit/>
          </a:bodyPr>
          <a:lstStyle/>
          <a:p>
            <a:pPr algn="l"/>
            <a:r>
              <a:rPr sz="1500" b="0" i="0">
                <a:solidFill>
                  <a:srgbClr val="0D2B55"/>
                </a:solidFill>
              </a:rPr>
              <a:t>Architectural Design</a:t>
            </a:r>
          </a:p>
        </p:txBody>
      </p:sp>
      <p:sp>
        <p:nvSpPr>
          <p:cNvPr id="28" name="Rectangle 27"/>
          <p:cNvSpPr/>
          <p:nvPr/>
        </p:nvSpPr>
        <p:spPr>
          <a:xfrm>
            <a:off x="6309360" y="214884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2148840"/>
            <a:ext cx="594360" cy="548640"/>
          </a:xfrm>
          <a:prstGeom prst="rect">
            <a:avLst/>
          </a:prstGeom>
          <a:noFill/>
        </p:spPr>
        <p:txBody>
          <a:bodyPr wrap="square">
            <a:spAutoFit/>
          </a:bodyPr>
          <a:lstStyle/>
          <a:p>
            <a:pPr algn="ctr"/>
            <a:r>
              <a:rPr sz="1800" b="1" i="0">
                <a:solidFill>
                  <a:srgbClr val="FFFFFF"/>
                </a:solidFill>
              </a:rPr>
              <a:t>06</a:t>
            </a:r>
          </a:p>
        </p:txBody>
      </p:sp>
      <p:sp>
        <p:nvSpPr>
          <p:cNvPr id="30" name="Rectangle 29"/>
          <p:cNvSpPr/>
          <p:nvPr/>
        </p:nvSpPr>
        <p:spPr>
          <a:xfrm>
            <a:off x="6931152" y="214884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95160" y="2221992"/>
            <a:ext cx="5029200" cy="457200"/>
          </a:xfrm>
          <a:prstGeom prst="rect">
            <a:avLst/>
          </a:prstGeom>
          <a:noFill/>
        </p:spPr>
        <p:txBody>
          <a:bodyPr wrap="square">
            <a:spAutoFit/>
          </a:bodyPr>
          <a:lstStyle/>
          <a:p>
            <a:pPr algn="l"/>
            <a:r>
              <a:rPr sz="1500" b="0" i="0">
                <a:solidFill>
                  <a:srgbClr val="0D2B55"/>
                </a:solidFill>
              </a:rPr>
              <a:t>Expected Outcomes</a:t>
            </a:r>
          </a:p>
        </p:txBody>
      </p:sp>
      <p:sp>
        <p:nvSpPr>
          <p:cNvPr id="32" name="Rectangle 31"/>
          <p:cNvSpPr/>
          <p:nvPr/>
        </p:nvSpPr>
        <p:spPr>
          <a:xfrm>
            <a:off x="6309360" y="2926080"/>
            <a:ext cx="594360" cy="5486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2926080"/>
            <a:ext cx="594360" cy="548640"/>
          </a:xfrm>
          <a:prstGeom prst="rect">
            <a:avLst/>
          </a:prstGeom>
          <a:noFill/>
        </p:spPr>
        <p:txBody>
          <a:bodyPr wrap="square">
            <a:spAutoFit/>
          </a:bodyPr>
          <a:lstStyle/>
          <a:p>
            <a:pPr algn="ctr"/>
            <a:r>
              <a:rPr sz="1800" b="1" i="0">
                <a:solidFill>
                  <a:srgbClr val="FFFFFF"/>
                </a:solidFill>
              </a:rPr>
              <a:t>07</a:t>
            </a:r>
          </a:p>
        </p:txBody>
      </p:sp>
      <p:sp>
        <p:nvSpPr>
          <p:cNvPr id="34" name="Rectangle 33"/>
          <p:cNvSpPr/>
          <p:nvPr/>
        </p:nvSpPr>
        <p:spPr>
          <a:xfrm>
            <a:off x="6931152" y="2926080"/>
            <a:ext cx="52120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95160" y="2999232"/>
            <a:ext cx="5029200" cy="457200"/>
          </a:xfrm>
          <a:prstGeom prst="rect">
            <a:avLst/>
          </a:prstGeom>
          <a:noFill/>
        </p:spPr>
        <p:txBody>
          <a:bodyPr wrap="square">
            <a:spAutoFit/>
          </a:bodyPr>
          <a:lstStyle/>
          <a:p>
            <a:pPr algn="l"/>
            <a:r>
              <a:rPr sz="1500" b="0" i="0">
                <a:solidFill>
                  <a:srgbClr val="0D2B55"/>
                </a:solidFill>
              </a:rPr>
              <a:t>Project Timeline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Title &amp; Problem Statement</a:t>
            </a:r>
          </a:p>
        </p:txBody>
      </p:sp>
      <p:sp>
        <p:nvSpPr>
          <p:cNvPr id="6" name="Rectangle 5"/>
          <p:cNvSpPr/>
          <p:nvPr/>
        </p:nvSpPr>
        <p:spPr>
          <a:xfrm>
            <a:off x="274320" y="1371600"/>
            <a:ext cx="11612880" cy="10058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11247120" cy="914400"/>
          </a:xfrm>
          <a:prstGeom prst="rect">
            <a:avLst/>
          </a:prstGeom>
          <a:noFill/>
        </p:spPr>
        <p:txBody>
          <a:bodyPr wrap="square">
            <a:spAutoFit/>
          </a:bodyPr>
          <a:lstStyle/>
          <a:p>
            <a:pPr algn="ctr"/>
            <a:r>
              <a:rPr sz="1400" b="1" i="1">
                <a:solidFill>
                  <a:srgbClr val="FFFFFF"/>
                </a:solidFill>
              </a:rPr>
              <a:t>"Intelligent Anti-Money Laundering Detection in the Insurance Sector:
A Multi-Layer Machine Learning Framework for Risk Identification and Regulatory Compliance"</a:t>
            </a:r>
          </a:p>
        </p:txBody>
      </p:sp>
      <p:sp>
        <p:nvSpPr>
          <p:cNvPr id="8" name="TextBox 7"/>
          <p:cNvSpPr txBox="1"/>
          <p:nvPr/>
        </p:nvSpPr>
        <p:spPr>
          <a:xfrm>
            <a:off x="320040" y="2606040"/>
            <a:ext cx="4572000" cy="365760"/>
          </a:xfrm>
          <a:prstGeom prst="rect">
            <a:avLst/>
          </a:prstGeom>
          <a:noFill/>
        </p:spPr>
        <p:txBody>
          <a:bodyPr wrap="square">
            <a:spAutoFit/>
          </a:bodyPr>
          <a:lstStyle/>
          <a:p>
            <a:pPr algn="l"/>
            <a:r>
              <a:rPr sz="1500" b="1" i="0">
                <a:solidFill>
                  <a:srgbClr val="0D2B55"/>
                </a:solidFill>
              </a:rPr>
              <a:t>Why Insurance?</a:t>
            </a:r>
          </a:p>
        </p:txBody>
      </p:sp>
      <p:sp>
        <p:nvSpPr>
          <p:cNvPr id="9" name="Rectangle 8"/>
          <p:cNvSpPr/>
          <p:nvPr/>
        </p:nvSpPr>
        <p:spPr>
          <a:xfrm>
            <a:off x="320040" y="3017520"/>
            <a:ext cx="137160" cy="2743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999232"/>
            <a:ext cx="5029200" cy="347472"/>
          </a:xfrm>
          <a:prstGeom prst="rect">
            <a:avLst/>
          </a:prstGeom>
          <a:noFill/>
        </p:spPr>
        <p:txBody>
          <a:bodyPr wrap="square">
            <a:spAutoFit/>
          </a:bodyPr>
          <a:lstStyle/>
          <a:p>
            <a:pPr algn="l"/>
            <a:r>
              <a:rPr sz="1300" b="0" i="0">
                <a:solidFill>
                  <a:srgbClr val="333333"/>
                </a:solidFill>
              </a:rPr>
              <a:t>Insurance is an underexplored money laundering channel</a:t>
            </a:r>
          </a:p>
        </p:txBody>
      </p:sp>
      <p:sp>
        <p:nvSpPr>
          <p:cNvPr id="11" name="Rectangle 10"/>
          <p:cNvSpPr/>
          <p:nvPr/>
        </p:nvSpPr>
        <p:spPr>
          <a:xfrm>
            <a:off x="320040" y="3401568"/>
            <a:ext cx="137160" cy="2743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383279"/>
            <a:ext cx="5029200" cy="347472"/>
          </a:xfrm>
          <a:prstGeom prst="rect">
            <a:avLst/>
          </a:prstGeom>
          <a:noFill/>
        </p:spPr>
        <p:txBody>
          <a:bodyPr wrap="square">
            <a:spAutoFit/>
          </a:bodyPr>
          <a:lstStyle/>
          <a:p>
            <a:pPr algn="l"/>
            <a:r>
              <a:rPr sz="1300" b="0" i="0">
                <a:solidFill>
                  <a:srgbClr val="333333"/>
                </a:solidFill>
              </a:rPr>
              <a:t>Complex product lifecycles create exploitable gaps</a:t>
            </a:r>
          </a:p>
        </p:txBody>
      </p:sp>
      <p:sp>
        <p:nvSpPr>
          <p:cNvPr id="13" name="Rectangle 12"/>
          <p:cNvSpPr/>
          <p:nvPr/>
        </p:nvSpPr>
        <p:spPr>
          <a:xfrm>
            <a:off x="320040" y="3785615"/>
            <a:ext cx="137160" cy="2743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3767328"/>
            <a:ext cx="5029200" cy="347472"/>
          </a:xfrm>
          <a:prstGeom prst="rect">
            <a:avLst/>
          </a:prstGeom>
          <a:noFill/>
        </p:spPr>
        <p:txBody>
          <a:bodyPr wrap="square">
            <a:spAutoFit/>
          </a:bodyPr>
          <a:lstStyle/>
          <a:p>
            <a:pPr algn="l"/>
            <a:r>
              <a:rPr sz="1300" b="0" i="0">
                <a:solidFill>
                  <a:srgbClr val="333333"/>
                </a:solidFill>
              </a:rPr>
              <a:t>Third-party intermediary abuse is hard to track</a:t>
            </a:r>
          </a:p>
        </p:txBody>
      </p:sp>
      <p:sp>
        <p:nvSpPr>
          <p:cNvPr id="15" name="Rectangle 14"/>
          <p:cNvSpPr/>
          <p:nvPr/>
        </p:nvSpPr>
        <p:spPr>
          <a:xfrm>
            <a:off x="320040" y="4169663"/>
            <a:ext cx="137160" cy="2743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4151376"/>
            <a:ext cx="5029200" cy="347472"/>
          </a:xfrm>
          <a:prstGeom prst="rect">
            <a:avLst/>
          </a:prstGeom>
          <a:noFill/>
        </p:spPr>
        <p:txBody>
          <a:bodyPr wrap="square">
            <a:spAutoFit/>
          </a:bodyPr>
          <a:lstStyle/>
          <a:p>
            <a:pPr algn="l"/>
            <a:r>
              <a:rPr sz="1300" b="0" i="0">
                <a:solidFill>
                  <a:srgbClr val="333333"/>
                </a:solidFill>
              </a:rPr>
              <a:t>Traditional rule-based systems have 90–95% false positive rates</a:t>
            </a:r>
          </a:p>
        </p:txBody>
      </p:sp>
      <p:sp>
        <p:nvSpPr>
          <p:cNvPr id="17" name="Rectangle 16"/>
          <p:cNvSpPr/>
          <p:nvPr/>
        </p:nvSpPr>
        <p:spPr>
          <a:xfrm>
            <a:off x="320040" y="4553712"/>
            <a:ext cx="137160" cy="2743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4535424"/>
            <a:ext cx="5029200" cy="347472"/>
          </a:xfrm>
          <a:prstGeom prst="rect">
            <a:avLst/>
          </a:prstGeom>
          <a:noFill/>
        </p:spPr>
        <p:txBody>
          <a:bodyPr wrap="square">
            <a:spAutoFit/>
          </a:bodyPr>
          <a:lstStyle/>
          <a:p>
            <a:pPr algn="l"/>
            <a:r>
              <a:rPr sz="1300" b="0" i="0">
                <a:solidFill>
                  <a:srgbClr val="333333"/>
                </a:solidFill>
              </a:rPr>
              <a:t>Limited ML-based research specific to insurance AML</a:t>
            </a:r>
          </a:p>
        </p:txBody>
      </p:sp>
      <p:sp>
        <p:nvSpPr>
          <p:cNvPr id="19" name="TextBox 18"/>
          <p:cNvSpPr txBox="1"/>
          <p:nvPr/>
        </p:nvSpPr>
        <p:spPr>
          <a:xfrm>
            <a:off x="6400800" y="2606040"/>
            <a:ext cx="5029200" cy="365760"/>
          </a:xfrm>
          <a:prstGeom prst="rect">
            <a:avLst/>
          </a:prstGeom>
          <a:noFill/>
        </p:spPr>
        <p:txBody>
          <a:bodyPr wrap="square">
            <a:spAutoFit/>
          </a:bodyPr>
          <a:lstStyle/>
          <a:p>
            <a:pPr algn="l"/>
            <a:r>
              <a:rPr sz="1500" b="1" i="0">
                <a:solidFill>
                  <a:srgbClr val="0D2B55"/>
                </a:solidFill>
              </a:rPr>
              <a:t>Key Laundering Typologies</a:t>
            </a:r>
          </a:p>
        </p:txBody>
      </p:sp>
      <p:sp>
        <p:nvSpPr>
          <p:cNvPr id="20" name="Rectangle 19"/>
          <p:cNvSpPr/>
          <p:nvPr/>
        </p:nvSpPr>
        <p:spPr>
          <a:xfrm>
            <a:off x="6400800" y="3017520"/>
            <a:ext cx="13716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2999232"/>
            <a:ext cx="5212080" cy="347472"/>
          </a:xfrm>
          <a:prstGeom prst="rect">
            <a:avLst/>
          </a:prstGeom>
          <a:noFill/>
        </p:spPr>
        <p:txBody>
          <a:bodyPr wrap="square">
            <a:spAutoFit/>
          </a:bodyPr>
          <a:lstStyle/>
          <a:p>
            <a:pPr algn="l"/>
            <a:r>
              <a:rPr sz="1300" b="0" i="0">
                <a:solidFill>
                  <a:srgbClr val="333333"/>
                </a:solidFill>
              </a:rPr>
              <a:t>Premium over-payment &amp; cash-back</a:t>
            </a:r>
          </a:p>
        </p:txBody>
      </p:sp>
      <p:sp>
        <p:nvSpPr>
          <p:cNvPr id="22" name="Rectangle 21"/>
          <p:cNvSpPr/>
          <p:nvPr/>
        </p:nvSpPr>
        <p:spPr>
          <a:xfrm>
            <a:off x="6400800" y="3401568"/>
            <a:ext cx="13716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1968" y="3383279"/>
            <a:ext cx="5212080" cy="347472"/>
          </a:xfrm>
          <a:prstGeom prst="rect">
            <a:avLst/>
          </a:prstGeom>
          <a:noFill/>
        </p:spPr>
        <p:txBody>
          <a:bodyPr wrap="square">
            <a:spAutoFit/>
          </a:bodyPr>
          <a:lstStyle/>
          <a:p>
            <a:pPr algn="l"/>
            <a:r>
              <a:rPr sz="1300" b="0" i="0">
                <a:solidFill>
                  <a:srgbClr val="333333"/>
                </a:solidFill>
              </a:rPr>
              <a:t>Early policy surrender for clean funds</a:t>
            </a:r>
          </a:p>
        </p:txBody>
      </p:sp>
      <p:sp>
        <p:nvSpPr>
          <p:cNvPr id="24" name="Rectangle 23"/>
          <p:cNvSpPr/>
          <p:nvPr/>
        </p:nvSpPr>
        <p:spPr>
          <a:xfrm>
            <a:off x="6400800" y="3785615"/>
            <a:ext cx="13716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3767328"/>
            <a:ext cx="5212080" cy="347472"/>
          </a:xfrm>
          <a:prstGeom prst="rect">
            <a:avLst/>
          </a:prstGeom>
          <a:noFill/>
        </p:spPr>
        <p:txBody>
          <a:bodyPr wrap="square">
            <a:spAutoFit/>
          </a:bodyPr>
          <a:lstStyle/>
          <a:p>
            <a:pPr algn="l"/>
            <a:r>
              <a:rPr sz="1300" b="0" i="0">
                <a:solidFill>
                  <a:srgbClr val="333333"/>
                </a:solidFill>
              </a:rPr>
              <a:t>Fictitious/inflated claims</a:t>
            </a:r>
          </a:p>
        </p:txBody>
      </p:sp>
      <p:sp>
        <p:nvSpPr>
          <p:cNvPr id="26" name="Rectangle 25"/>
          <p:cNvSpPr/>
          <p:nvPr/>
        </p:nvSpPr>
        <p:spPr>
          <a:xfrm>
            <a:off x="6400800" y="4169663"/>
            <a:ext cx="13716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1968" y="4151376"/>
            <a:ext cx="5212080" cy="347472"/>
          </a:xfrm>
          <a:prstGeom prst="rect">
            <a:avLst/>
          </a:prstGeom>
          <a:noFill/>
        </p:spPr>
        <p:txBody>
          <a:bodyPr wrap="square">
            <a:spAutoFit/>
          </a:bodyPr>
          <a:lstStyle/>
          <a:p>
            <a:pPr algn="l"/>
            <a:r>
              <a:rPr sz="1300" b="0" i="0">
                <a:solidFill>
                  <a:srgbClr val="333333"/>
                </a:solidFill>
              </a:rPr>
              <a:t>Round-tripping through annuities</a:t>
            </a:r>
          </a:p>
        </p:txBody>
      </p:sp>
      <p:sp>
        <p:nvSpPr>
          <p:cNvPr id="28" name="Rectangle 27"/>
          <p:cNvSpPr/>
          <p:nvPr/>
        </p:nvSpPr>
        <p:spPr>
          <a:xfrm>
            <a:off x="6400800" y="4553712"/>
            <a:ext cx="13716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1968" y="4535424"/>
            <a:ext cx="5212080" cy="347472"/>
          </a:xfrm>
          <a:prstGeom prst="rect">
            <a:avLst/>
          </a:prstGeom>
          <a:noFill/>
        </p:spPr>
        <p:txBody>
          <a:bodyPr wrap="square">
            <a:spAutoFit/>
          </a:bodyPr>
          <a:lstStyle/>
          <a:p>
            <a:pPr algn="l"/>
            <a:r>
              <a:rPr sz="1300" b="0" i="0">
                <a:solidFill>
                  <a:srgbClr val="333333"/>
                </a:solidFill>
              </a:rPr>
              <a:t>Nominee &amp; third-party arrangements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Abstract</a:t>
            </a:r>
          </a:p>
        </p:txBody>
      </p:sp>
      <p:sp>
        <p:nvSpPr>
          <p:cNvPr id="6" name="Rectangle 5"/>
          <p:cNvSpPr/>
          <p:nvPr/>
        </p:nvSpPr>
        <p:spPr>
          <a:xfrm>
            <a:off x="274320" y="1371600"/>
            <a:ext cx="1161288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11155680" cy="4846320"/>
          </a:xfrm>
          <a:prstGeom prst="rect">
            <a:avLst/>
          </a:prstGeom>
          <a:noFill/>
        </p:spPr>
        <p:txBody>
          <a:bodyPr wrap="square">
            <a:spAutoFit/>
          </a:bodyPr>
          <a:lstStyle/>
          <a:p>
            <a:pPr algn="l"/>
            <a:r>
              <a:rPr sz="1400" b="0" i="0">
                <a:solidFill>
                  <a:srgbClr val="333333"/>
                </a:solidFill>
              </a:rPr>
              <a:t>The insurance industry faces unique structural vulnerabilities—complex product lifecycles, third-party intermediaries, and cross-border capital flows—that create exploitable gaps in traditional financial crime controls.
This study presents a comprehensive investigation into AML mechanisms within the insurance domain, combining regulatory analysis with a proposed intelligent multi-layer machine learning detection framework.
The system integrates: Supervised Classification (Random Forest, XGBoost) • Unsupervised Anomaly Detection (Isolation Forest, Autoencoders) • Graph-based Network Analysis (GNN)
Validation on synthetic insurance datasets demonstrates improved detection rates with significantly reduced false positives. The system aligns with FATF Rec. 26, EU AMLD6, and FinCEN guidance, supporting automated SAR generation.</a:t>
            </a:r>
          </a:p>
        </p:txBody>
      </p:sp>
      <p:sp>
        <p:nvSpPr>
          <p:cNvPr id="8" name="Rectangle 7"/>
          <p:cNvSpPr/>
          <p:nvPr/>
        </p:nvSpPr>
        <p:spPr>
          <a:xfrm>
            <a:off x="274320" y="6126480"/>
            <a:ext cx="1161288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199632"/>
            <a:ext cx="11247120" cy="365760"/>
          </a:xfrm>
          <a:prstGeom prst="rect">
            <a:avLst/>
          </a:prstGeom>
          <a:noFill/>
        </p:spPr>
        <p:txBody>
          <a:bodyPr wrap="square">
            <a:spAutoFit/>
          </a:bodyPr>
          <a:lstStyle/>
          <a:p>
            <a:pPr algn="ctr"/>
            <a:r>
              <a:rPr sz="1100" b="0" i="1">
                <a:solidFill>
                  <a:srgbClr val="FFFFFF"/>
                </a:solidFill>
              </a:rPr>
              <a:t>Keywords: AML · Insurance Fraud · Machine Learning · Anomaly Detection · Graph Analytics · KYC/CDD · FATF · Financial Crime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Literature Review — Part 1</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Money Laundering Fundamentals &amp; Insurance Vulnerabilities</a:t>
            </a:r>
          </a:p>
        </p:txBody>
      </p:sp>
      <p:sp>
        <p:nvSpPr>
          <p:cNvPr id="7" name="Rectangle 6"/>
          <p:cNvSpPr/>
          <p:nvPr/>
        </p:nvSpPr>
        <p:spPr>
          <a:xfrm>
            <a:off x="274320" y="137160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444752"/>
            <a:ext cx="11430000" cy="411480"/>
          </a:xfrm>
          <a:prstGeom prst="rect">
            <a:avLst/>
          </a:prstGeom>
          <a:noFill/>
        </p:spPr>
        <p:txBody>
          <a:bodyPr wrap="square">
            <a:spAutoFit/>
          </a:bodyPr>
          <a:lstStyle/>
          <a:p>
            <a:pPr algn="l"/>
            <a:r>
              <a:rPr sz="1300" b="1" i="0">
                <a:solidFill>
                  <a:srgbClr val="1A538B"/>
                </a:solidFill>
              </a:rPr>
              <a:t>Money Laundering in Financial Services</a:t>
            </a:r>
          </a:p>
        </p:txBody>
      </p:sp>
      <p:sp>
        <p:nvSpPr>
          <p:cNvPr id="9" name="TextBox 8"/>
          <p:cNvSpPr txBox="1"/>
          <p:nvPr/>
        </p:nvSpPr>
        <p:spPr>
          <a:xfrm>
            <a:off x="320040" y="1856232"/>
            <a:ext cx="11430000" cy="384048"/>
          </a:xfrm>
          <a:prstGeom prst="rect">
            <a:avLst/>
          </a:prstGeom>
          <a:noFill/>
        </p:spPr>
        <p:txBody>
          <a:bodyPr wrap="square">
            <a:spAutoFit/>
          </a:bodyPr>
          <a:lstStyle/>
          <a:p>
            <a:pPr algn="l"/>
            <a:r>
              <a:rPr sz="1400" b="0" i="0">
                <a:solidFill>
                  <a:srgbClr val="333333"/>
                </a:solidFill>
              </a:rPr>
              <a:t>  ►  FATF (2004/2018): Three-stage model — Placement → Layering → Integration</a:t>
            </a:r>
          </a:p>
        </p:txBody>
      </p:sp>
      <p:sp>
        <p:nvSpPr>
          <p:cNvPr id="10" name="TextBox 9"/>
          <p:cNvSpPr txBox="1"/>
          <p:nvPr/>
        </p:nvSpPr>
        <p:spPr>
          <a:xfrm>
            <a:off x="320040" y="2240280"/>
            <a:ext cx="11430000" cy="384048"/>
          </a:xfrm>
          <a:prstGeom prst="rect">
            <a:avLst/>
          </a:prstGeom>
          <a:noFill/>
        </p:spPr>
        <p:txBody>
          <a:bodyPr wrap="square">
            <a:spAutoFit/>
          </a:bodyPr>
          <a:lstStyle/>
          <a:p>
            <a:pPr algn="l"/>
            <a:r>
              <a:rPr sz="1400" b="0" i="0">
                <a:solidFill>
                  <a:srgbClr val="333333"/>
                </a:solidFill>
              </a:rPr>
              <a:t>  ►  Unger &amp; den Hertog (2012): Global ML estimated at 2–5% of GDP; insurance growing share</a:t>
            </a:r>
          </a:p>
        </p:txBody>
      </p:sp>
      <p:sp>
        <p:nvSpPr>
          <p:cNvPr id="11" name="Rectangle 10"/>
          <p:cNvSpPr/>
          <p:nvPr/>
        </p:nvSpPr>
        <p:spPr>
          <a:xfrm>
            <a:off x="274320" y="2624328"/>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697480"/>
            <a:ext cx="11430000" cy="411480"/>
          </a:xfrm>
          <a:prstGeom prst="rect">
            <a:avLst/>
          </a:prstGeom>
          <a:noFill/>
        </p:spPr>
        <p:txBody>
          <a:bodyPr wrap="square">
            <a:spAutoFit/>
          </a:bodyPr>
          <a:lstStyle/>
          <a:p>
            <a:pPr algn="l"/>
            <a:r>
              <a:rPr sz="1300" b="1" i="0">
                <a:solidFill>
                  <a:srgbClr val="1A538B"/>
                </a:solidFill>
              </a:rPr>
              <a:t>Insurance-Specific Vulnerabilities</a:t>
            </a:r>
          </a:p>
        </p:txBody>
      </p:sp>
      <p:sp>
        <p:nvSpPr>
          <p:cNvPr id="13" name="TextBox 12"/>
          <p:cNvSpPr txBox="1"/>
          <p:nvPr/>
        </p:nvSpPr>
        <p:spPr>
          <a:xfrm>
            <a:off x="320040" y="3108960"/>
            <a:ext cx="11430000" cy="384048"/>
          </a:xfrm>
          <a:prstGeom prst="rect">
            <a:avLst/>
          </a:prstGeom>
          <a:noFill/>
        </p:spPr>
        <p:txBody>
          <a:bodyPr wrap="square">
            <a:spAutoFit/>
          </a:bodyPr>
          <a:lstStyle/>
          <a:p>
            <a:pPr algn="l"/>
            <a:r>
              <a:rPr sz="1400" b="0" i="0">
                <a:solidFill>
                  <a:srgbClr val="333333"/>
                </a:solidFill>
              </a:rPr>
              <a:t>  ►  IAIS (2013): Life insurance &amp; single-premium products identified as high-risk</a:t>
            </a:r>
          </a:p>
        </p:txBody>
      </p:sp>
      <p:sp>
        <p:nvSpPr>
          <p:cNvPr id="14" name="TextBox 13"/>
          <p:cNvSpPr txBox="1"/>
          <p:nvPr/>
        </p:nvSpPr>
        <p:spPr>
          <a:xfrm>
            <a:off x="320040" y="3493008"/>
            <a:ext cx="11430000" cy="384048"/>
          </a:xfrm>
          <a:prstGeom prst="rect">
            <a:avLst/>
          </a:prstGeom>
          <a:noFill/>
        </p:spPr>
        <p:txBody>
          <a:bodyPr wrap="square">
            <a:spAutoFit/>
          </a:bodyPr>
          <a:lstStyle/>
          <a:p>
            <a:pPr algn="l"/>
            <a:r>
              <a:rPr sz="1400" b="0" i="0">
                <a:solidFill>
                  <a:srgbClr val="333333"/>
                </a:solidFill>
              </a:rPr>
              <a:t>  ►  Levi &amp; Reuter (2006): Long product durations facilitate layering activities</a:t>
            </a:r>
          </a:p>
        </p:txBody>
      </p:sp>
      <p:sp>
        <p:nvSpPr>
          <p:cNvPr id="15" name="TextBox 14"/>
          <p:cNvSpPr txBox="1"/>
          <p:nvPr/>
        </p:nvSpPr>
        <p:spPr>
          <a:xfrm>
            <a:off x="320040" y="3877056"/>
            <a:ext cx="11430000" cy="384048"/>
          </a:xfrm>
          <a:prstGeom prst="rect">
            <a:avLst/>
          </a:prstGeom>
          <a:noFill/>
        </p:spPr>
        <p:txBody>
          <a:bodyPr wrap="square">
            <a:spAutoFit/>
          </a:bodyPr>
          <a:lstStyle/>
          <a:p>
            <a:pPr algn="l"/>
            <a:r>
              <a:rPr sz="1400" b="0" i="0">
                <a:solidFill>
                  <a:srgbClr val="333333"/>
                </a:solidFill>
              </a:rPr>
              <a:t>  ►  Schott (2006): Documented fictitious claims and nominee arrangement misuse</a:t>
            </a:r>
          </a:p>
        </p:txBody>
      </p:sp>
      <p:sp>
        <p:nvSpPr>
          <p:cNvPr id="16" name="Rectangle 15"/>
          <p:cNvSpPr/>
          <p:nvPr/>
        </p:nvSpPr>
        <p:spPr>
          <a:xfrm>
            <a:off x="274320" y="4261104"/>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334256"/>
            <a:ext cx="11430000" cy="411480"/>
          </a:xfrm>
          <a:prstGeom prst="rect">
            <a:avLst/>
          </a:prstGeom>
          <a:noFill/>
        </p:spPr>
        <p:txBody>
          <a:bodyPr wrap="square">
            <a:spAutoFit/>
          </a:bodyPr>
          <a:lstStyle/>
          <a:p>
            <a:pPr algn="l"/>
            <a:r>
              <a:rPr sz="1300" b="1" i="0">
                <a:solidFill>
                  <a:srgbClr val="1A538B"/>
                </a:solidFill>
              </a:rPr>
              <a:t>Rule-Based Systems &amp; Limitations</a:t>
            </a:r>
          </a:p>
        </p:txBody>
      </p:sp>
      <p:sp>
        <p:nvSpPr>
          <p:cNvPr id="18" name="TextBox 17"/>
          <p:cNvSpPr txBox="1"/>
          <p:nvPr/>
        </p:nvSpPr>
        <p:spPr>
          <a:xfrm>
            <a:off x="320040" y="4745736"/>
            <a:ext cx="11430000" cy="384048"/>
          </a:xfrm>
          <a:prstGeom prst="rect">
            <a:avLst/>
          </a:prstGeom>
          <a:noFill/>
        </p:spPr>
        <p:txBody>
          <a:bodyPr wrap="square">
            <a:spAutoFit/>
          </a:bodyPr>
          <a:lstStyle/>
          <a:p>
            <a:pPr algn="l"/>
            <a:r>
              <a:rPr sz="1400" b="0" i="0">
                <a:solidFill>
                  <a:srgbClr val="333333"/>
                </a:solidFill>
              </a:rPr>
              <a:t>  ►  KPMG (2019): Rule-based AML systems generate 90–95% false positive rates</a:t>
            </a:r>
          </a:p>
        </p:txBody>
      </p:sp>
      <p:sp>
        <p:nvSpPr>
          <p:cNvPr id="19" name="TextBox 18"/>
          <p:cNvSpPr txBox="1"/>
          <p:nvPr/>
        </p:nvSpPr>
        <p:spPr>
          <a:xfrm>
            <a:off x="320040" y="5129784"/>
            <a:ext cx="11430000" cy="384048"/>
          </a:xfrm>
          <a:prstGeom prst="rect">
            <a:avLst/>
          </a:prstGeom>
          <a:noFill/>
        </p:spPr>
        <p:txBody>
          <a:bodyPr wrap="square">
            <a:spAutoFit/>
          </a:bodyPr>
          <a:lstStyle/>
          <a:p>
            <a:pPr algn="l"/>
            <a:r>
              <a:rPr sz="1400" b="0" i="0">
                <a:solidFill>
                  <a:srgbClr val="333333"/>
                </a:solidFill>
              </a:rPr>
              <a:t>  ►  Ngai et al. (2011): Static rules fail to adapt to evolving criminal typologies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Literature Review — Part 2</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Machine Learning, Graph Analytics &amp; Regulatory Frameworks</a:t>
            </a:r>
          </a:p>
        </p:txBody>
      </p:sp>
      <p:sp>
        <p:nvSpPr>
          <p:cNvPr id="7" name="Rectangle 6"/>
          <p:cNvSpPr/>
          <p:nvPr/>
        </p:nvSpPr>
        <p:spPr>
          <a:xfrm>
            <a:off x="274320" y="137160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444752"/>
            <a:ext cx="11430000" cy="411480"/>
          </a:xfrm>
          <a:prstGeom prst="rect">
            <a:avLst/>
          </a:prstGeom>
          <a:noFill/>
        </p:spPr>
        <p:txBody>
          <a:bodyPr wrap="square">
            <a:spAutoFit/>
          </a:bodyPr>
          <a:lstStyle/>
          <a:p>
            <a:pPr algn="l"/>
            <a:r>
              <a:rPr sz="1300" b="1" i="0">
                <a:solidFill>
                  <a:srgbClr val="1A538B"/>
                </a:solidFill>
              </a:rPr>
              <a:t>Machine Learning in Financial Crime Detection</a:t>
            </a:r>
          </a:p>
        </p:txBody>
      </p:sp>
      <p:sp>
        <p:nvSpPr>
          <p:cNvPr id="9" name="TextBox 8"/>
          <p:cNvSpPr txBox="1"/>
          <p:nvPr/>
        </p:nvSpPr>
        <p:spPr>
          <a:xfrm>
            <a:off x="320040" y="1856232"/>
            <a:ext cx="11430000" cy="384048"/>
          </a:xfrm>
          <a:prstGeom prst="rect">
            <a:avLst/>
          </a:prstGeom>
          <a:noFill/>
        </p:spPr>
        <p:txBody>
          <a:bodyPr wrap="square">
            <a:spAutoFit/>
          </a:bodyPr>
          <a:lstStyle/>
          <a:p>
            <a:pPr algn="l"/>
            <a:r>
              <a:rPr sz="1300" b="0" i="0">
                <a:solidFill>
                  <a:srgbClr val="333333"/>
                </a:solidFill>
              </a:rPr>
              <a:t>  ►  Bhattacharyya et al. (2011): Ensemble methods (Random Forest) outperform single classifiers</a:t>
            </a:r>
          </a:p>
        </p:txBody>
      </p:sp>
      <p:sp>
        <p:nvSpPr>
          <p:cNvPr id="10" name="TextBox 9"/>
          <p:cNvSpPr txBox="1"/>
          <p:nvPr/>
        </p:nvSpPr>
        <p:spPr>
          <a:xfrm>
            <a:off x="320040" y="2240280"/>
            <a:ext cx="11430000" cy="384048"/>
          </a:xfrm>
          <a:prstGeom prst="rect">
            <a:avLst/>
          </a:prstGeom>
          <a:noFill/>
        </p:spPr>
        <p:txBody>
          <a:bodyPr wrap="square">
            <a:spAutoFit/>
          </a:bodyPr>
          <a:lstStyle/>
          <a:p>
            <a:pPr algn="l"/>
            <a:r>
              <a:rPr sz="1300" b="0" i="0">
                <a:solidFill>
                  <a:srgbClr val="333333"/>
                </a:solidFill>
              </a:rPr>
              <a:t>  ►  Zanin et al. (2021): Network science achieves significant uplift in AML detection</a:t>
            </a:r>
          </a:p>
        </p:txBody>
      </p:sp>
      <p:sp>
        <p:nvSpPr>
          <p:cNvPr id="11" name="TextBox 10"/>
          <p:cNvSpPr txBox="1"/>
          <p:nvPr/>
        </p:nvSpPr>
        <p:spPr>
          <a:xfrm>
            <a:off x="320040" y="2624328"/>
            <a:ext cx="11430000" cy="384048"/>
          </a:xfrm>
          <a:prstGeom prst="rect">
            <a:avLst/>
          </a:prstGeom>
          <a:noFill/>
        </p:spPr>
        <p:txBody>
          <a:bodyPr wrap="square">
            <a:spAutoFit/>
          </a:bodyPr>
          <a:lstStyle/>
          <a:p>
            <a:pPr algn="l"/>
            <a:r>
              <a:rPr sz="1300" b="0" i="0">
                <a:solidFill>
                  <a:srgbClr val="333333"/>
                </a:solidFill>
              </a:rPr>
              <a:t>  ►  Roy &amp; Cheung (2022): Deep autoencoders achieve 87% precision in insurance anomaly detection</a:t>
            </a:r>
          </a:p>
        </p:txBody>
      </p:sp>
      <p:sp>
        <p:nvSpPr>
          <p:cNvPr id="12" name="Rectangle 11"/>
          <p:cNvSpPr/>
          <p:nvPr/>
        </p:nvSpPr>
        <p:spPr>
          <a:xfrm>
            <a:off x="274320" y="3008376"/>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3081528"/>
            <a:ext cx="11430000" cy="411480"/>
          </a:xfrm>
          <a:prstGeom prst="rect">
            <a:avLst/>
          </a:prstGeom>
          <a:noFill/>
        </p:spPr>
        <p:txBody>
          <a:bodyPr wrap="square">
            <a:spAutoFit/>
          </a:bodyPr>
          <a:lstStyle/>
          <a:p>
            <a:pPr algn="l"/>
            <a:r>
              <a:rPr sz="1300" b="1" i="0">
                <a:solidFill>
                  <a:srgbClr val="1A538B"/>
                </a:solidFill>
              </a:rPr>
              <a:t>Graph-Based Analytics</a:t>
            </a:r>
          </a:p>
        </p:txBody>
      </p:sp>
      <p:sp>
        <p:nvSpPr>
          <p:cNvPr id="14" name="TextBox 13"/>
          <p:cNvSpPr txBox="1"/>
          <p:nvPr/>
        </p:nvSpPr>
        <p:spPr>
          <a:xfrm>
            <a:off x="320040" y="3493008"/>
            <a:ext cx="11430000" cy="384048"/>
          </a:xfrm>
          <a:prstGeom prst="rect">
            <a:avLst/>
          </a:prstGeom>
          <a:noFill/>
        </p:spPr>
        <p:txBody>
          <a:bodyPr wrap="square">
            <a:spAutoFit/>
          </a:bodyPr>
          <a:lstStyle/>
          <a:p>
            <a:pPr algn="l"/>
            <a:r>
              <a:rPr sz="1300" b="0" i="0">
                <a:solidFill>
                  <a:srgbClr val="333333"/>
                </a:solidFill>
              </a:rPr>
              <a:t>  ►  Weber et al. (2019): GNNs established as powerful tool for financial crime transaction networks</a:t>
            </a:r>
          </a:p>
        </p:txBody>
      </p:sp>
      <p:sp>
        <p:nvSpPr>
          <p:cNvPr id="15" name="TextBox 14"/>
          <p:cNvSpPr txBox="1"/>
          <p:nvPr/>
        </p:nvSpPr>
        <p:spPr>
          <a:xfrm>
            <a:off x="320040" y="3877056"/>
            <a:ext cx="11430000" cy="384048"/>
          </a:xfrm>
          <a:prstGeom prst="rect">
            <a:avLst/>
          </a:prstGeom>
          <a:noFill/>
        </p:spPr>
        <p:txBody>
          <a:bodyPr wrap="square">
            <a:spAutoFit/>
          </a:bodyPr>
          <a:lstStyle/>
          <a:p>
            <a:pPr algn="l"/>
            <a:r>
              <a:rPr sz="1300" b="0" i="0">
                <a:solidFill>
                  <a:srgbClr val="333333"/>
                </a:solidFill>
              </a:rPr>
              <a:t>  ►  Colladon &amp; Remondi (2017): Broker clustering patterns correlate with suspicious activity</a:t>
            </a:r>
          </a:p>
        </p:txBody>
      </p:sp>
      <p:sp>
        <p:nvSpPr>
          <p:cNvPr id="16" name="Rectangle 15"/>
          <p:cNvSpPr/>
          <p:nvPr/>
        </p:nvSpPr>
        <p:spPr>
          <a:xfrm>
            <a:off x="274320" y="4261104"/>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334256"/>
            <a:ext cx="11430000" cy="411480"/>
          </a:xfrm>
          <a:prstGeom prst="rect">
            <a:avLst/>
          </a:prstGeom>
          <a:noFill/>
        </p:spPr>
        <p:txBody>
          <a:bodyPr wrap="square">
            <a:spAutoFit/>
          </a:bodyPr>
          <a:lstStyle/>
          <a:p>
            <a:pPr algn="l"/>
            <a:r>
              <a:rPr sz="1300" b="1" i="0">
                <a:solidFill>
                  <a:srgbClr val="1A538B"/>
                </a:solidFill>
              </a:rPr>
              <a:t>Regulatory Frameworks</a:t>
            </a:r>
          </a:p>
        </p:txBody>
      </p:sp>
      <p:sp>
        <p:nvSpPr>
          <p:cNvPr id="18" name="TextBox 17"/>
          <p:cNvSpPr txBox="1"/>
          <p:nvPr/>
        </p:nvSpPr>
        <p:spPr>
          <a:xfrm>
            <a:off x="320040" y="4745736"/>
            <a:ext cx="11430000" cy="384048"/>
          </a:xfrm>
          <a:prstGeom prst="rect">
            <a:avLst/>
          </a:prstGeom>
          <a:noFill/>
        </p:spPr>
        <p:txBody>
          <a:bodyPr wrap="square">
            <a:spAutoFit/>
          </a:bodyPr>
          <a:lstStyle/>
          <a:p>
            <a:pPr algn="l"/>
            <a:r>
              <a:rPr sz="1300" b="0" i="0">
                <a:solidFill>
                  <a:srgbClr val="333333"/>
                </a:solidFill>
              </a:rPr>
              <a:t>  ►  FATF Recommendations: Risk-Based Approach, beneficial ownership, STR filing</a:t>
            </a:r>
          </a:p>
        </p:txBody>
      </p:sp>
      <p:sp>
        <p:nvSpPr>
          <p:cNvPr id="19" name="TextBox 18"/>
          <p:cNvSpPr txBox="1"/>
          <p:nvPr/>
        </p:nvSpPr>
        <p:spPr>
          <a:xfrm>
            <a:off x="320040" y="5129784"/>
            <a:ext cx="11430000" cy="384048"/>
          </a:xfrm>
          <a:prstGeom prst="rect">
            <a:avLst/>
          </a:prstGeom>
          <a:noFill/>
        </p:spPr>
        <p:txBody>
          <a:bodyPr wrap="square">
            <a:spAutoFit/>
          </a:bodyPr>
          <a:lstStyle/>
          <a:p>
            <a:pPr algn="l"/>
            <a:r>
              <a:rPr sz="1300" b="0" i="0">
                <a:solidFill>
                  <a:srgbClr val="333333"/>
                </a:solidFill>
              </a:rPr>
              <a:t>  ►  EU AMLD4/5/6: Extended obligations to intermediaries; EDD for high-value policies</a:t>
            </a:r>
          </a:p>
        </p:txBody>
      </p:sp>
      <p:sp>
        <p:nvSpPr>
          <p:cNvPr id="20" name="TextBox 19"/>
          <p:cNvSpPr txBox="1"/>
          <p:nvPr/>
        </p:nvSpPr>
        <p:spPr>
          <a:xfrm>
            <a:off x="320040" y="5513832"/>
            <a:ext cx="11430000" cy="384048"/>
          </a:xfrm>
          <a:prstGeom prst="rect">
            <a:avLst/>
          </a:prstGeom>
          <a:noFill/>
        </p:spPr>
        <p:txBody>
          <a:bodyPr wrap="square">
            <a:spAutoFit/>
          </a:bodyPr>
          <a:lstStyle/>
          <a:p>
            <a:pPr algn="l"/>
            <a:r>
              <a:rPr sz="1300" b="0" i="0">
                <a:solidFill>
                  <a:srgbClr val="333333"/>
                </a:solidFill>
              </a:rPr>
              <a:t>  ►  FinCEN (2016) CDD Rule &amp; FCA SYSC 6.3: Mandatory AML systems for insurers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Literature Review — Research Gaps</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Identifying Where This Study Contributes</a:t>
            </a:r>
          </a:p>
        </p:txBody>
      </p:sp>
      <p:sp>
        <p:nvSpPr>
          <p:cNvPr id="7" name="Rectangle 6"/>
          <p:cNvSpPr/>
          <p:nvPr/>
        </p:nvSpPr>
        <p:spPr>
          <a:xfrm>
            <a:off x="274320" y="1463040"/>
            <a:ext cx="13716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54480"/>
            <a:ext cx="1371600" cy="411480"/>
          </a:xfrm>
          <a:prstGeom prst="rect">
            <a:avLst/>
          </a:prstGeom>
          <a:noFill/>
        </p:spPr>
        <p:txBody>
          <a:bodyPr wrap="square">
            <a:spAutoFit/>
          </a:bodyPr>
          <a:lstStyle/>
          <a:p>
            <a:pPr algn="ctr"/>
            <a:r>
              <a:rPr sz="1400" b="1" i="0">
                <a:solidFill>
                  <a:srgbClr val="FFFFFF"/>
                </a:solidFill>
              </a:rPr>
              <a:t>Gap 1</a:t>
            </a:r>
          </a:p>
        </p:txBody>
      </p:sp>
      <p:sp>
        <p:nvSpPr>
          <p:cNvPr id="9" name="Rectangle 8"/>
          <p:cNvSpPr/>
          <p:nvPr/>
        </p:nvSpPr>
        <p:spPr>
          <a:xfrm>
            <a:off x="1691640" y="1463040"/>
            <a:ext cx="100584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1581912"/>
            <a:ext cx="9784080" cy="411480"/>
          </a:xfrm>
          <a:prstGeom prst="rect">
            <a:avLst/>
          </a:prstGeom>
          <a:noFill/>
        </p:spPr>
        <p:txBody>
          <a:bodyPr wrap="square">
            <a:spAutoFit/>
          </a:bodyPr>
          <a:lstStyle/>
          <a:p>
            <a:pPr algn="l"/>
            <a:r>
              <a:rPr sz="1400" b="0" i="0">
                <a:solidFill>
                  <a:srgbClr val="333333"/>
                </a:solidFill>
              </a:rPr>
              <a:t>Limited studies on non-life insurance &amp; reinsurance AML</a:t>
            </a:r>
          </a:p>
        </p:txBody>
      </p:sp>
      <p:sp>
        <p:nvSpPr>
          <p:cNvPr id="11" name="Rectangle 10"/>
          <p:cNvSpPr/>
          <p:nvPr/>
        </p:nvSpPr>
        <p:spPr>
          <a:xfrm>
            <a:off x="274320" y="2240280"/>
            <a:ext cx="13716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331720"/>
            <a:ext cx="1371600" cy="411480"/>
          </a:xfrm>
          <a:prstGeom prst="rect">
            <a:avLst/>
          </a:prstGeom>
          <a:noFill/>
        </p:spPr>
        <p:txBody>
          <a:bodyPr wrap="square">
            <a:spAutoFit/>
          </a:bodyPr>
          <a:lstStyle/>
          <a:p>
            <a:pPr algn="ctr"/>
            <a:r>
              <a:rPr sz="1400" b="1" i="0">
                <a:solidFill>
                  <a:srgbClr val="FFFFFF"/>
                </a:solidFill>
              </a:rPr>
              <a:t>Gap 2</a:t>
            </a:r>
          </a:p>
        </p:txBody>
      </p:sp>
      <p:sp>
        <p:nvSpPr>
          <p:cNvPr id="13" name="Rectangle 12"/>
          <p:cNvSpPr/>
          <p:nvPr/>
        </p:nvSpPr>
        <p:spPr>
          <a:xfrm>
            <a:off x="1691640" y="2240280"/>
            <a:ext cx="100584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2359152"/>
            <a:ext cx="9784080" cy="411480"/>
          </a:xfrm>
          <a:prstGeom prst="rect">
            <a:avLst/>
          </a:prstGeom>
          <a:noFill/>
        </p:spPr>
        <p:txBody>
          <a:bodyPr wrap="square">
            <a:spAutoFit/>
          </a:bodyPr>
          <a:lstStyle/>
          <a:p>
            <a:pPr algn="l"/>
            <a:r>
              <a:rPr sz="1400" b="0" i="0">
                <a:solidFill>
                  <a:srgbClr val="333333"/>
                </a:solidFill>
              </a:rPr>
              <a:t>Few frameworks integrate SAR automation with detection engines</a:t>
            </a:r>
          </a:p>
        </p:txBody>
      </p:sp>
      <p:sp>
        <p:nvSpPr>
          <p:cNvPr id="15" name="Rectangle 14"/>
          <p:cNvSpPr/>
          <p:nvPr/>
        </p:nvSpPr>
        <p:spPr>
          <a:xfrm>
            <a:off x="274320" y="3017520"/>
            <a:ext cx="13716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108960"/>
            <a:ext cx="1371600" cy="411480"/>
          </a:xfrm>
          <a:prstGeom prst="rect">
            <a:avLst/>
          </a:prstGeom>
          <a:noFill/>
        </p:spPr>
        <p:txBody>
          <a:bodyPr wrap="square">
            <a:spAutoFit/>
          </a:bodyPr>
          <a:lstStyle/>
          <a:p>
            <a:pPr algn="ctr"/>
            <a:r>
              <a:rPr sz="1400" b="1" i="0">
                <a:solidFill>
                  <a:srgbClr val="FFFFFF"/>
                </a:solidFill>
              </a:rPr>
              <a:t>Gap 3</a:t>
            </a:r>
          </a:p>
        </p:txBody>
      </p:sp>
      <p:sp>
        <p:nvSpPr>
          <p:cNvPr id="17" name="Rectangle 16"/>
          <p:cNvSpPr/>
          <p:nvPr/>
        </p:nvSpPr>
        <p:spPr>
          <a:xfrm>
            <a:off x="1691640" y="3017520"/>
            <a:ext cx="100584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20240" y="3136392"/>
            <a:ext cx="9784080" cy="411480"/>
          </a:xfrm>
          <a:prstGeom prst="rect">
            <a:avLst/>
          </a:prstGeom>
          <a:noFill/>
        </p:spPr>
        <p:txBody>
          <a:bodyPr wrap="square">
            <a:spAutoFit/>
          </a:bodyPr>
          <a:lstStyle/>
          <a:p>
            <a:pPr algn="l"/>
            <a:r>
              <a:rPr sz="1400" b="0" i="0">
                <a:solidFill>
                  <a:srgbClr val="333333"/>
                </a:solidFill>
              </a:rPr>
              <a:t>Most ML approaches treat transactions in isolation — no relational context</a:t>
            </a:r>
          </a:p>
        </p:txBody>
      </p:sp>
      <p:sp>
        <p:nvSpPr>
          <p:cNvPr id="19" name="Rectangle 18"/>
          <p:cNvSpPr/>
          <p:nvPr/>
        </p:nvSpPr>
        <p:spPr>
          <a:xfrm>
            <a:off x="274320" y="3794760"/>
            <a:ext cx="13716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886200"/>
            <a:ext cx="1371600" cy="411480"/>
          </a:xfrm>
          <a:prstGeom prst="rect">
            <a:avLst/>
          </a:prstGeom>
          <a:noFill/>
        </p:spPr>
        <p:txBody>
          <a:bodyPr wrap="square">
            <a:spAutoFit/>
          </a:bodyPr>
          <a:lstStyle/>
          <a:p>
            <a:pPr algn="ctr"/>
            <a:r>
              <a:rPr sz="1400" b="1" i="0">
                <a:solidFill>
                  <a:srgbClr val="FFFFFF"/>
                </a:solidFill>
              </a:rPr>
              <a:t>Gap 4</a:t>
            </a:r>
          </a:p>
        </p:txBody>
      </p:sp>
      <p:sp>
        <p:nvSpPr>
          <p:cNvPr id="21" name="Rectangle 20"/>
          <p:cNvSpPr/>
          <p:nvPr/>
        </p:nvSpPr>
        <p:spPr>
          <a:xfrm>
            <a:off x="1691640" y="3794760"/>
            <a:ext cx="100584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3913632"/>
            <a:ext cx="9784080" cy="411480"/>
          </a:xfrm>
          <a:prstGeom prst="rect">
            <a:avLst/>
          </a:prstGeom>
          <a:noFill/>
        </p:spPr>
        <p:txBody>
          <a:bodyPr wrap="square">
            <a:spAutoFit/>
          </a:bodyPr>
          <a:lstStyle/>
          <a:p>
            <a:pPr algn="l"/>
            <a:r>
              <a:rPr sz="1400" b="0" i="0">
                <a:solidFill>
                  <a:srgbClr val="333333"/>
                </a:solidFill>
              </a:rPr>
              <a:t>Explainability (XAI) largely absent from existing AML models</a:t>
            </a:r>
          </a:p>
        </p:txBody>
      </p:sp>
      <p:sp>
        <p:nvSpPr>
          <p:cNvPr id="23" name="Rectangle 22"/>
          <p:cNvSpPr/>
          <p:nvPr/>
        </p:nvSpPr>
        <p:spPr>
          <a:xfrm>
            <a:off x="274320" y="4572000"/>
            <a:ext cx="13716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4663440"/>
            <a:ext cx="1371600" cy="411480"/>
          </a:xfrm>
          <a:prstGeom prst="rect">
            <a:avLst/>
          </a:prstGeom>
          <a:noFill/>
        </p:spPr>
        <p:txBody>
          <a:bodyPr wrap="square">
            <a:spAutoFit/>
          </a:bodyPr>
          <a:lstStyle/>
          <a:p>
            <a:pPr algn="ctr"/>
            <a:r>
              <a:rPr sz="1400" b="1" i="0">
                <a:solidFill>
                  <a:srgbClr val="FFFFFF"/>
                </a:solidFill>
              </a:rPr>
              <a:t>Gap 5</a:t>
            </a:r>
          </a:p>
        </p:txBody>
      </p:sp>
      <p:sp>
        <p:nvSpPr>
          <p:cNvPr id="25" name="Rectangle 24"/>
          <p:cNvSpPr/>
          <p:nvPr/>
        </p:nvSpPr>
        <p:spPr>
          <a:xfrm>
            <a:off x="1691640" y="4572000"/>
            <a:ext cx="1005840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20240" y="4690872"/>
            <a:ext cx="9784080" cy="411480"/>
          </a:xfrm>
          <a:prstGeom prst="rect">
            <a:avLst/>
          </a:prstGeom>
          <a:noFill/>
        </p:spPr>
        <p:txBody>
          <a:bodyPr wrap="square">
            <a:spAutoFit/>
          </a:bodyPr>
          <a:lstStyle/>
          <a:p>
            <a:pPr algn="l"/>
            <a:r>
              <a:rPr sz="1400" b="0" i="0">
                <a:solidFill>
                  <a:srgbClr val="333333"/>
                </a:solidFill>
              </a:rPr>
              <a:t>No unified architecture combining supervised, unsupervised &amp; graph methods</a:t>
            </a:r>
          </a:p>
        </p:txBody>
      </p:sp>
      <p:sp>
        <p:nvSpPr>
          <p:cNvPr id="27" name="Rectangle 26"/>
          <p:cNvSpPr/>
          <p:nvPr/>
        </p:nvSpPr>
        <p:spPr>
          <a:xfrm>
            <a:off x="274320" y="5440679"/>
            <a:ext cx="11612880" cy="5486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513831"/>
            <a:ext cx="11247120" cy="411480"/>
          </a:xfrm>
          <a:prstGeom prst="rect">
            <a:avLst/>
          </a:prstGeom>
          <a:noFill/>
        </p:spPr>
        <p:txBody>
          <a:bodyPr wrap="square">
            <a:spAutoFit/>
          </a:bodyPr>
          <a:lstStyle/>
          <a:p>
            <a:pPr algn="ctr"/>
            <a:r>
              <a:rPr sz="1400" b="1" i="0">
                <a:solidFill>
                  <a:srgbClr val="F0A500"/>
                </a:solidFill>
              </a:rPr>
              <a:t>→  This study addresses ALL five gaps through a novel integrated framework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Novelty Justification</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Six Original Contributions of This Research</a:t>
            </a:r>
          </a:p>
        </p:txBody>
      </p:sp>
      <p:sp>
        <p:nvSpPr>
          <p:cNvPr id="7" name="Rectangle 6"/>
          <p:cNvSpPr/>
          <p:nvPr/>
        </p:nvSpPr>
        <p:spPr>
          <a:xfrm>
            <a:off x="182880" y="1325880"/>
            <a:ext cx="914400" cy="128016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1645919"/>
            <a:ext cx="914400" cy="548640"/>
          </a:xfrm>
          <a:prstGeom prst="rect">
            <a:avLst/>
          </a:prstGeom>
          <a:noFill/>
        </p:spPr>
        <p:txBody>
          <a:bodyPr wrap="square">
            <a:spAutoFit/>
          </a:bodyPr>
          <a:lstStyle/>
          <a:p>
            <a:pPr algn="ctr"/>
            <a:r>
              <a:rPr sz="1600" b="1" i="0">
                <a:solidFill>
                  <a:srgbClr val="FFFFFF"/>
                </a:solidFill>
              </a:rPr>
              <a:t>#1</a:t>
            </a:r>
          </a:p>
        </p:txBody>
      </p:sp>
      <p:sp>
        <p:nvSpPr>
          <p:cNvPr id="9" name="Rectangle 8"/>
          <p:cNvSpPr/>
          <p:nvPr/>
        </p:nvSpPr>
        <p:spPr>
          <a:xfrm>
            <a:off x="1143000" y="1325880"/>
            <a:ext cx="45720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417320"/>
            <a:ext cx="4389120" cy="411480"/>
          </a:xfrm>
          <a:prstGeom prst="rect">
            <a:avLst/>
          </a:prstGeom>
          <a:noFill/>
        </p:spPr>
        <p:txBody>
          <a:bodyPr wrap="square">
            <a:spAutoFit/>
          </a:bodyPr>
          <a:lstStyle/>
          <a:p>
            <a:pPr algn="l"/>
            <a:r>
              <a:rPr sz="1300" b="1" i="0">
                <a:solidFill>
                  <a:srgbClr val="0D2B55"/>
                </a:solidFill>
              </a:rPr>
              <a:t>Insurance-Specific Feature Engineering</a:t>
            </a:r>
          </a:p>
        </p:txBody>
      </p:sp>
      <p:sp>
        <p:nvSpPr>
          <p:cNvPr id="11" name="TextBox 10"/>
          <p:cNvSpPr txBox="1"/>
          <p:nvPr/>
        </p:nvSpPr>
        <p:spPr>
          <a:xfrm>
            <a:off x="1280160" y="1828800"/>
            <a:ext cx="4389120" cy="685800"/>
          </a:xfrm>
          <a:prstGeom prst="rect">
            <a:avLst/>
          </a:prstGeom>
          <a:noFill/>
        </p:spPr>
        <p:txBody>
          <a:bodyPr wrap="square">
            <a:spAutoFit/>
          </a:bodyPr>
          <a:lstStyle/>
          <a:p>
            <a:pPr algn="l"/>
            <a:r>
              <a:rPr sz="1200" b="0" i="0">
                <a:solidFill>
                  <a:srgbClr val="333333"/>
                </a:solidFill>
              </a:rPr>
              <a:t>40+ domain features: surrender timing, beneficiary change frequency, premium-to-income deviation</a:t>
            </a:r>
          </a:p>
        </p:txBody>
      </p:sp>
      <p:sp>
        <p:nvSpPr>
          <p:cNvPr id="12" name="Rectangle 11"/>
          <p:cNvSpPr/>
          <p:nvPr/>
        </p:nvSpPr>
        <p:spPr>
          <a:xfrm>
            <a:off x="6309360" y="1325880"/>
            <a:ext cx="914400" cy="128016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645919"/>
            <a:ext cx="914400" cy="548640"/>
          </a:xfrm>
          <a:prstGeom prst="rect">
            <a:avLst/>
          </a:prstGeom>
          <a:noFill/>
        </p:spPr>
        <p:txBody>
          <a:bodyPr wrap="square">
            <a:spAutoFit/>
          </a:bodyPr>
          <a:lstStyle/>
          <a:p>
            <a:pPr algn="ctr"/>
            <a:r>
              <a:rPr sz="1600" b="1" i="0">
                <a:solidFill>
                  <a:srgbClr val="FFFFFF"/>
                </a:solidFill>
              </a:rPr>
              <a:t>#2</a:t>
            </a:r>
          </a:p>
        </p:txBody>
      </p:sp>
      <p:sp>
        <p:nvSpPr>
          <p:cNvPr id="14" name="Rectangle 13"/>
          <p:cNvSpPr/>
          <p:nvPr/>
        </p:nvSpPr>
        <p:spPr>
          <a:xfrm>
            <a:off x="7269480" y="1325880"/>
            <a:ext cx="45720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417320"/>
            <a:ext cx="4389120" cy="411480"/>
          </a:xfrm>
          <a:prstGeom prst="rect">
            <a:avLst/>
          </a:prstGeom>
          <a:noFill/>
        </p:spPr>
        <p:txBody>
          <a:bodyPr wrap="square">
            <a:spAutoFit/>
          </a:bodyPr>
          <a:lstStyle/>
          <a:p>
            <a:pPr algn="l"/>
            <a:r>
              <a:rPr sz="1300" b="1" i="0">
                <a:solidFill>
                  <a:srgbClr val="0D2B55"/>
                </a:solidFill>
              </a:rPr>
              <a:t>Multi-Layer Hybrid Architecture</a:t>
            </a:r>
          </a:p>
        </p:txBody>
      </p:sp>
      <p:sp>
        <p:nvSpPr>
          <p:cNvPr id="16" name="TextBox 15"/>
          <p:cNvSpPr txBox="1"/>
          <p:nvPr/>
        </p:nvSpPr>
        <p:spPr>
          <a:xfrm>
            <a:off x="7406640" y="1828800"/>
            <a:ext cx="4389120" cy="685800"/>
          </a:xfrm>
          <a:prstGeom prst="rect">
            <a:avLst/>
          </a:prstGeom>
          <a:noFill/>
        </p:spPr>
        <p:txBody>
          <a:bodyPr wrap="square">
            <a:spAutoFit/>
          </a:bodyPr>
          <a:lstStyle/>
          <a:p>
            <a:pPr algn="l"/>
            <a:r>
              <a:rPr sz="1200" b="0" i="0">
                <a:solidFill>
                  <a:srgbClr val="333333"/>
                </a:solidFill>
              </a:rPr>
              <a:t>Fuses supervised, unsupervised &amp; graph analytics in a unified pipeline</a:t>
            </a:r>
          </a:p>
        </p:txBody>
      </p:sp>
      <p:sp>
        <p:nvSpPr>
          <p:cNvPr id="17" name="Rectangle 16"/>
          <p:cNvSpPr/>
          <p:nvPr/>
        </p:nvSpPr>
        <p:spPr>
          <a:xfrm>
            <a:off x="182880" y="2880360"/>
            <a:ext cx="914400" cy="128016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 y="3200400"/>
            <a:ext cx="914400" cy="548640"/>
          </a:xfrm>
          <a:prstGeom prst="rect">
            <a:avLst/>
          </a:prstGeom>
          <a:noFill/>
        </p:spPr>
        <p:txBody>
          <a:bodyPr wrap="square">
            <a:spAutoFit/>
          </a:bodyPr>
          <a:lstStyle/>
          <a:p>
            <a:pPr algn="ctr"/>
            <a:r>
              <a:rPr sz="1600" b="1" i="0">
                <a:solidFill>
                  <a:srgbClr val="FFFFFF"/>
                </a:solidFill>
              </a:rPr>
              <a:t>#3</a:t>
            </a:r>
          </a:p>
        </p:txBody>
      </p:sp>
      <p:sp>
        <p:nvSpPr>
          <p:cNvPr id="19" name="Rectangle 18"/>
          <p:cNvSpPr/>
          <p:nvPr/>
        </p:nvSpPr>
        <p:spPr>
          <a:xfrm>
            <a:off x="1143000" y="2880360"/>
            <a:ext cx="45720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2971800"/>
            <a:ext cx="4389120" cy="411480"/>
          </a:xfrm>
          <a:prstGeom prst="rect">
            <a:avLst/>
          </a:prstGeom>
          <a:noFill/>
        </p:spPr>
        <p:txBody>
          <a:bodyPr wrap="square">
            <a:spAutoFit/>
          </a:bodyPr>
          <a:lstStyle/>
          <a:p>
            <a:pPr algn="l"/>
            <a:r>
              <a:rPr sz="1300" b="1" i="0">
                <a:solidFill>
                  <a:srgbClr val="0D2B55"/>
                </a:solidFill>
              </a:rPr>
              <a:t>Intermediary Network GNN</a:t>
            </a:r>
          </a:p>
        </p:txBody>
      </p:sp>
      <p:sp>
        <p:nvSpPr>
          <p:cNvPr id="21" name="TextBox 20"/>
          <p:cNvSpPr txBox="1"/>
          <p:nvPr/>
        </p:nvSpPr>
        <p:spPr>
          <a:xfrm>
            <a:off x="1280160" y="3383280"/>
            <a:ext cx="4389120" cy="685800"/>
          </a:xfrm>
          <a:prstGeom prst="rect">
            <a:avLst/>
          </a:prstGeom>
          <a:noFill/>
        </p:spPr>
        <p:txBody>
          <a:bodyPr wrap="square">
            <a:spAutoFit/>
          </a:bodyPr>
          <a:lstStyle/>
          <a:p>
            <a:pPr algn="l"/>
            <a:r>
              <a:rPr sz="1200" b="0" i="0">
                <a:solidFill>
                  <a:srgbClr val="333333"/>
                </a:solidFill>
              </a:rPr>
              <a:t>Models broker/agent networks to detect collusion — rarely done in existing research</a:t>
            </a:r>
          </a:p>
        </p:txBody>
      </p:sp>
      <p:sp>
        <p:nvSpPr>
          <p:cNvPr id="22" name="Rectangle 21"/>
          <p:cNvSpPr/>
          <p:nvPr/>
        </p:nvSpPr>
        <p:spPr>
          <a:xfrm>
            <a:off x="6309360" y="2880360"/>
            <a:ext cx="914400" cy="128016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200400"/>
            <a:ext cx="914400" cy="548640"/>
          </a:xfrm>
          <a:prstGeom prst="rect">
            <a:avLst/>
          </a:prstGeom>
          <a:noFill/>
        </p:spPr>
        <p:txBody>
          <a:bodyPr wrap="square">
            <a:spAutoFit/>
          </a:bodyPr>
          <a:lstStyle/>
          <a:p>
            <a:pPr algn="ctr"/>
            <a:r>
              <a:rPr sz="1600" b="1" i="0">
                <a:solidFill>
                  <a:srgbClr val="FFFFFF"/>
                </a:solidFill>
              </a:rPr>
              <a:t>#4</a:t>
            </a:r>
          </a:p>
        </p:txBody>
      </p:sp>
      <p:sp>
        <p:nvSpPr>
          <p:cNvPr id="24" name="Rectangle 23"/>
          <p:cNvSpPr/>
          <p:nvPr/>
        </p:nvSpPr>
        <p:spPr>
          <a:xfrm>
            <a:off x="7269480" y="2880360"/>
            <a:ext cx="45720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0" y="2971800"/>
            <a:ext cx="4389120" cy="411480"/>
          </a:xfrm>
          <a:prstGeom prst="rect">
            <a:avLst/>
          </a:prstGeom>
          <a:noFill/>
        </p:spPr>
        <p:txBody>
          <a:bodyPr wrap="square">
            <a:spAutoFit/>
          </a:bodyPr>
          <a:lstStyle/>
          <a:p>
            <a:pPr algn="l"/>
            <a:r>
              <a:rPr sz="1300" b="1" i="0">
                <a:solidFill>
                  <a:srgbClr val="0D2B55"/>
                </a:solidFill>
              </a:rPr>
              <a:t>Automated SAR Generation</a:t>
            </a:r>
          </a:p>
        </p:txBody>
      </p:sp>
      <p:sp>
        <p:nvSpPr>
          <p:cNvPr id="26" name="TextBox 25"/>
          <p:cNvSpPr txBox="1"/>
          <p:nvPr/>
        </p:nvSpPr>
        <p:spPr>
          <a:xfrm>
            <a:off x="7406640" y="3383280"/>
            <a:ext cx="4389120" cy="685800"/>
          </a:xfrm>
          <a:prstGeom prst="rect">
            <a:avLst/>
          </a:prstGeom>
          <a:noFill/>
        </p:spPr>
        <p:txBody>
          <a:bodyPr wrap="square">
            <a:spAutoFit/>
          </a:bodyPr>
          <a:lstStyle/>
          <a:p>
            <a:pPr algn="l"/>
            <a:r>
              <a:rPr sz="1200" b="0" i="0">
                <a:solidFill>
                  <a:srgbClr val="333333"/>
                </a:solidFill>
              </a:rPr>
              <a:t>End-to-end regulatory reporting aligned with FinCEN/FCA templates</a:t>
            </a:r>
          </a:p>
        </p:txBody>
      </p:sp>
      <p:sp>
        <p:nvSpPr>
          <p:cNvPr id="27" name="Rectangle 26"/>
          <p:cNvSpPr/>
          <p:nvPr/>
        </p:nvSpPr>
        <p:spPr>
          <a:xfrm>
            <a:off x="182880" y="4434840"/>
            <a:ext cx="914400" cy="128016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2880" y="4754879"/>
            <a:ext cx="914400" cy="548640"/>
          </a:xfrm>
          <a:prstGeom prst="rect">
            <a:avLst/>
          </a:prstGeom>
          <a:noFill/>
        </p:spPr>
        <p:txBody>
          <a:bodyPr wrap="square">
            <a:spAutoFit/>
          </a:bodyPr>
          <a:lstStyle/>
          <a:p>
            <a:pPr algn="ctr"/>
            <a:r>
              <a:rPr sz="1600" b="1" i="0">
                <a:solidFill>
                  <a:srgbClr val="FFFFFF"/>
                </a:solidFill>
              </a:rPr>
              <a:t>#5</a:t>
            </a:r>
          </a:p>
        </p:txBody>
      </p:sp>
      <p:sp>
        <p:nvSpPr>
          <p:cNvPr id="29" name="Rectangle 28"/>
          <p:cNvSpPr/>
          <p:nvPr/>
        </p:nvSpPr>
        <p:spPr>
          <a:xfrm>
            <a:off x="1143000" y="4434840"/>
            <a:ext cx="45720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4526279"/>
            <a:ext cx="4389120" cy="411480"/>
          </a:xfrm>
          <a:prstGeom prst="rect">
            <a:avLst/>
          </a:prstGeom>
          <a:noFill/>
        </p:spPr>
        <p:txBody>
          <a:bodyPr wrap="square">
            <a:spAutoFit/>
          </a:bodyPr>
          <a:lstStyle/>
          <a:p>
            <a:pPr algn="l"/>
            <a:r>
              <a:rPr sz="1300" b="1" i="0">
                <a:solidFill>
                  <a:srgbClr val="0D2B55"/>
                </a:solidFill>
              </a:rPr>
              <a:t>SHAP Explainability</a:t>
            </a:r>
          </a:p>
        </p:txBody>
      </p:sp>
      <p:sp>
        <p:nvSpPr>
          <p:cNvPr id="31" name="TextBox 30"/>
          <p:cNvSpPr txBox="1"/>
          <p:nvPr/>
        </p:nvSpPr>
        <p:spPr>
          <a:xfrm>
            <a:off x="1280160" y="4937759"/>
            <a:ext cx="4389120" cy="685800"/>
          </a:xfrm>
          <a:prstGeom prst="rect">
            <a:avLst/>
          </a:prstGeom>
          <a:noFill/>
        </p:spPr>
        <p:txBody>
          <a:bodyPr wrap="square">
            <a:spAutoFit/>
          </a:bodyPr>
          <a:lstStyle/>
          <a:p>
            <a:pPr algn="l"/>
            <a:r>
              <a:rPr sz="1200" b="0" i="0">
                <a:solidFill>
                  <a:srgbClr val="333333"/>
                </a:solidFill>
              </a:rPr>
              <a:t>Investigator-interpretable risk rationales — satisfies regulatory acceptance requirements</a:t>
            </a:r>
          </a:p>
        </p:txBody>
      </p:sp>
      <p:sp>
        <p:nvSpPr>
          <p:cNvPr id="32" name="Rectangle 31"/>
          <p:cNvSpPr/>
          <p:nvPr/>
        </p:nvSpPr>
        <p:spPr>
          <a:xfrm>
            <a:off x="6309360" y="4434840"/>
            <a:ext cx="914400" cy="128016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4754879"/>
            <a:ext cx="914400" cy="548640"/>
          </a:xfrm>
          <a:prstGeom prst="rect">
            <a:avLst/>
          </a:prstGeom>
          <a:noFill/>
        </p:spPr>
        <p:txBody>
          <a:bodyPr wrap="square">
            <a:spAutoFit/>
          </a:bodyPr>
          <a:lstStyle/>
          <a:p>
            <a:pPr algn="ctr"/>
            <a:r>
              <a:rPr sz="1600" b="1" i="0">
                <a:solidFill>
                  <a:srgbClr val="FFFFFF"/>
                </a:solidFill>
              </a:rPr>
              <a:t>#6</a:t>
            </a:r>
          </a:p>
        </p:txBody>
      </p:sp>
      <p:sp>
        <p:nvSpPr>
          <p:cNvPr id="34" name="Rectangle 33"/>
          <p:cNvSpPr/>
          <p:nvPr/>
        </p:nvSpPr>
        <p:spPr>
          <a:xfrm>
            <a:off x="7269480" y="4434840"/>
            <a:ext cx="45720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4526279"/>
            <a:ext cx="4389120" cy="411480"/>
          </a:xfrm>
          <a:prstGeom prst="rect">
            <a:avLst/>
          </a:prstGeom>
          <a:noFill/>
        </p:spPr>
        <p:txBody>
          <a:bodyPr wrap="square">
            <a:spAutoFit/>
          </a:bodyPr>
          <a:lstStyle/>
          <a:p>
            <a:pPr algn="l"/>
            <a:r>
              <a:rPr sz="1300" b="1" i="0">
                <a:solidFill>
                  <a:srgbClr val="0D2B55"/>
                </a:solidFill>
              </a:rPr>
              <a:t>Dynamic Risk Scoring</a:t>
            </a:r>
          </a:p>
        </p:txBody>
      </p:sp>
      <p:sp>
        <p:nvSpPr>
          <p:cNvPr id="36" name="TextBox 35"/>
          <p:cNvSpPr txBox="1"/>
          <p:nvPr/>
        </p:nvSpPr>
        <p:spPr>
          <a:xfrm>
            <a:off x="7406640" y="4937759"/>
            <a:ext cx="4389120" cy="685800"/>
          </a:xfrm>
          <a:prstGeom prst="rect">
            <a:avLst/>
          </a:prstGeom>
          <a:noFill/>
        </p:spPr>
        <p:txBody>
          <a:bodyPr wrap="square">
            <a:spAutoFit/>
          </a:bodyPr>
          <a:lstStyle/>
          <a:p>
            <a:pPr algn="l"/>
            <a:r>
              <a:rPr sz="1200" b="0" i="0">
                <a:solidFill>
                  <a:srgbClr val="333333"/>
                </a:solidFill>
              </a:rPr>
              <a:t>Continuous real-time scores updated per transaction event; proactive vs. retrospective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Proposed System Architecture</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Multi-Layer AML Detection Framework</a:t>
            </a:r>
          </a:p>
        </p:txBody>
      </p:sp>
      <p:sp>
        <p:nvSpPr>
          <p:cNvPr id="7" name="Rectangle 6"/>
          <p:cNvSpPr/>
          <p:nvPr/>
        </p:nvSpPr>
        <p:spPr>
          <a:xfrm>
            <a:off x="274320" y="1325880"/>
            <a:ext cx="11612880" cy="7498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62456"/>
            <a:ext cx="3200400" cy="365760"/>
          </a:xfrm>
          <a:prstGeom prst="rect">
            <a:avLst/>
          </a:prstGeom>
          <a:noFill/>
        </p:spPr>
        <p:txBody>
          <a:bodyPr wrap="square">
            <a:spAutoFit/>
          </a:bodyPr>
          <a:lstStyle/>
          <a:p>
            <a:pPr algn="l"/>
            <a:r>
              <a:rPr sz="1300" b="1" i="0">
                <a:solidFill>
                  <a:srgbClr val="FFFFFF"/>
                </a:solidFill>
              </a:rPr>
              <a:t>DATA INGESTION LAYER</a:t>
            </a:r>
          </a:p>
        </p:txBody>
      </p:sp>
      <p:sp>
        <p:nvSpPr>
          <p:cNvPr id="9" name="TextBox 8"/>
          <p:cNvSpPr txBox="1"/>
          <p:nvPr/>
        </p:nvSpPr>
        <p:spPr>
          <a:xfrm>
            <a:off x="3566160" y="1490472"/>
            <a:ext cx="8229600" cy="457200"/>
          </a:xfrm>
          <a:prstGeom prst="rect">
            <a:avLst/>
          </a:prstGeom>
          <a:noFill/>
        </p:spPr>
        <p:txBody>
          <a:bodyPr wrap="square">
            <a:spAutoFit/>
          </a:bodyPr>
          <a:lstStyle/>
          <a:p>
            <a:pPr algn="l"/>
            <a:r>
              <a:rPr sz="1200" b="0" i="0">
                <a:solidFill>
                  <a:srgbClr val="CCDDFF"/>
                </a:solidFill>
              </a:rPr>
              <a:t>Policy DB · Claims DB · KYC/CRM · Sanctions/PEP Lists · Broker Registry · Transaction Ledger</a:t>
            </a:r>
          </a:p>
        </p:txBody>
      </p:sp>
      <p:sp>
        <p:nvSpPr>
          <p:cNvPr id="10" name="Rectangle 9"/>
          <p:cNvSpPr/>
          <p:nvPr/>
        </p:nvSpPr>
        <p:spPr>
          <a:xfrm>
            <a:off x="5943600" y="2075688"/>
            <a:ext cx="274320" cy="1828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258568"/>
            <a:ext cx="11612880" cy="749808"/>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295144"/>
            <a:ext cx="3200400" cy="365760"/>
          </a:xfrm>
          <a:prstGeom prst="rect">
            <a:avLst/>
          </a:prstGeom>
          <a:noFill/>
        </p:spPr>
        <p:txBody>
          <a:bodyPr wrap="square">
            <a:spAutoFit/>
          </a:bodyPr>
          <a:lstStyle/>
          <a:p>
            <a:pPr algn="l"/>
            <a:r>
              <a:rPr sz="1300" b="1" i="0">
                <a:solidFill>
                  <a:srgbClr val="FFFFFF"/>
                </a:solidFill>
              </a:rPr>
              <a:t>PRE-PROCESSING LAYER</a:t>
            </a:r>
          </a:p>
        </p:txBody>
      </p:sp>
      <p:sp>
        <p:nvSpPr>
          <p:cNvPr id="13" name="TextBox 12"/>
          <p:cNvSpPr txBox="1"/>
          <p:nvPr/>
        </p:nvSpPr>
        <p:spPr>
          <a:xfrm>
            <a:off x="3566160" y="2423160"/>
            <a:ext cx="8229600" cy="457200"/>
          </a:xfrm>
          <a:prstGeom prst="rect">
            <a:avLst/>
          </a:prstGeom>
          <a:noFill/>
        </p:spPr>
        <p:txBody>
          <a:bodyPr wrap="square">
            <a:spAutoFit/>
          </a:bodyPr>
          <a:lstStyle/>
          <a:p>
            <a:pPr algn="l"/>
            <a:r>
              <a:rPr sz="1200" b="0" i="0">
                <a:solidFill>
                  <a:srgbClr val="CCDDFF"/>
                </a:solidFill>
              </a:rPr>
              <a:t>Cleaning &amp; Normalization · Feature Engineering · Entity Resolution · Graph Construction</a:t>
            </a:r>
          </a:p>
        </p:txBody>
      </p:sp>
      <p:sp>
        <p:nvSpPr>
          <p:cNvPr id="14" name="Rectangle 13"/>
          <p:cNvSpPr/>
          <p:nvPr/>
        </p:nvSpPr>
        <p:spPr>
          <a:xfrm>
            <a:off x="5943600" y="3008376"/>
            <a:ext cx="274320" cy="1828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191256"/>
            <a:ext cx="11612880" cy="749808"/>
          </a:xfrm>
          <a:prstGeom prst="rect">
            <a:avLst/>
          </a:prstGeom>
          <a:solidFill>
            <a:srgbClr val="1E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27832"/>
            <a:ext cx="3200400" cy="365760"/>
          </a:xfrm>
          <a:prstGeom prst="rect">
            <a:avLst/>
          </a:prstGeom>
          <a:noFill/>
        </p:spPr>
        <p:txBody>
          <a:bodyPr wrap="square">
            <a:spAutoFit/>
          </a:bodyPr>
          <a:lstStyle/>
          <a:p>
            <a:pPr algn="l"/>
            <a:r>
              <a:rPr sz="1300" b="1" i="0">
                <a:solidFill>
                  <a:srgbClr val="FFFFFF"/>
                </a:solidFill>
              </a:rPr>
              <a:t>DETECTION LAYER</a:t>
            </a:r>
          </a:p>
        </p:txBody>
      </p:sp>
      <p:sp>
        <p:nvSpPr>
          <p:cNvPr id="17" name="TextBox 16"/>
          <p:cNvSpPr txBox="1"/>
          <p:nvPr/>
        </p:nvSpPr>
        <p:spPr>
          <a:xfrm>
            <a:off x="3566160" y="3355848"/>
            <a:ext cx="8229600" cy="457200"/>
          </a:xfrm>
          <a:prstGeom prst="rect">
            <a:avLst/>
          </a:prstGeom>
          <a:noFill/>
        </p:spPr>
        <p:txBody>
          <a:bodyPr wrap="square">
            <a:spAutoFit/>
          </a:bodyPr>
          <a:lstStyle/>
          <a:p>
            <a:pPr algn="l"/>
            <a:r>
              <a:rPr sz="1200" b="0" i="0">
                <a:solidFill>
                  <a:srgbClr val="CCDDFF"/>
                </a:solidFill>
              </a:rPr>
              <a:t>Supervised (XGBoost/RF)  |  Unsupervised (Autoencoder/Isolation Forest)  |  GNN Graph Analytics</a:t>
            </a:r>
          </a:p>
        </p:txBody>
      </p:sp>
      <p:sp>
        <p:nvSpPr>
          <p:cNvPr id="18" name="Rectangle 17"/>
          <p:cNvSpPr/>
          <p:nvPr/>
        </p:nvSpPr>
        <p:spPr>
          <a:xfrm>
            <a:off x="5943600" y="3941064"/>
            <a:ext cx="274320" cy="1828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4123944"/>
            <a:ext cx="11612880" cy="749808"/>
          </a:xfrm>
          <a:prstGeom prst="rect">
            <a:avLst/>
          </a:prstGeom>
          <a:solidFill>
            <a:srgbClr val="1453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160520"/>
            <a:ext cx="3200400" cy="365760"/>
          </a:xfrm>
          <a:prstGeom prst="rect">
            <a:avLst/>
          </a:prstGeom>
          <a:noFill/>
        </p:spPr>
        <p:txBody>
          <a:bodyPr wrap="square">
            <a:spAutoFit/>
          </a:bodyPr>
          <a:lstStyle/>
          <a:p>
            <a:pPr algn="l"/>
            <a:r>
              <a:rPr sz="1300" b="1" i="0">
                <a:solidFill>
                  <a:srgbClr val="FFFFFF"/>
                </a:solidFill>
              </a:rPr>
              <a:t>RISK FUSION ENGINE</a:t>
            </a:r>
          </a:p>
        </p:txBody>
      </p:sp>
      <p:sp>
        <p:nvSpPr>
          <p:cNvPr id="21" name="TextBox 20"/>
          <p:cNvSpPr txBox="1"/>
          <p:nvPr/>
        </p:nvSpPr>
        <p:spPr>
          <a:xfrm>
            <a:off x="3566160" y="4288536"/>
            <a:ext cx="8229600" cy="457200"/>
          </a:xfrm>
          <a:prstGeom prst="rect">
            <a:avLst/>
          </a:prstGeom>
          <a:noFill/>
        </p:spPr>
        <p:txBody>
          <a:bodyPr wrap="square">
            <a:spAutoFit/>
          </a:bodyPr>
          <a:lstStyle/>
          <a:p>
            <a:pPr algn="l"/>
            <a:r>
              <a:rPr sz="1200" b="0" i="0">
                <a:solidFill>
                  <a:srgbClr val="CCDDFF"/>
                </a:solidFill>
              </a:rPr>
              <a:t>Ensemble Score Aggregation · Dynamic Risk Score (0–100) · SHAP Explainability</a:t>
            </a:r>
          </a:p>
        </p:txBody>
      </p:sp>
      <p:sp>
        <p:nvSpPr>
          <p:cNvPr id="22" name="Rectangle 21"/>
          <p:cNvSpPr/>
          <p:nvPr/>
        </p:nvSpPr>
        <p:spPr>
          <a:xfrm>
            <a:off x="5943600" y="4873752"/>
            <a:ext cx="274320" cy="1828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5056632"/>
            <a:ext cx="11612880" cy="7498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093208"/>
            <a:ext cx="3200400" cy="365760"/>
          </a:xfrm>
          <a:prstGeom prst="rect">
            <a:avLst/>
          </a:prstGeom>
          <a:noFill/>
        </p:spPr>
        <p:txBody>
          <a:bodyPr wrap="square">
            <a:spAutoFit/>
          </a:bodyPr>
          <a:lstStyle/>
          <a:p>
            <a:pPr algn="l"/>
            <a:r>
              <a:rPr sz="1300" b="1" i="0">
                <a:solidFill>
                  <a:srgbClr val="0D2B55"/>
                </a:solidFill>
              </a:rPr>
              <a:t>OUTPUT LAYER</a:t>
            </a:r>
          </a:p>
        </p:txBody>
      </p:sp>
      <p:sp>
        <p:nvSpPr>
          <p:cNvPr id="25" name="TextBox 24"/>
          <p:cNvSpPr txBox="1"/>
          <p:nvPr/>
        </p:nvSpPr>
        <p:spPr>
          <a:xfrm>
            <a:off x="3566160" y="5221224"/>
            <a:ext cx="8229600" cy="457200"/>
          </a:xfrm>
          <a:prstGeom prst="rect">
            <a:avLst/>
          </a:prstGeom>
          <a:noFill/>
        </p:spPr>
        <p:txBody>
          <a:bodyPr wrap="square">
            <a:spAutoFit/>
          </a:bodyPr>
          <a:lstStyle/>
          <a:p>
            <a:pPr algn="l"/>
            <a:r>
              <a:rPr sz="1200" b="0" i="0">
                <a:solidFill>
                  <a:srgbClr val="0D2B55"/>
                </a:solidFill>
              </a:rPr>
              <a:t>Case Management Dashboard  |  Automated SAR Generation  |  Regulatory Submission Gateway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Architecture — Component Details</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Key Modules of the Proposed System</a:t>
            </a:r>
          </a:p>
        </p:txBody>
      </p:sp>
      <p:sp>
        <p:nvSpPr>
          <p:cNvPr id="7" name="Rectangle 6"/>
          <p:cNvSpPr/>
          <p:nvPr/>
        </p:nvSpPr>
        <p:spPr>
          <a:xfrm>
            <a:off x="274320" y="137160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444752"/>
            <a:ext cx="11430000" cy="411480"/>
          </a:xfrm>
          <a:prstGeom prst="rect">
            <a:avLst/>
          </a:prstGeom>
          <a:noFill/>
        </p:spPr>
        <p:txBody>
          <a:bodyPr wrap="square">
            <a:spAutoFit/>
          </a:bodyPr>
          <a:lstStyle/>
          <a:p>
            <a:pPr algn="l"/>
            <a:r>
              <a:rPr sz="1300" b="1" i="0">
                <a:solidFill>
                  <a:srgbClr val="1A538B"/>
                </a:solidFill>
              </a:rPr>
              <a:t>A. Data Ingestion</a:t>
            </a:r>
          </a:p>
        </p:txBody>
      </p:sp>
      <p:sp>
        <p:nvSpPr>
          <p:cNvPr id="9" name="TextBox 8"/>
          <p:cNvSpPr txBox="1"/>
          <p:nvPr/>
        </p:nvSpPr>
        <p:spPr>
          <a:xfrm>
            <a:off x="320040" y="1856232"/>
            <a:ext cx="11430000" cy="384048"/>
          </a:xfrm>
          <a:prstGeom prst="rect">
            <a:avLst/>
          </a:prstGeom>
          <a:noFill/>
        </p:spPr>
        <p:txBody>
          <a:bodyPr wrap="square">
            <a:spAutoFit/>
          </a:bodyPr>
          <a:lstStyle/>
          <a:p>
            <a:pPr algn="l"/>
            <a:r>
              <a:rPr sz="1300" b="0" i="0">
                <a:solidFill>
                  <a:srgbClr val="333333"/>
                </a:solidFill>
              </a:rPr>
              <a:t>  ►  APIs &amp; ETL pipelines from core insurance systems, global watchlists (OFAC, UN, EU)</a:t>
            </a:r>
          </a:p>
        </p:txBody>
      </p:sp>
      <p:sp>
        <p:nvSpPr>
          <p:cNvPr id="10" name="Rectangle 9"/>
          <p:cNvSpPr/>
          <p:nvPr/>
        </p:nvSpPr>
        <p:spPr>
          <a:xfrm>
            <a:off x="274320" y="224028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313432"/>
            <a:ext cx="11430000" cy="411480"/>
          </a:xfrm>
          <a:prstGeom prst="rect">
            <a:avLst/>
          </a:prstGeom>
          <a:noFill/>
        </p:spPr>
        <p:txBody>
          <a:bodyPr wrap="square">
            <a:spAutoFit/>
          </a:bodyPr>
          <a:lstStyle/>
          <a:p>
            <a:pPr algn="l"/>
            <a:r>
              <a:rPr sz="1300" b="1" i="0">
                <a:solidFill>
                  <a:srgbClr val="1A538B"/>
                </a:solidFill>
              </a:rPr>
              <a:t>B. Feature Engineering (40+ Features)</a:t>
            </a:r>
          </a:p>
        </p:txBody>
      </p:sp>
      <p:sp>
        <p:nvSpPr>
          <p:cNvPr id="12" name="TextBox 11"/>
          <p:cNvSpPr txBox="1"/>
          <p:nvPr/>
        </p:nvSpPr>
        <p:spPr>
          <a:xfrm>
            <a:off x="320040" y="2724912"/>
            <a:ext cx="11430000" cy="384048"/>
          </a:xfrm>
          <a:prstGeom prst="rect">
            <a:avLst/>
          </a:prstGeom>
          <a:noFill/>
        </p:spPr>
        <p:txBody>
          <a:bodyPr wrap="square">
            <a:spAutoFit/>
          </a:bodyPr>
          <a:lstStyle/>
          <a:p>
            <a:pPr algn="l"/>
            <a:r>
              <a:rPr sz="1300" b="0" i="0">
                <a:solidFill>
                  <a:srgbClr val="333333"/>
                </a:solidFill>
              </a:rPr>
              <a:t>  ►  Premium-to-income ratio · Policy surrender timing · Beneficiary change frequency · Cross-border flags</a:t>
            </a:r>
          </a:p>
        </p:txBody>
      </p:sp>
      <p:sp>
        <p:nvSpPr>
          <p:cNvPr id="13" name="Rectangle 12"/>
          <p:cNvSpPr/>
          <p:nvPr/>
        </p:nvSpPr>
        <p:spPr>
          <a:xfrm>
            <a:off x="274320" y="310896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182112"/>
            <a:ext cx="11430000" cy="411480"/>
          </a:xfrm>
          <a:prstGeom prst="rect">
            <a:avLst/>
          </a:prstGeom>
          <a:noFill/>
        </p:spPr>
        <p:txBody>
          <a:bodyPr wrap="square">
            <a:spAutoFit/>
          </a:bodyPr>
          <a:lstStyle/>
          <a:p>
            <a:pPr algn="l"/>
            <a:r>
              <a:rPr sz="1300" b="1" i="0">
                <a:solidFill>
                  <a:srgbClr val="1A538B"/>
                </a:solidFill>
              </a:rPr>
              <a:t>C. Supervised Detection</a:t>
            </a:r>
          </a:p>
        </p:txBody>
      </p:sp>
      <p:sp>
        <p:nvSpPr>
          <p:cNvPr id="15" name="TextBox 14"/>
          <p:cNvSpPr txBox="1"/>
          <p:nvPr/>
        </p:nvSpPr>
        <p:spPr>
          <a:xfrm>
            <a:off x="320040" y="3593592"/>
            <a:ext cx="11430000" cy="384048"/>
          </a:xfrm>
          <a:prstGeom prst="rect">
            <a:avLst/>
          </a:prstGeom>
          <a:noFill/>
        </p:spPr>
        <p:txBody>
          <a:bodyPr wrap="square">
            <a:spAutoFit/>
          </a:bodyPr>
          <a:lstStyle/>
          <a:p>
            <a:pPr algn="l"/>
            <a:r>
              <a:rPr sz="1300" b="0" i="0">
                <a:solidFill>
                  <a:srgbClr val="333333"/>
                </a:solidFill>
              </a:rPr>
              <a:t>  ►  XGBoost &amp; Random Forest trained on historical SAR-labeled datasets</a:t>
            </a:r>
          </a:p>
        </p:txBody>
      </p:sp>
      <p:sp>
        <p:nvSpPr>
          <p:cNvPr id="16" name="Rectangle 15"/>
          <p:cNvSpPr/>
          <p:nvPr/>
        </p:nvSpPr>
        <p:spPr>
          <a:xfrm>
            <a:off x="274320" y="397764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050792"/>
            <a:ext cx="11430000" cy="411480"/>
          </a:xfrm>
          <a:prstGeom prst="rect">
            <a:avLst/>
          </a:prstGeom>
          <a:noFill/>
        </p:spPr>
        <p:txBody>
          <a:bodyPr wrap="square">
            <a:spAutoFit/>
          </a:bodyPr>
          <a:lstStyle/>
          <a:p>
            <a:pPr algn="l"/>
            <a:r>
              <a:rPr sz="1300" b="1" i="0">
                <a:solidFill>
                  <a:srgbClr val="1A538B"/>
                </a:solidFill>
              </a:rPr>
              <a:t>D. Unsupervised Detection</a:t>
            </a:r>
          </a:p>
        </p:txBody>
      </p:sp>
      <p:sp>
        <p:nvSpPr>
          <p:cNvPr id="18" name="TextBox 17"/>
          <p:cNvSpPr txBox="1"/>
          <p:nvPr/>
        </p:nvSpPr>
        <p:spPr>
          <a:xfrm>
            <a:off x="320040" y="4462272"/>
            <a:ext cx="11430000" cy="384048"/>
          </a:xfrm>
          <a:prstGeom prst="rect">
            <a:avLst/>
          </a:prstGeom>
          <a:noFill/>
        </p:spPr>
        <p:txBody>
          <a:bodyPr wrap="square">
            <a:spAutoFit/>
          </a:bodyPr>
          <a:lstStyle/>
          <a:p>
            <a:pPr algn="l"/>
            <a:r>
              <a:rPr sz="1300" b="0" i="0">
                <a:solidFill>
                  <a:srgbClr val="333333"/>
                </a:solidFill>
              </a:rPr>
              <a:t>  ►  Isolation Forest, LSTM Autoencoder, One-Class SVM — detects novel/zero-day typologies</a:t>
            </a:r>
          </a:p>
        </p:txBody>
      </p:sp>
      <p:sp>
        <p:nvSpPr>
          <p:cNvPr id="19" name="Rectangle 18"/>
          <p:cNvSpPr/>
          <p:nvPr/>
        </p:nvSpPr>
        <p:spPr>
          <a:xfrm>
            <a:off x="274320" y="484632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919472"/>
            <a:ext cx="11430000" cy="411480"/>
          </a:xfrm>
          <a:prstGeom prst="rect">
            <a:avLst/>
          </a:prstGeom>
          <a:noFill/>
        </p:spPr>
        <p:txBody>
          <a:bodyPr wrap="square">
            <a:spAutoFit/>
          </a:bodyPr>
          <a:lstStyle/>
          <a:p>
            <a:pPr algn="l"/>
            <a:r>
              <a:rPr sz="1300" b="1" i="0">
                <a:solidFill>
                  <a:srgbClr val="1A538B"/>
                </a:solidFill>
              </a:rPr>
              <a:t>E. Graph Neural Network Module</a:t>
            </a:r>
          </a:p>
        </p:txBody>
      </p:sp>
      <p:sp>
        <p:nvSpPr>
          <p:cNvPr id="21" name="TextBox 20"/>
          <p:cNvSpPr txBox="1"/>
          <p:nvPr/>
        </p:nvSpPr>
        <p:spPr>
          <a:xfrm>
            <a:off x="320040" y="5330952"/>
            <a:ext cx="11430000" cy="384048"/>
          </a:xfrm>
          <a:prstGeom prst="rect">
            <a:avLst/>
          </a:prstGeom>
          <a:noFill/>
        </p:spPr>
        <p:txBody>
          <a:bodyPr wrap="square">
            <a:spAutoFit/>
          </a:bodyPr>
          <a:lstStyle/>
          <a:p>
            <a:pPr algn="l"/>
            <a:r>
              <a:rPr sz="1300" b="0" i="0">
                <a:solidFill>
                  <a:srgbClr val="333333"/>
                </a:solidFill>
              </a:rPr>
              <a:t>  ►  GraphSAGE + Louvain community detection + Betweenness centrality + Temporal edge analysis</a:t>
            </a:r>
          </a:p>
        </p:txBody>
      </p:sp>
      <p:sp>
        <p:nvSpPr>
          <p:cNvPr id="22" name="Rectangle 21"/>
          <p:cNvSpPr/>
          <p:nvPr/>
        </p:nvSpPr>
        <p:spPr>
          <a:xfrm>
            <a:off x="274320" y="571500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5788152"/>
            <a:ext cx="11430000" cy="411480"/>
          </a:xfrm>
          <a:prstGeom prst="rect">
            <a:avLst/>
          </a:prstGeom>
          <a:noFill/>
        </p:spPr>
        <p:txBody>
          <a:bodyPr wrap="square">
            <a:spAutoFit/>
          </a:bodyPr>
          <a:lstStyle/>
          <a:p>
            <a:pPr algn="l"/>
            <a:r>
              <a:rPr sz="1300" b="1" i="0">
                <a:solidFill>
                  <a:srgbClr val="1A538B"/>
                </a:solidFill>
              </a:rPr>
              <a:t>F. Risk Fusion &amp; SHAP</a:t>
            </a:r>
          </a:p>
        </p:txBody>
      </p:sp>
      <p:sp>
        <p:nvSpPr>
          <p:cNvPr id="24" name="TextBox 23"/>
          <p:cNvSpPr txBox="1"/>
          <p:nvPr/>
        </p:nvSpPr>
        <p:spPr>
          <a:xfrm>
            <a:off x="320040" y="6199632"/>
            <a:ext cx="11430000" cy="384048"/>
          </a:xfrm>
          <a:prstGeom prst="rect">
            <a:avLst/>
          </a:prstGeom>
          <a:noFill/>
        </p:spPr>
        <p:txBody>
          <a:bodyPr wrap="square">
            <a:spAutoFit/>
          </a:bodyPr>
          <a:lstStyle/>
          <a:p>
            <a:pPr algn="l"/>
            <a:r>
              <a:rPr sz="1300" b="0" i="0">
                <a:solidFill>
                  <a:srgbClr val="333333"/>
                </a:solidFill>
              </a:rPr>
              <a:t>  ►  Weighted ensemble voting → Dynamic Risk Score → SHAP rationale for every alert</a:t>
            </a:r>
          </a:p>
        </p:txBody>
      </p:sp>
      <p:sp>
        <p:nvSpPr>
          <p:cNvPr id="25" name="Rectangle 24"/>
          <p:cNvSpPr/>
          <p:nvPr/>
        </p:nvSpPr>
        <p:spPr>
          <a:xfrm>
            <a:off x="274320" y="6583680"/>
            <a:ext cx="11612880" cy="36576"/>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6656832"/>
            <a:ext cx="11430000" cy="411480"/>
          </a:xfrm>
          <a:prstGeom prst="rect">
            <a:avLst/>
          </a:prstGeom>
          <a:noFill/>
        </p:spPr>
        <p:txBody>
          <a:bodyPr wrap="square">
            <a:spAutoFit/>
          </a:bodyPr>
          <a:lstStyle/>
          <a:p>
            <a:pPr algn="l"/>
            <a:r>
              <a:rPr sz="1300" b="1" i="0">
                <a:solidFill>
                  <a:srgbClr val="1A538B"/>
                </a:solidFill>
              </a:rPr>
              <a:t>G. SAR Automation</a:t>
            </a:r>
          </a:p>
        </p:txBody>
      </p:sp>
      <p:sp>
        <p:nvSpPr>
          <p:cNvPr id="27" name="TextBox 26"/>
          <p:cNvSpPr txBox="1"/>
          <p:nvPr/>
        </p:nvSpPr>
        <p:spPr>
          <a:xfrm>
            <a:off x="320040" y="7068312"/>
            <a:ext cx="11430000" cy="384048"/>
          </a:xfrm>
          <a:prstGeom prst="rect">
            <a:avLst/>
          </a:prstGeom>
          <a:noFill/>
        </p:spPr>
        <p:txBody>
          <a:bodyPr wrap="square">
            <a:spAutoFit/>
          </a:bodyPr>
          <a:lstStyle/>
          <a:p>
            <a:pPr algn="l"/>
            <a:r>
              <a:rPr sz="1300" b="0" i="0">
                <a:solidFill>
                  <a:srgbClr val="333333"/>
                </a:solidFill>
              </a:rPr>
              <a:t>  ►  Pre-populates FinCEN/FCA templates; reduces report prep from 4 hours to 15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Expected Outcomes</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Target Performance Metrics</a:t>
            </a:r>
          </a:p>
        </p:txBody>
      </p:sp>
      <p:sp>
        <p:nvSpPr>
          <p:cNvPr id="7" name="Rectangle 6"/>
          <p:cNvSpPr/>
          <p:nvPr/>
        </p:nvSpPr>
        <p:spPr>
          <a:xfrm>
            <a:off x="274320" y="137160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71600"/>
            <a:ext cx="3657600" cy="7315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81328"/>
            <a:ext cx="3474720" cy="502920"/>
          </a:xfrm>
          <a:prstGeom prst="rect">
            <a:avLst/>
          </a:prstGeom>
          <a:noFill/>
        </p:spPr>
        <p:txBody>
          <a:bodyPr wrap="square">
            <a:spAutoFit/>
          </a:bodyPr>
          <a:lstStyle/>
          <a:p>
            <a:pPr algn="ctr"/>
            <a:r>
              <a:rPr sz="2200" b="1" i="0">
                <a:solidFill>
                  <a:srgbClr val="1E8A44"/>
                </a:solidFill>
              </a:rPr>
              <a:t>≥ 85%</a:t>
            </a:r>
          </a:p>
        </p:txBody>
      </p:sp>
      <p:sp>
        <p:nvSpPr>
          <p:cNvPr id="10" name="Rectangle 9"/>
          <p:cNvSpPr/>
          <p:nvPr/>
        </p:nvSpPr>
        <p:spPr>
          <a:xfrm>
            <a:off x="365760" y="196596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029967"/>
            <a:ext cx="3474720" cy="502920"/>
          </a:xfrm>
          <a:prstGeom prst="rect">
            <a:avLst/>
          </a:prstGeom>
          <a:noFill/>
        </p:spPr>
        <p:txBody>
          <a:bodyPr wrap="square">
            <a:spAutoFit/>
          </a:bodyPr>
          <a:lstStyle/>
          <a:p>
            <a:pPr algn="ctr"/>
            <a:r>
              <a:rPr sz="1200" b="0" i="0">
                <a:solidFill>
                  <a:srgbClr val="333333"/>
                </a:solidFill>
              </a:rPr>
              <a:t>Detection Rate (Recall)</a:t>
            </a:r>
          </a:p>
        </p:txBody>
      </p:sp>
      <p:sp>
        <p:nvSpPr>
          <p:cNvPr id="12" name="Rectangle 11"/>
          <p:cNvSpPr/>
          <p:nvPr/>
        </p:nvSpPr>
        <p:spPr>
          <a:xfrm>
            <a:off x="4206240" y="137160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371600"/>
            <a:ext cx="3657600" cy="7315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9" y="1481328"/>
            <a:ext cx="3474720" cy="502920"/>
          </a:xfrm>
          <a:prstGeom prst="rect">
            <a:avLst/>
          </a:prstGeom>
          <a:noFill/>
        </p:spPr>
        <p:txBody>
          <a:bodyPr wrap="square">
            <a:spAutoFit/>
          </a:bodyPr>
          <a:lstStyle/>
          <a:p>
            <a:pPr algn="ctr"/>
            <a:r>
              <a:rPr sz="2200" b="1" i="0">
                <a:solidFill>
                  <a:srgbClr val="1E8A44"/>
                </a:solidFill>
              </a:rPr>
              <a:t>40–60%</a:t>
            </a:r>
          </a:p>
        </p:txBody>
      </p:sp>
      <p:sp>
        <p:nvSpPr>
          <p:cNvPr id="15" name="Rectangle 14"/>
          <p:cNvSpPr/>
          <p:nvPr/>
        </p:nvSpPr>
        <p:spPr>
          <a:xfrm>
            <a:off x="4297679" y="196596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79" y="2029967"/>
            <a:ext cx="3474720" cy="502920"/>
          </a:xfrm>
          <a:prstGeom prst="rect">
            <a:avLst/>
          </a:prstGeom>
          <a:noFill/>
        </p:spPr>
        <p:txBody>
          <a:bodyPr wrap="square">
            <a:spAutoFit/>
          </a:bodyPr>
          <a:lstStyle/>
          <a:p>
            <a:pPr algn="ctr"/>
            <a:r>
              <a:rPr sz="1200" b="0" i="0">
                <a:solidFill>
                  <a:srgbClr val="333333"/>
                </a:solidFill>
              </a:rPr>
              <a:t>False Positive Reduction</a:t>
            </a:r>
          </a:p>
        </p:txBody>
      </p:sp>
      <p:sp>
        <p:nvSpPr>
          <p:cNvPr id="17" name="Rectangle 16"/>
          <p:cNvSpPr/>
          <p:nvPr/>
        </p:nvSpPr>
        <p:spPr>
          <a:xfrm>
            <a:off x="8138160" y="137160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371600"/>
            <a:ext cx="3657600" cy="7315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481328"/>
            <a:ext cx="3474720" cy="502920"/>
          </a:xfrm>
          <a:prstGeom prst="rect">
            <a:avLst/>
          </a:prstGeom>
          <a:noFill/>
        </p:spPr>
        <p:txBody>
          <a:bodyPr wrap="square">
            <a:spAutoFit/>
          </a:bodyPr>
          <a:lstStyle/>
          <a:p>
            <a:pPr algn="ctr"/>
            <a:r>
              <a:rPr sz="2200" b="1" i="0">
                <a:solidFill>
                  <a:srgbClr val="1E8A44"/>
                </a:solidFill>
              </a:rPr>
              <a:t>4 hrs → 15 min</a:t>
            </a:r>
          </a:p>
        </p:txBody>
      </p:sp>
      <p:sp>
        <p:nvSpPr>
          <p:cNvPr id="20" name="Rectangle 19"/>
          <p:cNvSpPr/>
          <p:nvPr/>
        </p:nvSpPr>
        <p:spPr>
          <a:xfrm>
            <a:off x="8229600" y="196596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029967"/>
            <a:ext cx="3474720" cy="502920"/>
          </a:xfrm>
          <a:prstGeom prst="rect">
            <a:avLst/>
          </a:prstGeom>
          <a:noFill/>
        </p:spPr>
        <p:txBody>
          <a:bodyPr wrap="square">
            <a:spAutoFit/>
          </a:bodyPr>
          <a:lstStyle/>
          <a:p>
            <a:pPr algn="ctr"/>
            <a:r>
              <a:rPr sz="1200" b="0" i="0">
                <a:solidFill>
                  <a:srgbClr val="333333"/>
                </a:solidFill>
              </a:rPr>
              <a:t>SAR Preparation Time</a:t>
            </a:r>
          </a:p>
        </p:txBody>
      </p:sp>
      <p:sp>
        <p:nvSpPr>
          <p:cNvPr id="22" name="Rectangle 21"/>
          <p:cNvSpPr/>
          <p:nvPr/>
        </p:nvSpPr>
        <p:spPr>
          <a:xfrm>
            <a:off x="274320" y="283464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2834640"/>
            <a:ext cx="3657600" cy="7315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2944368"/>
            <a:ext cx="3474720" cy="502920"/>
          </a:xfrm>
          <a:prstGeom prst="rect">
            <a:avLst/>
          </a:prstGeom>
          <a:noFill/>
        </p:spPr>
        <p:txBody>
          <a:bodyPr wrap="square">
            <a:spAutoFit/>
          </a:bodyPr>
          <a:lstStyle/>
          <a:p>
            <a:pPr algn="ctr"/>
            <a:r>
              <a:rPr sz="2200" b="1" i="0">
                <a:solidFill>
                  <a:srgbClr val="1E8A44"/>
                </a:solidFill>
              </a:rPr>
              <a:t>≥ 70%</a:t>
            </a:r>
          </a:p>
        </p:txBody>
      </p:sp>
      <p:sp>
        <p:nvSpPr>
          <p:cNvPr id="25" name="Rectangle 24"/>
          <p:cNvSpPr/>
          <p:nvPr/>
        </p:nvSpPr>
        <p:spPr>
          <a:xfrm>
            <a:off x="365760" y="342900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3493008"/>
            <a:ext cx="3474720" cy="502920"/>
          </a:xfrm>
          <a:prstGeom prst="rect">
            <a:avLst/>
          </a:prstGeom>
          <a:noFill/>
        </p:spPr>
        <p:txBody>
          <a:bodyPr wrap="square">
            <a:spAutoFit/>
          </a:bodyPr>
          <a:lstStyle/>
          <a:p>
            <a:pPr algn="ctr"/>
            <a:r>
              <a:rPr sz="1200" b="0" i="0">
                <a:solidFill>
                  <a:srgbClr val="333333"/>
                </a:solidFill>
              </a:rPr>
              <a:t>Novel Typology Precision</a:t>
            </a:r>
          </a:p>
        </p:txBody>
      </p:sp>
      <p:sp>
        <p:nvSpPr>
          <p:cNvPr id="27" name="Rectangle 26"/>
          <p:cNvSpPr/>
          <p:nvPr/>
        </p:nvSpPr>
        <p:spPr>
          <a:xfrm>
            <a:off x="4206240" y="283464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06240" y="2834640"/>
            <a:ext cx="3657600" cy="73152"/>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79" y="2944368"/>
            <a:ext cx="3474720" cy="502920"/>
          </a:xfrm>
          <a:prstGeom prst="rect">
            <a:avLst/>
          </a:prstGeom>
          <a:noFill/>
        </p:spPr>
        <p:txBody>
          <a:bodyPr wrap="square">
            <a:spAutoFit/>
          </a:bodyPr>
          <a:lstStyle/>
          <a:p>
            <a:pPr algn="ctr"/>
            <a:r>
              <a:rPr sz="2200" b="1" i="0">
                <a:solidFill>
                  <a:srgbClr val="1A538B"/>
                </a:solidFill>
              </a:rPr>
              <a:t>FATF · AMLD6 · FinCEN</a:t>
            </a:r>
          </a:p>
        </p:txBody>
      </p:sp>
      <p:sp>
        <p:nvSpPr>
          <p:cNvPr id="30" name="Rectangle 29"/>
          <p:cNvSpPr/>
          <p:nvPr/>
        </p:nvSpPr>
        <p:spPr>
          <a:xfrm>
            <a:off x="4297679" y="342900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7679" y="3493008"/>
            <a:ext cx="3474720" cy="502920"/>
          </a:xfrm>
          <a:prstGeom prst="rect">
            <a:avLst/>
          </a:prstGeom>
          <a:noFill/>
        </p:spPr>
        <p:txBody>
          <a:bodyPr wrap="square">
            <a:spAutoFit/>
          </a:bodyPr>
          <a:lstStyle/>
          <a:p>
            <a:pPr algn="ctr"/>
            <a:r>
              <a:rPr sz="1200" b="0" i="0">
                <a:solidFill>
                  <a:srgbClr val="333333"/>
                </a:solidFill>
              </a:rPr>
              <a:t>Regulatory Coverage</a:t>
            </a:r>
          </a:p>
        </p:txBody>
      </p:sp>
      <p:sp>
        <p:nvSpPr>
          <p:cNvPr id="32" name="Rectangle 31"/>
          <p:cNvSpPr/>
          <p:nvPr/>
        </p:nvSpPr>
        <p:spPr>
          <a:xfrm>
            <a:off x="8138160" y="283464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60" y="2834640"/>
            <a:ext cx="3657600" cy="73152"/>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2944368"/>
            <a:ext cx="3474720" cy="502920"/>
          </a:xfrm>
          <a:prstGeom prst="rect">
            <a:avLst/>
          </a:prstGeom>
          <a:noFill/>
        </p:spPr>
        <p:txBody>
          <a:bodyPr wrap="square">
            <a:spAutoFit/>
          </a:bodyPr>
          <a:lstStyle/>
          <a:p>
            <a:pPr algn="ctr"/>
            <a:r>
              <a:rPr sz="2200" b="1" i="0">
                <a:solidFill>
                  <a:srgbClr val="1A538B"/>
                </a:solidFill>
              </a:rPr>
              <a:t>100% alerts with SHAP</a:t>
            </a:r>
          </a:p>
        </p:txBody>
      </p:sp>
      <p:sp>
        <p:nvSpPr>
          <p:cNvPr id="35" name="Rectangle 34"/>
          <p:cNvSpPr/>
          <p:nvPr/>
        </p:nvSpPr>
        <p:spPr>
          <a:xfrm>
            <a:off x="8229600" y="342900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3493008"/>
            <a:ext cx="3474720" cy="502920"/>
          </a:xfrm>
          <a:prstGeom prst="rect">
            <a:avLst/>
          </a:prstGeom>
          <a:noFill/>
        </p:spPr>
        <p:txBody>
          <a:bodyPr wrap="square">
            <a:spAutoFit/>
          </a:bodyPr>
          <a:lstStyle/>
          <a:p>
            <a:pPr algn="ctr"/>
            <a:r>
              <a:rPr sz="1200" b="0" i="0">
                <a:solidFill>
                  <a:srgbClr val="333333"/>
                </a:solidFill>
              </a:rPr>
              <a:t>Explainability</a:t>
            </a:r>
          </a:p>
        </p:txBody>
      </p:sp>
      <p:sp>
        <p:nvSpPr>
          <p:cNvPr id="37" name="Rectangle 36"/>
          <p:cNvSpPr/>
          <p:nvPr/>
        </p:nvSpPr>
        <p:spPr>
          <a:xfrm>
            <a:off x="274320" y="429768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4320" y="4297680"/>
            <a:ext cx="3657600" cy="73152"/>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4407408"/>
            <a:ext cx="3474720" cy="502920"/>
          </a:xfrm>
          <a:prstGeom prst="rect">
            <a:avLst/>
          </a:prstGeom>
          <a:noFill/>
        </p:spPr>
        <p:txBody>
          <a:bodyPr wrap="square">
            <a:spAutoFit/>
          </a:bodyPr>
          <a:lstStyle/>
          <a:p>
            <a:pPr algn="ctr"/>
            <a:r>
              <a:rPr sz="2200" b="1" i="0">
                <a:solidFill>
                  <a:srgbClr val="1A538B"/>
                </a:solidFill>
              </a:rPr>
              <a:t>1M+ txn/day · &lt;2s latency</a:t>
            </a:r>
          </a:p>
        </p:txBody>
      </p:sp>
      <p:sp>
        <p:nvSpPr>
          <p:cNvPr id="40" name="Rectangle 39"/>
          <p:cNvSpPr/>
          <p:nvPr/>
        </p:nvSpPr>
        <p:spPr>
          <a:xfrm>
            <a:off x="365760" y="489204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4956048"/>
            <a:ext cx="3474720" cy="502920"/>
          </a:xfrm>
          <a:prstGeom prst="rect">
            <a:avLst/>
          </a:prstGeom>
          <a:noFill/>
        </p:spPr>
        <p:txBody>
          <a:bodyPr wrap="square">
            <a:spAutoFit/>
          </a:bodyPr>
          <a:lstStyle/>
          <a:p>
            <a:pPr algn="ctr"/>
            <a:r>
              <a:rPr sz="1200" b="0" i="0">
                <a:solidFill>
                  <a:srgbClr val="333333"/>
                </a:solidFill>
              </a:rPr>
              <a:t>System Throughput</a:t>
            </a:r>
          </a:p>
        </p:txBody>
      </p:sp>
      <p:sp>
        <p:nvSpPr>
          <p:cNvPr id="42" name="Rectangle 41"/>
          <p:cNvSpPr/>
          <p:nvPr/>
        </p:nvSpPr>
        <p:spPr>
          <a:xfrm>
            <a:off x="4206240" y="429768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06240" y="4297680"/>
            <a:ext cx="3657600" cy="7315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97679" y="4407408"/>
            <a:ext cx="3474720" cy="502920"/>
          </a:xfrm>
          <a:prstGeom prst="rect">
            <a:avLst/>
          </a:prstGeom>
          <a:noFill/>
        </p:spPr>
        <p:txBody>
          <a:bodyPr wrap="square">
            <a:spAutoFit/>
          </a:bodyPr>
          <a:lstStyle/>
          <a:p>
            <a:pPr algn="ctr"/>
            <a:r>
              <a:rPr sz="2200" b="1" i="0">
                <a:solidFill>
                  <a:srgbClr val="1E8A44"/>
                </a:solidFill>
              </a:rPr>
              <a:t>≥ 80% accuracy</a:t>
            </a:r>
          </a:p>
        </p:txBody>
      </p:sp>
      <p:sp>
        <p:nvSpPr>
          <p:cNvPr id="45" name="Rectangle 44"/>
          <p:cNvSpPr/>
          <p:nvPr/>
        </p:nvSpPr>
        <p:spPr>
          <a:xfrm>
            <a:off x="4297679" y="489204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97679" y="4956048"/>
            <a:ext cx="3474720" cy="502920"/>
          </a:xfrm>
          <a:prstGeom prst="rect">
            <a:avLst/>
          </a:prstGeom>
          <a:noFill/>
        </p:spPr>
        <p:txBody>
          <a:bodyPr wrap="square">
            <a:spAutoFit/>
          </a:bodyPr>
          <a:lstStyle/>
          <a:p>
            <a:pPr algn="ctr"/>
            <a:r>
              <a:rPr sz="1200" b="0" i="0">
                <a:solidFill>
                  <a:srgbClr val="333333"/>
                </a:solidFill>
              </a:rPr>
              <a:t>GNN Broker Network Detection</a:t>
            </a:r>
          </a:p>
        </p:txBody>
      </p:sp>
      <p:sp>
        <p:nvSpPr>
          <p:cNvPr id="47" name="Rectangle 46"/>
          <p:cNvSpPr/>
          <p:nvPr/>
        </p:nvSpPr>
        <p:spPr>
          <a:xfrm>
            <a:off x="8138160" y="4297680"/>
            <a:ext cx="3657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138160" y="4297680"/>
            <a:ext cx="3657600" cy="7315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4407408"/>
            <a:ext cx="3474720" cy="502920"/>
          </a:xfrm>
          <a:prstGeom prst="rect">
            <a:avLst/>
          </a:prstGeom>
          <a:noFill/>
        </p:spPr>
        <p:txBody>
          <a:bodyPr wrap="square">
            <a:spAutoFit/>
          </a:bodyPr>
          <a:lstStyle/>
          <a:p>
            <a:pPr algn="ctr"/>
            <a:r>
              <a:rPr sz="2200" b="1" i="0">
                <a:solidFill>
                  <a:srgbClr val="1E8A44"/>
                </a:solidFill>
              </a:rPr>
              <a:t>~30% manual effort saved</a:t>
            </a:r>
          </a:p>
        </p:txBody>
      </p:sp>
      <p:sp>
        <p:nvSpPr>
          <p:cNvPr id="50" name="Rectangle 49"/>
          <p:cNvSpPr/>
          <p:nvPr/>
        </p:nvSpPr>
        <p:spPr>
          <a:xfrm>
            <a:off x="8229600" y="4892040"/>
            <a:ext cx="3474720" cy="182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4956048"/>
            <a:ext cx="3474720" cy="502920"/>
          </a:xfrm>
          <a:prstGeom prst="rect">
            <a:avLst/>
          </a:prstGeom>
          <a:noFill/>
        </p:spPr>
        <p:txBody>
          <a:bodyPr wrap="square">
            <a:spAutoFit/>
          </a:bodyPr>
          <a:lstStyle/>
          <a:p>
            <a:pPr algn="ctr"/>
            <a:r>
              <a:rPr sz="1200" b="0" i="0">
                <a:solidFill>
                  <a:srgbClr val="333333"/>
                </a:solidFill>
              </a:rPr>
              <a:t>Compliance Cost Reduction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Project Timeline</a:t>
            </a:r>
          </a:p>
        </p:txBody>
      </p:sp>
      <p:sp>
        <p:nvSpPr>
          <p:cNvPr id="6" name="TextBox 5"/>
          <p:cNvSpPr txBox="1"/>
          <p:nvPr/>
        </p:nvSpPr>
        <p:spPr>
          <a:xfrm>
            <a:off x="274320" y="685800"/>
            <a:ext cx="11430000" cy="411480"/>
          </a:xfrm>
          <a:prstGeom prst="rect">
            <a:avLst/>
          </a:prstGeom>
          <a:noFill/>
        </p:spPr>
        <p:txBody>
          <a:bodyPr wrap="square">
            <a:spAutoFit/>
          </a:bodyPr>
          <a:lstStyle/>
          <a:p>
            <a:pPr algn="l"/>
            <a:r>
              <a:rPr sz="1400" b="0" i="0">
                <a:solidFill>
                  <a:srgbClr val="F0A500"/>
                </a:solidFill>
              </a:rPr>
              <a:t>15-Month Research Roadmap</a:t>
            </a:r>
          </a:p>
        </p:txBody>
      </p:sp>
      <p:sp>
        <p:nvSpPr>
          <p:cNvPr id="7" name="Rectangle 6"/>
          <p:cNvSpPr/>
          <p:nvPr/>
        </p:nvSpPr>
        <p:spPr>
          <a:xfrm>
            <a:off x="347472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371600"/>
            <a:ext cx="365760" cy="274320"/>
          </a:xfrm>
          <a:prstGeom prst="rect">
            <a:avLst/>
          </a:prstGeom>
          <a:noFill/>
        </p:spPr>
        <p:txBody>
          <a:bodyPr wrap="square">
            <a:spAutoFit/>
          </a:bodyPr>
          <a:lstStyle/>
          <a:p>
            <a:pPr algn="ctr"/>
            <a:r>
              <a:rPr sz="1000" b="0" i="0">
                <a:solidFill>
                  <a:srgbClr val="333333"/>
                </a:solidFill>
              </a:rPr>
              <a:t>1</a:t>
            </a:r>
          </a:p>
        </p:txBody>
      </p:sp>
      <p:sp>
        <p:nvSpPr>
          <p:cNvPr id="9" name="Rectangle 8"/>
          <p:cNvSpPr/>
          <p:nvPr/>
        </p:nvSpPr>
        <p:spPr>
          <a:xfrm>
            <a:off x="4023359"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1371600"/>
            <a:ext cx="365760" cy="274320"/>
          </a:xfrm>
          <a:prstGeom prst="rect">
            <a:avLst/>
          </a:prstGeom>
          <a:noFill/>
        </p:spPr>
        <p:txBody>
          <a:bodyPr wrap="square">
            <a:spAutoFit/>
          </a:bodyPr>
          <a:lstStyle/>
          <a:p>
            <a:pPr algn="ctr"/>
            <a:r>
              <a:rPr sz="1000" b="0" i="0">
                <a:solidFill>
                  <a:srgbClr val="333333"/>
                </a:solidFill>
              </a:rPr>
              <a:t>2</a:t>
            </a:r>
          </a:p>
        </p:txBody>
      </p:sp>
      <p:sp>
        <p:nvSpPr>
          <p:cNvPr id="11" name="Rectangle 10"/>
          <p:cNvSpPr/>
          <p:nvPr/>
        </p:nvSpPr>
        <p:spPr>
          <a:xfrm>
            <a:off x="457200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371600"/>
            <a:ext cx="365760" cy="274320"/>
          </a:xfrm>
          <a:prstGeom prst="rect">
            <a:avLst/>
          </a:prstGeom>
          <a:noFill/>
        </p:spPr>
        <p:txBody>
          <a:bodyPr wrap="square">
            <a:spAutoFit/>
          </a:bodyPr>
          <a:lstStyle/>
          <a:p>
            <a:pPr algn="ctr"/>
            <a:r>
              <a:rPr sz="1000" b="0" i="0">
                <a:solidFill>
                  <a:srgbClr val="333333"/>
                </a:solidFill>
              </a:rPr>
              <a:t>3</a:t>
            </a:r>
          </a:p>
        </p:txBody>
      </p:sp>
      <p:sp>
        <p:nvSpPr>
          <p:cNvPr id="13" name="Rectangle 12"/>
          <p:cNvSpPr/>
          <p:nvPr/>
        </p:nvSpPr>
        <p:spPr>
          <a:xfrm>
            <a:off x="512064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371600"/>
            <a:ext cx="365760" cy="274320"/>
          </a:xfrm>
          <a:prstGeom prst="rect">
            <a:avLst/>
          </a:prstGeom>
          <a:noFill/>
        </p:spPr>
        <p:txBody>
          <a:bodyPr wrap="square">
            <a:spAutoFit/>
          </a:bodyPr>
          <a:lstStyle/>
          <a:p>
            <a:pPr algn="ctr"/>
            <a:r>
              <a:rPr sz="1000" b="0" i="0">
                <a:solidFill>
                  <a:srgbClr val="333333"/>
                </a:solidFill>
              </a:rPr>
              <a:t>4</a:t>
            </a:r>
          </a:p>
        </p:txBody>
      </p:sp>
      <p:sp>
        <p:nvSpPr>
          <p:cNvPr id="15" name="Rectangle 14"/>
          <p:cNvSpPr/>
          <p:nvPr/>
        </p:nvSpPr>
        <p:spPr>
          <a:xfrm>
            <a:off x="5669279"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371600"/>
            <a:ext cx="365760" cy="274320"/>
          </a:xfrm>
          <a:prstGeom prst="rect">
            <a:avLst/>
          </a:prstGeom>
          <a:noFill/>
        </p:spPr>
        <p:txBody>
          <a:bodyPr wrap="square">
            <a:spAutoFit/>
          </a:bodyPr>
          <a:lstStyle/>
          <a:p>
            <a:pPr algn="ctr"/>
            <a:r>
              <a:rPr sz="1000" b="0" i="0">
                <a:solidFill>
                  <a:srgbClr val="333333"/>
                </a:solidFill>
              </a:rPr>
              <a:t>5</a:t>
            </a:r>
          </a:p>
        </p:txBody>
      </p:sp>
      <p:sp>
        <p:nvSpPr>
          <p:cNvPr id="17" name="Rectangle 16"/>
          <p:cNvSpPr/>
          <p:nvPr/>
        </p:nvSpPr>
        <p:spPr>
          <a:xfrm>
            <a:off x="621792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1371600"/>
            <a:ext cx="365760" cy="274320"/>
          </a:xfrm>
          <a:prstGeom prst="rect">
            <a:avLst/>
          </a:prstGeom>
          <a:noFill/>
        </p:spPr>
        <p:txBody>
          <a:bodyPr wrap="square">
            <a:spAutoFit/>
          </a:bodyPr>
          <a:lstStyle/>
          <a:p>
            <a:pPr algn="ctr"/>
            <a:r>
              <a:rPr sz="1000" b="0" i="0">
                <a:solidFill>
                  <a:srgbClr val="333333"/>
                </a:solidFill>
              </a:rPr>
              <a:t>6</a:t>
            </a:r>
          </a:p>
        </p:txBody>
      </p:sp>
      <p:sp>
        <p:nvSpPr>
          <p:cNvPr id="19" name="Rectangle 18"/>
          <p:cNvSpPr/>
          <p:nvPr/>
        </p:nvSpPr>
        <p:spPr>
          <a:xfrm>
            <a:off x="6766559"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371600"/>
            <a:ext cx="365760" cy="274320"/>
          </a:xfrm>
          <a:prstGeom prst="rect">
            <a:avLst/>
          </a:prstGeom>
          <a:noFill/>
        </p:spPr>
        <p:txBody>
          <a:bodyPr wrap="square">
            <a:spAutoFit/>
          </a:bodyPr>
          <a:lstStyle/>
          <a:p>
            <a:pPr algn="ctr"/>
            <a:r>
              <a:rPr sz="1000" b="0" i="0">
                <a:solidFill>
                  <a:srgbClr val="333333"/>
                </a:solidFill>
              </a:rPr>
              <a:t>7</a:t>
            </a:r>
          </a:p>
        </p:txBody>
      </p:sp>
      <p:sp>
        <p:nvSpPr>
          <p:cNvPr id="21" name="Rectangle 20"/>
          <p:cNvSpPr/>
          <p:nvPr/>
        </p:nvSpPr>
        <p:spPr>
          <a:xfrm>
            <a:off x="731520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0" y="1371600"/>
            <a:ext cx="365760" cy="274320"/>
          </a:xfrm>
          <a:prstGeom prst="rect">
            <a:avLst/>
          </a:prstGeom>
          <a:noFill/>
        </p:spPr>
        <p:txBody>
          <a:bodyPr wrap="square">
            <a:spAutoFit/>
          </a:bodyPr>
          <a:lstStyle/>
          <a:p>
            <a:pPr algn="ctr"/>
            <a:r>
              <a:rPr sz="1000" b="0" i="0">
                <a:solidFill>
                  <a:srgbClr val="333333"/>
                </a:solidFill>
              </a:rPr>
              <a:t>8</a:t>
            </a:r>
          </a:p>
        </p:txBody>
      </p:sp>
      <p:sp>
        <p:nvSpPr>
          <p:cNvPr id="23" name="Rectangle 22"/>
          <p:cNvSpPr/>
          <p:nvPr/>
        </p:nvSpPr>
        <p:spPr>
          <a:xfrm>
            <a:off x="786384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1371600"/>
            <a:ext cx="365760" cy="274320"/>
          </a:xfrm>
          <a:prstGeom prst="rect">
            <a:avLst/>
          </a:prstGeom>
          <a:noFill/>
        </p:spPr>
        <p:txBody>
          <a:bodyPr wrap="square">
            <a:spAutoFit/>
          </a:bodyPr>
          <a:lstStyle/>
          <a:p>
            <a:pPr algn="ctr"/>
            <a:r>
              <a:rPr sz="1000" b="0" i="0">
                <a:solidFill>
                  <a:srgbClr val="333333"/>
                </a:solidFill>
              </a:rPr>
              <a:t>9</a:t>
            </a:r>
          </a:p>
        </p:txBody>
      </p:sp>
      <p:sp>
        <p:nvSpPr>
          <p:cNvPr id="25" name="Rectangle 24"/>
          <p:cNvSpPr/>
          <p:nvPr/>
        </p:nvSpPr>
        <p:spPr>
          <a:xfrm>
            <a:off x="841248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1371600"/>
            <a:ext cx="365760" cy="274320"/>
          </a:xfrm>
          <a:prstGeom prst="rect">
            <a:avLst/>
          </a:prstGeom>
          <a:noFill/>
        </p:spPr>
        <p:txBody>
          <a:bodyPr wrap="square">
            <a:spAutoFit/>
          </a:bodyPr>
          <a:lstStyle/>
          <a:p>
            <a:pPr algn="ctr"/>
            <a:r>
              <a:rPr sz="1000" b="0" i="0">
                <a:solidFill>
                  <a:srgbClr val="333333"/>
                </a:solidFill>
              </a:rPr>
              <a:t>10</a:t>
            </a:r>
          </a:p>
        </p:txBody>
      </p:sp>
      <p:sp>
        <p:nvSpPr>
          <p:cNvPr id="27" name="Rectangle 26"/>
          <p:cNvSpPr/>
          <p:nvPr/>
        </p:nvSpPr>
        <p:spPr>
          <a:xfrm>
            <a:off x="896112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0" y="1371600"/>
            <a:ext cx="365760" cy="274320"/>
          </a:xfrm>
          <a:prstGeom prst="rect">
            <a:avLst/>
          </a:prstGeom>
          <a:noFill/>
        </p:spPr>
        <p:txBody>
          <a:bodyPr wrap="square">
            <a:spAutoFit/>
          </a:bodyPr>
          <a:lstStyle/>
          <a:p>
            <a:pPr algn="ctr"/>
            <a:r>
              <a:rPr sz="1000" b="0" i="0">
                <a:solidFill>
                  <a:srgbClr val="333333"/>
                </a:solidFill>
              </a:rPr>
              <a:t>11</a:t>
            </a:r>
          </a:p>
        </p:txBody>
      </p:sp>
      <p:sp>
        <p:nvSpPr>
          <p:cNvPr id="29" name="Rectangle 28"/>
          <p:cNvSpPr/>
          <p:nvPr/>
        </p:nvSpPr>
        <p:spPr>
          <a:xfrm>
            <a:off x="9509759"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19" y="1371600"/>
            <a:ext cx="365760" cy="274320"/>
          </a:xfrm>
          <a:prstGeom prst="rect">
            <a:avLst/>
          </a:prstGeom>
          <a:noFill/>
        </p:spPr>
        <p:txBody>
          <a:bodyPr wrap="square">
            <a:spAutoFit/>
          </a:bodyPr>
          <a:lstStyle/>
          <a:p>
            <a:pPr algn="ctr"/>
            <a:r>
              <a:rPr sz="1000" b="0" i="0">
                <a:solidFill>
                  <a:srgbClr val="333333"/>
                </a:solidFill>
              </a:rPr>
              <a:t>12</a:t>
            </a:r>
          </a:p>
        </p:txBody>
      </p:sp>
      <p:sp>
        <p:nvSpPr>
          <p:cNvPr id="31" name="Rectangle 30"/>
          <p:cNvSpPr/>
          <p:nvPr/>
        </p:nvSpPr>
        <p:spPr>
          <a:xfrm>
            <a:off x="1005840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66960" y="1371600"/>
            <a:ext cx="365760" cy="274320"/>
          </a:xfrm>
          <a:prstGeom prst="rect">
            <a:avLst/>
          </a:prstGeom>
          <a:noFill/>
        </p:spPr>
        <p:txBody>
          <a:bodyPr wrap="square">
            <a:spAutoFit/>
          </a:bodyPr>
          <a:lstStyle/>
          <a:p>
            <a:pPr algn="ctr"/>
            <a:r>
              <a:rPr sz="1000" b="0" i="0">
                <a:solidFill>
                  <a:srgbClr val="333333"/>
                </a:solidFill>
              </a:rPr>
              <a:t>13</a:t>
            </a:r>
          </a:p>
        </p:txBody>
      </p:sp>
      <p:sp>
        <p:nvSpPr>
          <p:cNvPr id="33" name="Rectangle 32"/>
          <p:cNvSpPr/>
          <p:nvPr/>
        </p:nvSpPr>
        <p:spPr>
          <a:xfrm>
            <a:off x="1060704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0" y="1371600"/>
            <a:ext cx="365760" cy="274320"/>
          </a:xfrm>
          <a:prstGeom prst="rect">
            <a:avLst/>
          </a:prstGeom>
          <a:noFill/>
        </p:spPr>
        <p:txBody>
          <a:bodyPr wrap="square">
            <a:spAutoFit/>
          </a:bodyPr>
          <a:lstStyle/>
          <a:p>
            <a:pPr algn="ctr"/>
            <a:r>
              <a:rPr sz="1000" b="0" i="0">
                <a:solidFill>
                  <a:srgbClr val="333333"/>
                </a:solidFill>
              </a:rPr>
              <a:t>14</a:t>
            </a:r>
          </a:p>
        </p:txBody>
      </p:sp>
      <p:sp>
        <p:nvSpPr>
          <p:cNvPr id="35" name="Rectangle 34"/>
          <p:cNvSpPr/>
          <p:nvPr/>
        </p:nvSpPr>
        <p:spPr>
          <a:xfrm>
            <a:off x="11155680" y="1371600"/>
            <a:ext cx="18288"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64240" y="1371600"/>
            <a:ext cx="365760" cy="274320"/>
          </a:xfrm>
          <a:prstGeom prst="rect">
            <a:avLst/>
          </a:prstGeom>
          <a:noFill/>
        </p:spPr>
        <p:txBody>
          <a:bodyPr wrap="square">
            <a:spAutoFit/>
          </a:bodyPr>
          <a:lstStyle/>
          <a:p>
            <a:pPr algn="ctr"/>
            <a:r>
              <a:rPr sz="1000" b="0" i="0">
                <a:solidFill>
                  <a:srgbClr val="333333"/>
                </a:solidFill>
              </a:rPr>
              <a:t>15</a:t>
            </a:r>
          </a:p>
        </p:txBody>
      </p:sp>
      <p:sp>
        <p:nvSpPr>
          <p:cNvPr id="37" name="TextBox 36"/>
          <p:cNvSpPr txBox="1"/>
          <p:nvPr/>
        </p:nvSpPr>
        <p:spPr>
          <a:xfrm>
            <a:off x="137160" y="1847088"/>
            <a:ext cx="1005840" cy="365760"/>
          </a:xfrm>
          <a:prstGeom prst="rect">
            <a:avLst/>
          </a:prstGeom>
          <a:noFill/>
        </p:spPr>
        <p:txBody>
          <a:bodyPr wrap="square">
            <a:spAutoFit/>
          </a:bodyPr>
          <a:lstStyle/>
          <a:p>
            <a:pPr algn="l"/>
            <a:r>
              <a:rPr sz="1100" b="1" i="0">
                <a:solidFill>
                  <a:srgbClr val="0D2B55"/>
                </a:solidFill>
              </a:rPr>
              <a:t>Phase 1</a:t>
            </a:r>
          </a:p>
        </p:txBody>
      </p:sp>
      <p:sp>
        <p:nvSpPr>
          <p:cNvPr id="38" name="TextBox 37"/>
          <p:cNvSpPr txBox="1"/>
          <p:nvPr/>
        </p:nvSpPr>
        <p:spPr>
          <a:xfrm>
            <a:off x="1188720" y="1847088"/>
            <a:ext cx="2103120" cy="365760"/>
          </a:xfrm>
          <a:prstGeom prst="rect">
            <a:avLst/>
          </a:prstGeom>
          <a:noFill/>
        </p:spPr>
        <p:txBody>
          <a:bodyPr wrap="square">
            <a:spAutoFit/>
          </a:bodyPr>
          <a:lstStyle/>
          <a:p>
            <a:pPr algn="l"/>
            <a:r>
              <a:rPr sz="1000" b="0" i="0">
                <a:solidFill>
                  <a:srgbClr val="333333"/>
                </a:solidFill>
              </a:rPr>
              <a:t>Months 1–2</a:t>
            </a:r>
          </a:p>
        </p:txBody>
      </p:sp>
      <p:sp>
        <p:nvSpPr>
          <p:cNvPr id="39" name="Rectangle 38"/>
          <p:cNvSpPr/>
          <p:nvPr/>
        </p:nvSpPr>
        <p:spPr>
          <a:xfrm>
            <a:off x="3474720" y="1810512"/>
            <a:ext cx="1051560" cy="4114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66160" y="1856231"/>
            <a:ext cx="868680" cy="347472"/>
          </a:xfrm>
          <a:prstGeom prst="rect">
            <a:avLst/>
          </a:prstGeom>
          <a:noFill/>
        </p:spPr>
        <p:txBody>
          <a:bodyPr wrap="square">
            <a:spAutoFit/>
          </a:bodyPr>
          <a:lstStyle/>
          <a:p>
            <a:pPr algn="l"/>
            <a:r>
              <a:rPr sz="1000" b="1" i="0">
                <a:solidFill>
                  <a:srgbClr val="FFFFFF"/>
                </a:solidFill>
              </a:rPr>
              <a:t>Requirements &amp; Literature Review</a:t>
            </a:r>
          </a:p>
        </p:txBody>
      </p:sp>
      <p:sp>
        <p:nvSpPr>
          <p:cNvPr id="41" name="TextBox 40"/>
          <p:cNvSpPr txBox="1"/>
          <p:nvPr/>
        </p:nvSpPr>
        <p:spPr>
          <a:xfrm>
            <a:off x="137160" y="2468880"/>
            <a:ext cx="1005840" cy="365760"/>
          </a:xfrm>
          <a:prstGeom prst="rect">
            <a:avLst/>
          </a:prstGeom>
          <a:noFill/>
        </p:spPr>
        <p:txBody>
          <a:bodyPr wrap="square">
            <a:spAutoFit/>
          </a:bodyPr>
          <a:lstStyle/>
          <a:p>
            <a:pPr algn="l"/>
            <a:r>
              <a:rPr sz="1100" b="1" i="0">
                <a:solidFill>
                  <a:srgbClr val="0D2B55"/>
                </a:solidFill>
              </a:rPr>
              <a:t>Phase 2</a:t>
            </a:r>
          </a:p>
        </p:txBody>
      </p:sp>
      <p:sp>
        <p:nvSpPr>
          <p:cNvPr id="42" name="TextBox 41"/>
          <p:cNvSpPr txBox="1"/>
          <p:nvPr/>
        </p:nvSpPr>
        <p:spPr>
          <a:xfrm>
            <a:off x="1188720" y="2468880"/>
            <a:ext cx="2103120" cy="365760"/>
          </a:xfrm>
          <a:prstGeom prst="rect">
            <a:avLst/>
          </a:prstGeom>
          <a:noFill/>
        </p:spPr>
        <p:txBody>
          <a:bodyPr wrap="square">
            <a:spAutoFit/>
          </a:bodyPr>
          <a:lstStyle/>
          <a:p>
            <a:pPr algn="l"/>
            <a:r>
              <a:rPr sz="1000" b="0" i="0">
                <a:solidFill>
                  <a:srgbClr val="333333"/>
                </a:solidFill>
              </a:rPr>
              <a:t>Months 2–4</a:t>
            </a:r>
          </a:p>
        </p:txBody>
      </p:sp>
      <p:sp>
        <p:nvSpPr>
          <p:cNvPr id="43" name="Rectangle 42"/>
          <p:cNvSpPr/>
          <p:nvPr/>
        </p:nvSpPr>
        <p:spPr>
          <a:xfrm>
            <a:off x="4023359" y="2432304"/>
            <a:ext cx="1600199" cy="41148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9" y="2478024"/>
            <a:ext cx="1417319" cy="347472"/>
          </a:xfrm>
          <a:prstGeom prst="rect">
            <a:avLst/>
          </a:prstGeom>
          <a:noFill/>
        </p:spPr>
        <p:txBody>
          <a:bodyPr wrap="square">
            <a:spAutoFit/>
          </a:bodyPr>
          <a:lstStyle/>
          <a:p>
            <a:pPr algn="l"/>
            <a:r>
              <a:rPr sz="1000" b="1" i="0">
                <a:solidFill>
                  <a:srgbClr val="FFFFFF"/>
                </a:solidFill>
              </a:rPr>
              <a:t>Data Collection &amp; Preparation</a:t>
            </a:r>
          </a:p>
        </p:txBody>
      </p:sp>
      <p:sp>
        <p:nvSpPr>
          <p:cNvPr id="45" name="TextBox 44"/>
          <p:cNvSpPr txBox="1"/>
          <p:nvPr/>
        </p:nvSpPr>
        <p:spPr>
          <a:xfrm>
            <a:off x="137160" y="3090672"/>
            <a:ext cx="1005840" cy="365760"/>
          </a:xfrm>
          <a:prstGeom prst="rect">
            <a:avLst/>
          </a:prstGeom>
          <a:noFill/>
        </p:spPr>
        <p:txBody>
          <a:bodyPr wrap="square">
            <a:spAutoFit/>
          </a:bodyPr>
          <a:lstStyle/>
          <a:p>
            <a:pPr algn="l"/>
            <a:r>
              <a:rPr sz="1100" b="1" i="0">
                <a:solidFill>
                  <a:srgbClr val="0D2B55"/>
                </a:solidFill>
              </a:rPr>
              <a:t>Phase 3</a:t>
            </a:r>
          </a:p>
        </p:txBody>
      </p:sp>
      <p:sp>
        <p:nvSpPr>
          <p:cNvPr id="46" name="TextBox 45"/>
          <p:cNvSpPr txBox="1"/>
          <p:nvPr/>
        </p:nvSpPr>
        <p:spPr>
          <a:xfrm>
            <a:off x="1188720" y="3090672"/>
            <a:ext cx="2103120" cy="365760"/>
          </a:xfrm>
          <a:prstGeom prst="rect">
            <a:avLst/>
          </a:prstGeom>
          <a:noFill/>
        </p:spPr>
        <p:txBody>
          <a:bodyPr wrap="square">
            <a:spAutoFit/>
          </a:bodyPr>
          <a:lstStyle/>
          <a:p>
            <a:pPr algn="l"/>
            <a:r>
              <a:rPr sz="1000" b="0" i="0">
                <a:solidFill>
                  <a:srgbClr val="333333"/>
                </a:solidFill>
              </a:rPr>
              <a:t>Months 4–7</a:t>
            </a:r>
          </a:p>
        </p:txBody>
      </p:sp>
      <p:sp>
        <p:nvSpPr>
          <p:cNvPr id="47" name="Rectangle 46"/>
          <p:cNvSpPr/>
          <p:nvPr/>
        </p:nvSpPr>
        <p:spPr>
          <a:xfrm>
            <a:off x="5120640" y="3054096"/>
            <a:ext cx="2148840" cy="411480"/>
          </a:xfrm>
          <a:prstGeom prst="rect">
            <a:avLst/>
          </a:prstGeom>
          <a:solidFill>
            <a:srgbClr val="1E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12079" y="3099815"/>
            <a:ext cx="1965960" cy="347472"/>
          </a:xfrm>
          <a:prstGeom prst="rect">
            <a:avLst/>
          </a:prstGeom>
          <a:noFill/>
        </p:spPr>
        <p:txBody>
          <a:bodyPr wrap="square">
            <a:spAutoFit/>
          </a:bodyPr>
          <a:lstStyle/>
          <a:p>
            <a:pPr algn="l"/>
            <a:r>
              <a:rPr sz="1000" b="1" i="0">
                <a:solidFill>
                  <a:srgbClr val="FFFFFF"/>
                </a:solidFill>
              </a:rPr>
              <a:t>Model Development</a:t>
            </a:r>
          </a:p>
        </p:txBody>
      </p:sp>
      <p:sp>
        <p:nvSpPr>
          <p:cNvPr id="49" name="TextBox 48"/>
          <p:cNvSpPr txBox="1"/>
          <p:nvPr/>
        </p:nvSpPr>
        <p:spPr>
          <a:xfrm>
            <a:off x="137160" y="3712463"/>
            <a:ext cx="1005840" cy="365760"/>
          </a:xfrm>
          <a:prstGeom prst="rect">
            <a:avLst/>
          </a:prstGeom>
          <a:noFill/>
        </p:spPr>
        <p:txBody>
          <a:bodyPr wrap="square">
            <a:spAutoFit/>
          </a:bodyPr>
          <a:lstStyle/>
          <a:p>
            <a:pPr algn="l"/>
            <a:r>
              <a:rPr sz="1100" b="1" i="0">
                <a:solidFill>
                  <a:srgbClr val="0D2B55"/>
                </a:solidFill>
              </a:rPr>
              <a:t>Phase 4</a:t>
            </a:r>
          </a:p>
        </p:txBody>
      </p:sp>
      <p:sp>
        <p:nvSpPr>
          <p:cNvPr id="50" name="TextBox 49"/>
          <p:cNvSpPr txBox="1"/>
          <p:nvPr/>
        </p:nvSpPr>
        <p:spPr>
          <a:xfrm>
            <a:off x="1188720" y="3712463"/>
            <a:ext cx="2103120" cy="365760"/>
          </a:xfrm>
          <a:prstGeom prst="rect">
            <a:avLst/>
          </a:prstGeom>
          <a:noFill/>
        </p:spPr>
        <p:txBody>
          <a:bodyPr wrap="square">
            <a:spAutoFit/>
          </a:bodyPr>
          <a:lstStyle/>
          <a:p>
            <a:pPr algn="l"/>
            <a:r>
              <a:rPr sz="1000" b="0" i="0">
                <a:solidFill>
                  <a:srgbClr val="333333"/>
                </a:solidFill>
              </a:rPr>
              <a:t>Months 7–9</a:t>
            </a:r>
          </a:p>
        </p:txBody>
      </p:sp>
      <p:sp>
        <p:nvSpPr>
          <p:cNvPr id="51" name="Rectangle 50"/>
          <p:cNvSpPr/>
          <p:nvPr/>
        </p:nvSpPr>
        <p:spPr>
          <a:xfrm>
            <a:off x="6766559" y="3675887"/>
            <a:ext cx="1600199" cy="411480"/>
          </a:xfrm>
          <a:prstGeom prst="rect">
            <a:avLst/>
          </a:prstGeom>
          <a:solidFill>
            <a:srgbClr val="1453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7999" y="3721608"/>
            <a:ext cx="1417319" cy="347472"/>
          </a:xfrm>
          <a:prstGeom prst="rect">
            <a:avLst/>
          </a:prstGeom>
          <a:noFill/>
        </p:spPr>
        <p:txBody>
          <a:bodyPr wrap="square">
            <a:spAutoFit/>
          </a:bodyPr>
          <a:lstStyle/>
          <a:p>
            <a:pPr algn="l"/>
            <a:r>
              <a:rPr sz="1000" b="1" i="0">
                <a:solidFill>
                  <a:srgbClr val="FFFFFF"/>
                </a:solidFill>
              </a:rPr>
              <a:t>System Integration</a:t>
            </a:r>
          </a:p>
        </p:txBody>
      </p:sp>
      <p:sp>
        <p:nvSpPr>
          <p:cNvPr id="53" name="TextBox 52"/>
          <p:cNvSpPr txBox="1"/>
          <p:nvPr/>
        </p:nvSpPr>
        <p:spPr>
          <a:xfrm>
            <a:off x="137160" y="4334256"/>
            <a:ext cx="1005840" cy="365760"/>
          </a:xfrm>
          <a:prstGeom prst="rect">
            <a:avLst/>
          </a:prstGeom>
          <a:noFill/>
        </p:spPr>
        <p:txBody>
          <a:bodyPr wrap="square">
            <a:spAutoFit/>
          </a:bodyPr>
          <a:lstStyle/>
          <a:p>
            <a:pPr algn="l"/>
            <a:r>
              <a:rPr sz="1100" b="1" i="0">
                <a:solidFill>
                  <a:srgbClr val="0D2B55"/>
                </a:solidFill>
              </a:rPr>
              <a:t>Phase 5</a:t>
            </a:r>
          </a:p>
        </p:txBody>
      </p:sp>
      <p:sp>
        <p:nvSpPr>
          <p:cNvPr id="54" name="TextBox 53"/>
          <p:cNvSpPr txBox="1"/>
          <p:nvPr/>
        </p:nvSpPr>
        <p:spPr>
          <a:xfrm>
            <a:off x="1188720" y="4334256"/>
            <a:ext cx="2103120" cy="365760"/>
          </a:xfrm>
          <a:prstGeom prst="rect">
            <a:avLst/>
          </a:prstGeom>
          <a:noFill/>
        </p:spPr>
        <p:txBody>
          <a:bodyPr wrap="square">
            <a:spAutoFit/>
          </a:bodyPr>
          <a:lstStyle/>
          <a:p>
            <a:pPr algn="l"/>
            <a:r>
              <a:rPr sz="1000" b="0" i="0">
                <a:solidFill>
                  <a:srgbClr val="333333"/>
                </a:solidFill>
              </a:rPr>
              <a:t>Months 9–11</a:t>
            </a:r>
          </a:p>
        </p:txBody>
      </p:sp>
      <p:sp>
        <p:nvSpPr>
          <p:cNvPr id="55" name="Rectangle 54"/>
          <p:cNvSpPr/>
          <p:nvPr/>
        </p:nvSpPr>
        <p:spPr>
          <a:xfrm>
            <a:off x="7863840" y="4297680"/>
            <a:ext cx="1600199" cy="411480"/>
          </a:xfrm>
          <a:prstGeom prst="rect">
            <a:avLst/>
          </a:prstGeom>
          <a:solidFill>
            <a:srgbClr val="0D4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55279" y="4343400"/>
            <a:ext cx="1417319" cy="347472"/>
          </a:xfrm>
          <a:prstGeom prst="rect">
            <a:avLst/>
          </a:prstGeom>
          <a:noFill/>
        </p:spPr>
        <p:txBody>
          <a:bodyPr wrap="square">
            <a:spAutoFit/>
          </a:bodyPr>
          <a:lstStyle/>
          <a:p>
            <a:pPr algn="l"/>
            <a:r>
              <a:rPr sz="1000" b="1" i="0">
                <a:solidFill>
                  <a:srgbClr val="FFFFFF"/>
                </a:solidFill>
              </a:rPr>
              <a:t>Testing &amp; Validation</a:t>
            </a:r>
          </a:p>
        </p:txBody>
      </p:sp>
      <p:sp>
        <p:nvSpPr>
          <p:cNvPr id="57" name="TextBox 56"/>
          <p:cNvSpPr txBox="1"/>
          <p:nvPr/>
        </p:nvSpPr>
        <p:spPr>
          <a:xfrm>
            <a:off x="137160" y="4956048"/>
            <a:ext cx="1005840" cy="365760"/>
          </a:xfrm>
          <a:prstGeom prst="rect">
            <a:avLst/>
          </a:prstGeom>
          <a:noFill/>
        </p:spPr>
        <p:txBody>
          <a:bodyPr wrap="square">
            <a:spAutoFit/>
          </a:bodyPr>
          <a:lstStyle/>
          <a:p>
            <a:pPr algn="l"/>
            <a:r>
              <a:rPr sz="1100" b="1" i="0">
                <a:solidFill>
                  <a:srgbClr val="0D2B55"/>
                </a:solidFill>
              </a:rPr>
              <a:t>Phase 6</a:t>
            </a:r>
          </a:p>
        </p:txBody>
      </p:sp>
      <p:sp>
        <p:nvSpPr>
          <p:cNvPr id="58" name="TextBox 57"/>
          <p:cNvSpPr txBox="1"/>
          <p:nvPr/>
        </p:nvSpPr>
        <p:spPr>
          <a:xfrm>
            <a:off x="1188720" y="4956048"/>
            <a:ext cx="2103120" cy="365760"/>
          </a:xfrm>
          <a:prstGeom prst="rect">
            <a:avLst/>
          </a:prstGeom>
          <a:noFill/>
        </p:spPr>
        <p:txBody>
          <a:bodyPr wrap="square">
            <a:spAutoFit/>
          </a:bodyPr>
          <a:lstStyle/>
          <a:p>
            <a:pPr algn="l"/>
            <a:r>
              <a:rPr sz="1000" b="0" i="0">
                <a:solidFill>
                  <a:srgbClr val="333333"/>
                </a:solidFill>
              </a:rPr>
              <a:t>Months 11–13</a:t>
            </a:r>
          </a:p>
        </p:txBody>
      </p:sp>
      <p:sp>
        <p:nvSpPr>
          <p:cNvPr id="59" name="Rectangle 58"/>
          <p:cNvSpPr/>
          <p:nvPr/>
        </p:nvSpPr>
        <p:spPr>
          <a:xfrm>
            <a:off x="8961120" y="4919472"/>
            <a:ext cx="1600199" cy="41148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52560" y="4965192"/>
            <a:ext cx="1417319" cy="347472"/>
          </a:xfrm>
          <a:prstGeom prst="rect">
            <a:avLst/>
          </a:prstGeom>
          <a:noFill/>
        </p:spPr>
        <p:txBody>
          <a:bodyPr wrap="square">
            <a:spAutoFit/>
          </a:bodyPr>
          <a:lstStyle/>
          <a:p>
            <a:pPr algn="l"/>
            <a:r>
              <a:rPr sz="1000" b="1" i="0">
                <a:solidFill>
                  <a:srgbClr val="FFFFFF"/>
                </a:solidFill>
              </a:rPr>
              <a:t>Pilot Deployment</a:t>
            </a:r>
          </a:p>
        </p:txBody>
      </p:sp>
      <p:sp>
        <p:nvSpPr>
          <p:cNvPr id="61" name="TextBox 60"/>
          <p:cNvSpPr txBox="1"/>
          <p:nvPr/>
        </p:nvSpPr>
        <p:spPr>
          <a:xfrm>
            <a:off x="137160" y="5577840"/>
            <a:ext cx="1005840" cy="365760"/>
          </a:xfrm>
          <a:prstGeom prst="rect">
            <a:avLst/>
          </a:prstGeom>
          <a:noFill/>
        </p:spPr>
        <p:txBody>
          <a:bodyPr wrap="square">
            <a:spAutoFit/>
          </a:bodyPr>
          <a:lstStyle/>
          <a:p>
            <a:pPr algn="l"/>
            <a:r>
              <a:rPr sz="1100" b="1" i="0">
                <a:solidFill>
                  <a:srgbClr val="0D2B55"/>
                </a:solidFill>
              </a:rPr>
              <a:t>Phase 7</a:t>
            </a:r>
          </a:p>
        </p:txBody>
      </p:sp>
      <p:sp>
        <p:nvSpPr>
          <p:cNvPr id="62" name="TextBox 61"/>
          <p:cNvSpPr txBox="1"/>
          <p:nvPr/>
        </p:nvSpPr>
        <p:spPr>
          <a:xfrm>
            <a:off x="1188720" y="5577840"/>
            <a:ext cx="2103120" cy="365760"/>
          </a:xfrm>
          <a:prstGeom prst="rect">
            <a:avLst/>
          </a:prstGeom>
          <a:noFill/>
        </p:spPr>
        <p:txBody>
          <a:bodyPr wrap="square">
            <a:spAutoFit/>
          </a:bodyPr>
          <a:lstStyle/>
          <a:p>
            <a:pPr algn="l"/>
            <a:r>
              <a:rPr sz="1000" b="0" i="0">
                <a:solidFill>
                  <a:srgbClr val="333333"/>
                </a:solidFill>
              </a:rPr>
              <a:t>Months 13–15</a:t>
            </a:r>
          </a:p>
        </p:txBody>
      </p:sp>
      <p:sp>
        <p:nvSpPr>
          <p:cNvPr id="63" name="Rectangle 62"/>
          <p:cNvSpPr/>
          <p:nvPr/>
        </p:nvSpPr>
        <p:spPr>
          <a:xfrm>
            <a:off x="10058400" y="5541264"/>
            <a:ext cx="1600199" cy="4114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149840" y="5586984"/>
            <a:ext cx="1417319" cy="347472"/>
          </a:xfrm>
          <a:prstGeom prst="rect">
            <a:avLst/>
          </a:prstGeom>
          <a:noFill/>
        </p:spPr>
        <p:txBody>
          <a:bodyPr wrap="square">
            <a:spAutoFit/>
          </a:bodyPr>
          <a:lstStyle/>
          <a:p>
            <a:pPr algn="l"/>
            <a:r>
              <a:rPr sz="1000" b="1" i="0">
                <a:solidFill>
                  <a:srgbClr val="0D2B55"/>
                </a:solidFill>
              </a:rPr>
              <a:t>Evaluation &amp; Publication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6400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61288"/>
            <a:ext cx="12188952" cy="569671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11430000" cy="914400"/>
          </a:xfrm>
          <a:prstGeom prst="rect">
            <a:avLst/>
          </a:prstGeom>
          <a:noFill/>
        </p:spPr>
        <p:txBody>
          <a:bodyPr wrap="square">
            <a:spAutoFit/>
          </a:bodyPr>
          <a:lstStyle/>
          <a:p>
            <a:pPr algn="l"/>
            <a:r>
              <a:rPr sz="2800" b="1" i="0">
                <a:solidFill>
                  <a:srgbClr val="FFFFFF"/>
                </a:solidFill>
              </a:rPr>
              <a:t>Conclusion &amp; Future Work</a:t>
            </a:r>
          </a:p>
        </p:txBody>
      </p:sp>
      <p:sp>
        <p:nvSpPr>
          <p:cNvPr id="6" name="Rectangle 5"/>
          <p:cNvSpPr/>
          <p:nvPr/>
        </p:nvSpPr>
        <p:spPr>
          <a:xfrm>
            <a:off x="274320" y="1325880"/>
            <a:ext cx="1161288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5029200" cy="411480"/>
          </a:xfrm>
          <a:prstGeom prst="rect">
            <a:avLst/>
          </a:prstGeom>
          <a:noFill/>
        </p:spPr>
        <p:txBody>
          <a:bodyPr wrap="square">
            <a:spAutoFit/>
          </a:bodyPr>
          <a:lstStyle/>
          <a:p>
            <a:pPr algn="l"/>
            <a:r>
              <a:rPr sz="1600" b="1" i="0">
                <a:solidFill>
                  <a:srgbClr val="0D2B55"/>
                </a:solidFill>
              </a:rPr>
              <a:t>Key Takeaways</a:t>
            </a:r>
          </a:p>
        </p:txBody>
      </p:sp>
      <p:sp>
        <p:nvSpPr>
          <p:cNvPr id="8" name="Rectangle 7"/>
          <p:cNvSpPr/>
          <p:nvPr/>
        </p:nvSpPr>
        <p:spPr>
          <a:xfrm>
            <a:off x="457200" y="1828800"/>
            <a:ext cx="109728" cy="27432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10512"/>
            <a:ext cx="5303520" cy="347472"/>
          </a:xfrm>
          <a:prstGeom prst="rect">
            <a:avLst/>
          </a:prstGeom>
          <a:noFill/>
        </p:spPr>
        <p:txBody>
          <a:bodyPr wrap="square">
            <a:spAutoFit/>
          </a:bodyPr>
          <a:lstStyle/>
          <a:p>
            <a:pPr algn="l"/>
            <a:r>
              <a:rPr sz="1300" b="0" i="0">
                <a:solidFill>
                  <a:srgbClr val="333333"/>
                </a:solidFill>
              </a:rPr>
              <a:t>Insurance is a significant and underutilized AML risk domain</a:t>
            </a:r>
          </a:p>
        </p:txBody>
      </p:sp>
      <p:sp>
        <p:nvSpPr>
          <p:cNvPr id="10" name="Rectangle 9"/>
          <p:cNvSpPr/>
          <p:nvPr/>
        </p:nvSpPr>
        <p:spPr>
          <a:xfrm>
            <a:off x="457200" y="2212848"/>
            <a:ext cx="109728" cy="27432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194560"/>
            <a:ext cx="5303520" cy="347472"/>
          </a:xfrm>
          <a:prstGeom prst="rect">
            <a:avLst/>
          </a:prstGeom>
          <a:noFill/>
        </p:spPr>
        <p:txBody>
          <a:bodyPr wrap="square">
            <a:spAutoFit/>
          </a:bodyPr>
          <a:lstStyle/>
          <a:p>
            <a:pPr algn="l"/>
            <a:r>
              <a:rPr sz="1300" b="0" i="0">
                <a:solidFill>
                  <a:srgbClr val="333333"/>
                </a:solidFill>
              </a:rPr>
              <a:t>Hybrid ML (supervised + unsupervised + GNN) outperforms rule-based approaches</a:t>
            </a:r>
          </a:p>
        </p:txBody>
      </p:sp>
      <p:sp>
        <p:nvSpPr>
          <p:cNvPr id="12" name="Rectangle 11"/>
          <p:cNvSpPr/>
          <p:nvPr/>
        </p:nvSpPr>
        <p:spPr>
          <a:xfrm>
            <a:off x="457200" y="2596896"/>
            <a:ext cx="109728" cy="27432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578608"/>
            <a:ext cx="5303520" cy="347472"/>
          </a:xfrm>
          <a:prstGeom prst="rect">
            <a:avLst/>
          </a:prstGeom>
          <a:noFill/>
        </p:spPr>
        <p:txBody>
          <a:bodyPr wrap="square">
            <a:spAutoFit/>
          </a:bodyPr>
          <a:lstStyle/>
          <a:p>
            <a:pPr algn="l"/>
            <a:r>
              <a:rPr sz="1300" b="0" i="0">
                <a:solidFill>
                  <a:srgbClr val="333333"/>
                </a:solidFill>
              </a:rPr>
              <a:t>Explainable AI (SHAP) bridges the gap between ML models and regulatory acceptance</a:t>
            </a:r>
          </a:p>
        </p:txBody>
      </p:sp>
      <p:sp>
        <p:nvSpPr>
          <p:cNvPr id="14" name="Rectangle 13"/>
          <p:cNvSpPr/>
          <p:nvPr/>
        </p:nvSpPr>
        <p:spPr>
          <a:xfrm>
            <a:off x="457200" y="2980944"/>
            <a:ext cx="109728" cy="27432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962656"/>
            <a:ext cx="5303520" cy="347472"/>
          </a:xfrm>
          <a:prstGeom prst="rect">
            <a:avLst/>
          </a:prstGeom>
          <a:noFill/>
        </p:spPr>
        <p:txBody>
          <a:bodyPr wrap="square">
            <a:spAutoFit/>
          </a:bodyPr>
          <a:lstStyle/>
          <a:p>
            <a:pPr algn="l"/>
            <a:r>
              <a:rPr sz="1300" b="0" i="0">
                <a:solidFill>
                  <a:srgbClr val="333333"/>
                </a:solidFill>
              </a:rPr>
              <a:t>Automated SAR generation dramatically reduces compliance operational burden</a:t>
            </a:r>
          </a:p>
        </p:txBody>
      </p:sp>
      <p:sp>
        <p:nvSpPr>
          <p:cNvPr id="16" name="TextBox 15"/>
          <p:cNvSpPr txBox="1"/>
          <p:nvPr/>
        </p:nvSpPr>
        <p:spPr>
          <a:xfrm>
            <a:off x="6583680" y="1371600"/>
            <a:ext cx="5212080" cy="411480"/>
          </a:xfrm>
          <a:prstGeom prst="rect">
            <a:avLst/>
          </a:prstGeom>
          <a:noFill/>
        </p:spPr>
        <p:txBody>
          <a:bodyPr wrap="square">
            <a:spAutoFit/>
          </a:bodyPr>
          <a:lstStyle/>
          <a:p>
            <a:pPr algn="l"/>
            <a:r>
              <a:rPr sz="1600" b="1" i="0">
                <a:solidFill>
                  <a:srgbClr val="0D2B55"/>
                </a:solidFill>
              </a:rPr>
              <a:t>Future Research Directions</a:t>
            </a:r>
          </a:p>
        </p:txBody>
      </p:sp>
      <p:sp>
        <p:nvSpPr>
          <p:cNvPr id="17" name="Rectangle 16"/>
          <p:cNvSpPr/>
          <p:nvPr/>
        </p:nvSpPr>
        <p:spPr>
          <a:xfrm>
            <a:off x="6583680" y="1828800"/>
            <a:ext cx="109728" cy="27432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1810512"/>
            <a:ext cx="5120640" cy="347472"/>
          </a:xfrm>
          <a:prstGeom prst="rect">
            <a:avLst/>
          </a:prstGeom>
          <a:noFill/>
        </p:spPr>
        <p:txBody>
          <a:bodyPr wrap="square">
            <a:spAutoFit/>
          </a:bodyPr>
          <a:lstStyle/>
          <a:p>
            <a:pPr algn="l"/>
            <a:r>
              <a:rPr sz="1300" b="0" i="0">
                <a:solidFill>
                  <a:srgbClr val="333333"/>
                </a:solidFill>
              </a:rPr>
              <a:t>Extend to reinsurance &amp; non-life insurance products</a:t>
            </a:r>
          </a:p>
        </p:txBody>
      </p:sp>
      <p:sp>
        <p:nvSpPr>
          <p:cNvPr id="19" name="Rectangle 18"/>
          <p:cNvSpPr/>
          <p:nvPr/>
        </p:nvSpPr>
        <p:spPr>
          <a:xfrm>
            <a:off x="6583680" y="2212848"/>
            <a:ext cx="109728" cy="27432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2194560"/>
            <a:ext cx="5120640" cy="347472"/>
          </a:xfrm>
          <a:prstGeom prst="rect">
            <a:avLst/>
          </a:prstGeom>
          <a:noFill/>
        </p:spPr>
        <p:txBody>
          <a:bodyPr wrap="square">
            <a:spAutoFit/>
          </a:bodyPr>
          <a:lstStyle/>
          <a:p>
            <a:pPr algn="l"/>
            <a:r>
              <a:rPr sz="1300" b="0" i="0">
                <a:solidFill>
                  <a:srgbClr val="333333"/>
                </a:solidFill>
              </a:rPr>
              <a:t>Federated learning for cross-insurer data sharing</a:t>
            </a:r>
          </a:p>
        </p:txBody>
      </p:sp>
      <p:sp>
        <p:nvSpPr>
          <p:cNvPr id="21" name="Rectangle 20"/>
          <p:cNvSpPr/>
          <p:nvPr/>
        </p:nvSpPr>
        <p:spPr>
          <a:xfrm>
            <a:off x="6583680" y="2596896"/>
            <a:ext cx="109728" cy="27432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2578608"/>
            <a:ext cx="5120640" cy="347472"/>
          </a:xfrm>
          <a:prstGeom prst="rect">
            <a:avLst/>
          </a:prstGeom>
          <a:noFill/>
        </p:spPr>
        <p:txBody>
          <a:bodyPr wrap="square">
            <a:spAutoFit/>
          </a:bodyPr>
          <a:lstStyle/>
          <a:p>
            <a:pPr algn="l"/>
            <a:r>
              <a:rPr sz="1300" b="0" i="0">
                <a:solidFill>
                  <a:srgbClr val="333333"/>
                </a:solidFill>
              </a:rPr>
              <a:t>Integration with national FIU intelligence platforms</a:t>
            </a:r>
          </a:p>
        </p:txBody>
      </p:sp>
      <p:sp>
        <p:nvSpPr>
          <p:cNvPr id="23" name="Rectangle 22"/>
          <p:cNvSpPr/>
          <p:nvPr/>
        </p:nvSpPr>
        <p:spPr>
          <a:xfrm>
            <a:off x="6583680" y="2980944"/>
            <a:ext cx="109728" cy="27432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2962656"/>
            <a:ext cx="5120640" cy="347472"/>
          </a:xfrm>
          <a:prstGeom prst="rect">
            <a:avLst/>
          </a:prstGeom>
          <a:noFill/>
        </p:spPr>
        <p:txBody>
          <a:bodyPr wrap="square">
            <a:spAutoFit/>
          </a:bodyPr>
          <a:lstStyle/>
          <a:p>
            <a:pPr algn="l"/>
            <a:r>
              <a:rPr sz="1300" b="0" i="0">
                <a:solidFill>
                  <a:srgbClr val="333333"/>
                </a:solidFill>
              </a:rPr>
              <a:t>Real-time streaming architecture (Apache Kafka/Flink)</a:t>
            </a:r>
          </a:p>
        </p:txBody>
      </p:sp>
      <p:sp>
        <p:nvSpPr>
          <p:cNvPr id="25" name="Rectangle 24"/>
          <p:cNvSpPr/>
          <p:nvPr/>
        </p:nvSpPr>
        <p:spPr>
          <a:xfrm>
            <a:off x="274320" y="3794760"/>
            <a:ext cx="11612880" cy="45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886200"/>
            <a:ext cx="11612880" cy="2560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977639"/>
            <a:ext cx="11247120" cy="365760"/>
          </a:xfrm>
          <a:prstGeom prst="rect">
            <a:avLst/>
          </a:prstGeom>
          <a:noFill/>
        </p:spPr>
        <p:txBody>
          <a:bodyPr wrap="square">
            <a:spAutoFit/>
          </a:bodyPr>
          <a:lstStyle/>
          <a:p>
            <a:pPr algn="ctr"/>
            <a:r>
              <a:rPr sz="1400" b="1" i="0">
                <a:solidFill>
                  <a:srgbClr val="F0A500"/>
                </a:solidFill>
              </a:rPr>
              <a:t>Publication Venues</a:t>
            </a:r>
          </a:p>
        </p:txBody>
      </p:sp>
      <p:sp>
        <p:nvSpPr>
          <p:cNvPr id="28" name="TextBox 27"/>
          <p:cNvSpPr txBox="1"/>
          <p:nvPr/>
        </p:nvSpPr>
        <p:spPr>
          <a:xfrm>
            <a:off x="457200" y="4389120"/>
            <a:ext cx="11247120" cy="914400"/>
          </a:xfrm>
          <a:prstGeom prst="rect">
            <a:avLst/>
          </a:prstGeom>
          <a:noFill/>
        </p:spPr>
        <p:txBody>
          <a:bodyPr wrap="square">
            <a:spAutoFit/>
          </a:bodyPr>
          <a:lstStyle/>
          <a:p>
            <a:pPr algn="ctr"/>
            <a:r>
              <a:rPr sz="1300" b="0" i="1">
                <a:solidFill>
                  <a:srgbClr val="FFFFFF"/>
                </a:solidFill>
              </a:rPr>
              <a:t>IEEE Transactions on Information Forensics and Security
Journal of Financial Crime  •  Expert Systems with Applications
Journal of Money Laundering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88952" cy="10972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47120" cy="1371600"/>
          </a:xfrm>
          <a:prstGeom prst="rect">
            <a:avLst/>
          </a:prstGeom>
          <a:noFill/>
        </p:spPr>
        <p:txBody>
          <a:bodyPr wrap="square">
            <a:spAutoFit/>
          </a:bodyPr>
          <a:lstStyle/>
          <a:p>
            <a:pPr algn="ctr"/>
            <a:r>
              <a:rPr sz="6000" b="1" i="0">
                <a:solidFill>
                  <a:srgbClr val="FFFFFF"/>
                </a:solidFill>
              </a:rPr>
              <a:t>Thank You</a:t>
            </a:r>
          </a:p>
        </p:txBody>
      </p:sp>
      <p:sp>
        <p:nvSpPr>
          <p:cNvPr id="5" name="TextBox 4"/>
          <p:cNvSpPr txBox="1"/>
          <p:nvPr/>
        </p:nvSpPr>
        <p:spPr>
          <a:xfrm>
            <a:off x="457200" y="2377440"/>
            <a:ext cx="11247120" cy="640080"/>
          </a:xfrm>
          <a:prstGeom prst="rect">
            <a:avLst/>
          </a:prstGeom>
          <a:noFill/>
        </p:spPr>
        <p:txBody>
          <a:bodyPr wrap="square">
            <a:spAutoFit/>
          </a:bodyPr>
          <a:lstStyle/>
          <a:p>
            <a:pPr algn="ctr"/>
            <a:r>
              <a:rPr sz="2200" b="0" i="0">
                <a:solidFill>
                  <a:srgbClr val="F0A500"/>
                </a:solidFill>
              </a:rPr>
              <a:t>Questions &amp; Discussion Welcome</a:t>
            </a:r>
          </a:p>
        </p:txBody>
      </p:sp>
      <p:sp>
        <p:nvSpPr>
          <p:cNvPr id="6" name="TextBox 5"/>
          <p:cNvSpPr txBox="1"/>
          <p:nvPr/>
        </p:nvSpPr>
        <p:spPr>
          <a:xfrm>
            <a:off x="457200" y="3291840"/>
            <a:ext cx="11247120" cy="502920"/>
          </a:xfrm>
          <a:prstGeom prst="rect">
            <a:avLst/>
          </a:prstGeom>
          <a:noFill/>
        </p:spPr>
        <p:txBody>
          <a:bodyPr wrap="square">
            <a:spAutoFit/>
          </a:bodyPr>
          <a:lstStyle/>
          <a:p>
            <a:pPr algn="ctr"/>
            <a:r>
              <a:rPr sz="1500" b="0" i="1">
                <a:solidFill>
                  <a:srgbClr val="88AADD"/>
                </a:solidFill>
              </a:rPr>
              <a:t>AML in Insurance · Machine Learning · Graph Analytics · Regulatory Compliance</a:t>
            </a:r>
          </a:p>
        </p:txBody>
      </p:sp>
      <p:sp>
        <p:nvSpPr>
          <p:cNvPr id="7" name="TextBox 6"/>
          <p:cNvSpPr txBox="1"/>
          <p:nvPr/>
        </p:nvSpPr>
        <p:spPr>
          <a:xfrm>
            <a:off x="457200" y="6035040"/>
            <a:ext cx="11247120" cy="457200"/>
          </a:xfrm>
          <a:prstGeom prst="rect">
            <a:avLst/>
          </a:prstGeom>
          <a:noFill/>
        </p:spPr>
        <p:txBody>
          <a:bodyPr wrap="square">
            <a:spAutoFit/>
          </a:bodyPr>
          <a:lstStyle/>
          <a:p>
            <a:pPr algn="ctr"/>
            <a:r>
              <a:rPr sz="1300" b="0" i="0">
                <a:solidFill>
                  <a:srgbClr val="6688BB"/>
                </a:solidFill>
              </a:rPr>
              <a:t>Research Study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