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200400"/>
            <a:ext cx="12188952" cy="91440"/>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48640"/>
            <a:ext cx="11247120" cy="822960"/>
          </a:xfrm>
          <a:prstGeom prst="rect">
            <a:avLst/>
          </a:prstGeom>
          <a:noFill/>
        </p:spPr>
        <p:txBody>
          <a:bodyPr wrap="square">
            <a:spAutoFit/>
          </a:bodyPr>
          <a:lstStyle/>
          <a:p>
            <a:pPr algn="ctr"/>
            <a:r>
              <a:rPr sz="3800" b="1" i="0">
                <a:solidFill>
                  <a:srgbClr val="FFFFFF"/>
                </a:solidFill>
              </a:rPr>
              <a:t>ANTI-MONEY LAUNDERING (AML)</a:t>
            </a:r>
          </a:p>
        </p:txBody>
      </p:sp>
      <p:sp>
        <p:nvSpPr>
          <p:cNvPr id="5" name="TextBox 4"/>
          <p:cNvSpPr txBox="1"/>
          <p:nvPr/>
        </p:nvSpPr>
        <p:spPr>
          <a:xfrm>
            <a:off x="457200" y="1325880"/>
            <a:ext cx="11247120" cy="731520"/>
          </a:xfrm>
          <a:prstGeom prst="rect">
            <a:avLst/>
          </a:prstGeom>
          <a:noFill/>
        </p:spPr>
        <p:txBody>
          <a:bodyPr wrap="square">
            <a:spAutoFit/>
          </a:bodyPr>
          <a:lstStyle/>
          <a:p>
            <a:pPr algn="ctr"/>
            <a:r>
              <a:rPr sz="3200" b="1" i="0">
                <a:solidFill>
                  <a:srgbClr val="F0A500"/>
                </a:solidFill>
              </a:rPr>
              <a:t>IN THE INSURANCE SECTOR</a:t>
            </a:r>
          </a:p>
        </p:txBody>
      </p:sp>
      <p:sp>
        <p:nvSpPr>
          <p:cNvPr id="6" name="TextBox 5"/>
          <p:cNvSpPr txBox="1"/>
          <p:nvPr/>
        </p:nvSpPr>
        <p:spPr>
          <a:xfrm>
            <a:off x="457200" y="2057400"/>
            <a:ext cx="11247120" cy="1005840"/>
          </a:xfrm>
          <a:prstGeom prst="rect">
            <a:avLst/>
          </a:prstGeom>
          <a:noFill/>
        </p:spPr>
        <p:txBody>
          <a:bodyPr wrap="square">
            <a:spAutoFit/>
          </a:bodyPr>
          <a:lstStyle/>
          <a:p>
            <a:pPr algn="ctr"/>
            <a:r>
              <a:rPr sz="1800" b="0" i="0">
                <a:solidFill>
                  <a:srgbClr val="FFFFFF"/>
                </a:solidFill>
              </a:rPr>
              <a:t>Intelligent Multi-Layer Machine Learning Framework for
Risk Identification and Regulatory Compliance</a:t>
            </a:r>
          </a:p>
        </p:txBody>
      </p:sp>
      <p:sp>
        <p:nvSpPr>
          <p:cNvPr id="7" name="TextBox 6"/>
          <p:cNvSpPr txBox="1"/>
          <p:nvPr/>
        </p:nvSpPr>
        <p:spPr>
          <a:xfrm>
            <a:off x="457200" y="3429000"/>
            <a:ext cx="11247120" cy="502920"/>
          </a:xfrm>
          <a:prstGeom prst="rect">
            <a:avLst/>
          </a:prstGeom>
          <a:noFill/>
        </p:spPr>
        <p:txBody>
          <a:bodyPr wrap="square">
            <a:spAutoFit/>
          </a:bodyPr>
          <a:lstStyle/>
          <a:p>
            <a:pPr algn="ctr"/>
            <a:r>
              <a:rPr sz="1600" b="0" i="0">
                <a:solidFill>
                  <a:srgbClr val="AACCFF"/>
                </a:solidFill>
              </a:rPr>
              <a:t>A Research Case Study  ·  25-Paper Literature Review</a:t>
            </a:r>
          </a:p>
        </p:txBody>
      </p:sp>
      <p:sp>
        <p:nvSpPr>
          <p:cNvPr id="8" name="TextBox 7"/>
          <p:cNvSpPr txBox="1"/>
          <p:nvPr/>
        </p:nvSpPr>
        <p:spPr>
          <a:xfrm>
            <a:off x="457200" y="4023360"/>
            <a:ext cx="11247120" cy="457200"/>
          </a:xfrm>
          <a:prstGeom prst="rect">
            <a:avLst/>
          </a:prstGeom>
          <a:noFill/>
        </p:spPr>
        <p:txBody>
          <a:bodyPr wrap="square">
            <a:spAutoFit/>
          </a:bodyPr>
          <a:lstStyle/>
          <a:p>
            <a:pPr algn="ctr"/>
            <a:r>
              <a:rPr sz="1300" b="0" i="1">
                <a:solidFill>
                  <a:srgbClr val="88AADD"/>
                </a:solidFill>
              </a:rPr>
              <a:t>Supervised | Unsupervised | Graph Neural Networks | Regulatory Compliance</a:t>
            </a:r>
          </a:p>
        </p:txBody>
      </p:sp>
      <p:sp>
        <p:nvSpPr>
          <p:cNvPr id="9" name="TextBox 8"/>
          <p:cNvSpPr txBox="1"/>
          <p:nvPr/>
        </p:nvSpPr>
        <p:spPr>
          <a:xfrm>
            <a:off x="457200" y="6217920"/>
            <a:ext cx="11247120" cy="457200"/>
          </a:xfrm>
          <a:prstGeom prst="rect">
            <a:avLst/>
          </a:prstGeom>
          <a:noFill/>
        </p:spPr>
        <p:txBody>
          <a:bodyPr wrap="square">
            <a:spAutoFit/>
          </a:bodyPr>
          <a:lstStyle/>
          <a:p>
            <a:pPr algn="ctr"/>
            <a:r>
              <a:rPr sz="1400" b="0" i="0">
                <a:solidFill>
                  <a:srgbClr val="88AADD"/>
                </a:solidFill>
              </a:rPr>
              <a:t>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97280"/>
            <a:ext cx="12188952" cy="64008"/>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61288"/>
            <a:ext cx="12188952" cy="5696712"/>
          </a:xfrm>
          <a:prstGeom prst="rect">
            <a:avLst/>
          </a:prstGeom>
          <a:solidFill>
            <a:srgbClr val="F2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91440"/>
            <a:ext cx="11430000" cy="914400"/>
          </a:xfrm>
          <a:prstGeom prst="rect">
            <a:avLst/>
          </a:prstGeom>
          <a:noFill/>
        </p:spPr>
        <p:txBody>
          <a:bodyPr wrap="square">
            <a:spAutoFit/>
          </a:bodyPr>
          <a:lstStyle/>
          <a:p>
            <a:pPr algn="l"/>
            <a:r>
              <a:rPr sz="2800" b="1" i="0">
                <a:solidFill>
                  <a:srgbClr val="FFFFFF"/>
                </a:solidFill>
              </a:rPr>
              <a:t>Agenda</a:t>
            </a:r>
          </a:p>
        </p:txBody>
      </p:sp>
      <p:sp>
        <p:nvSpPr>
          <p:cNvPr id="6" name="TextBox 5"/>
          <p:cNvSpPr txBox="1"/>
          <p:nvPr/>
        </p:nvSpPr>
        <p:spPr>
          <a:xfrm>
            <a:off x="274320" y="685800"/>
            <a:ext cx="11430000" cy="411480"/>
          </a:xfrm>
          <a:prstGeom prst="rect">
            <a:avLst/>
          </a:prstGeom>
          <a:noFill/>
        </p:spPr>
        <p:txBody>
          <a:bodyPr wrap="square">
            <a:spAutoFit/>
          </a:bodyPr>
          <a:lstStyle/>
          <a:p>
            <a:pPr algn="l"/>
            <a:r>
              <a:rPr sz="1400" b="0" i="0">
                <a:solidFill>
                  <a:srgbClr val="F0A500"/>
                </a:solidFill>
              </a:rPr>
              <a:t>Overview of Presentation</a:t>
            </a:r>
          </a:p>
        </p:txBody>
      </p:sp>
      <p:sp>
        <p:nvSpPr>
          <p:cNvPr id="7" name="Rectangle 6"/>
          <p:cNvSpPr/>
          <p:nvPr/>
        </p:nvSpPr>
        <p:spPr>
          <a:xfrm>
            <a:off x="274320" y="1463040"/>
            <a:ext cx="822960" cy="54864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63040"/>
            <a:ext cx="822960" cy="548640"/>
          </a:xfrm>
          <a:prstGeom prst="rect">
            <a:avLst/>
          </a:prstGeom>
          <a:noFill/>
        </p:spPr>
        <p:txBody>
          <a:bodyPr wrap="square">
            <a:spAutoFit/>
          </a:bodyPr>
          <a:lstStyle/>
          <a:p>
            <a:pPr algn="ctr"/>
            <a:r>
              <a:rPr sz="1200" b="1" i="0">
                <a:solidFill>
                  <a:srgbClr val="FFFFFF"/>
                </a:solidFill>
              </a:rPr>
              <a:t>01</a:t>
            </a:r>
          </a:p>
        </p:txBody>
      </p:sp>
      <p:sp>
        <p:nvSpPr>
          <p:cNvPr id="9" name="Rectangle 8"/>
          <p:cNvSpPr/>
          <p:nvPr/>
        </p:nvSpPr>
        <p:spPr>
          <a:xfrm>
            <a:off x="1124712" y="1463040"/>
            <a:ext cx="5029200" cy="548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88720" y="1554480"/>
            <a:ext cx="4846320" cy="411480"/>
          </a:xfrm>
          <a:prstGeom prst="rect">
            <a:avLst/>
          </a:prstGeom>
          <a:noFill/>
        </p:spPr>
        <p:txBody>
          <a:bodyPr wrap="square">
            <a:spAutoFit/>
          </a:bodyPr>
          <a:lstStyle/>
          <a:p>
            <a:pPr algn="l"/>
            <a:r>
              <a:rPr sz="1400" b="0" i="0">
                <a:solidFill>
                  <a:srgbClr val="0D2B55"/>
                </a:solidFill>
              </a:rPr>
              <a:t>Title &amp; Problem Statement</a:t>
            </a:r>
          </a:p>
        </p:txBody>
      </p:sp>
      <p:sp>
        <p:nvSpPr>
          <p:cNvPr id="11" name="Rectangle 10"/>
          <p:cNvSpPr/>
          <p:nvPr/>
        </p:nvSpPr>
        <p:spPr>
          <a:xfrm>
            <a:off x="274320" y="2240280"/>
            <a:ext cx="822960" cy="54864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4320" y="2240280"/>
            <a:ext cx="822960" cy="548640"/>
          </a:xfrm>
          <a:prstGeom prst="rect">
            <a:avLst/>
          </a:prstGeom>
          <a:noFill/>
        </p:spPr>
        <p:txBody>
          <a:bodyPr wrap="square">
            <a:spAutoFit/>
          </a:bodyPr>
          <a:lstStyle/>
          <a:p>
            <a:pPr algn="ctr"/>
            <a:r>
              <a:rPr sz="1200" b="1" i="0">
                <a:solidFill>
                  <a:srgbClr val="FFFFFF"/>
                </a:solidFill>
              </a:rPr>
              <a:t>02</a:t>
            </a:r>
          </a:p>
        </p:txBody>
      </p:sp>
      <p:sp>
        <p:nvSpPr>
          <p:cNvPr id="13" name="Rectangle 12"/>
          <p:cNvSpPr/>
          <p:nvPr/>
        </p:nvSpPr>
        <p:spPr>
          <a:xfrm>
            <a:off x="1124712" y="2240280"/>
            <a:ext cx="5029200" cy="548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188720" y="2331720"/>
            <a:ext cx="4846320" cy="411480"/>
          </a:xfrm>
          <a:prstGeom prst="rect">
            <a:avLst/>
          </a:prstGeom>
          <a:noFill/>
        </p:spPr>
        <p:txBody>
          <a:bodyPr wrap="square">
            <a:spAutoFit/>
          </a:bodyPr>
          <a:lstStyle/>
          <a:p>
            <a:pPr algn="l"/>
            <a:r>
              <a:rPr sz="1400" b="0" i="0">
                <a:solidFill>
                  <a:srgbClr val="0D2B55"/>
                </a:solidFill>
              </a:rPr>
              <a:t>Abstract</a:t>
            </a:r>
          </a:p>
        </p:txBody>
      </p:sp>
      <p:sp>
        <p:nvSpPr>
          <p:cNvPr id="15" name="Rectangle 14"/>
          <p:cNvSpPr/>
          <p:nvPr/>
        </p:nvSpPr>
        <p:spPr>
          <a:xfrm>
            <a:off x="274320" y="3017520"/>
            <a:ext cx="822960" cy="54864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4320" y="3017520"/>
            <a:ext cx="822960" cy="548640"/>
          </a:xfrm>
          <a:prstGeom prst="rect">
            <a:avLst/>
          </a:prstGeom>
          <a:noFill/>
        </p:spPr>
        <p:txBody>
          <a:bodyPr wrap="square">
            <a:spAutoFit/>
          </a:bodyPr>
          <a:lstStyle/>
          <a:p>
            <a:pPr algn="ctr"/>
            <a:r>
              <a:rPr sz="1200" b="1" i="0">
                <a:solidFill>
                  <a:srgbClr val="FFFFFF"/>
                </a:solidFill>
              </a:rPr>
              <a:t>03–07</a:t>
            </a:r>
          </a:p>
        </p:txBody>
      </p:sp>
      <p:sp>
        <p:nvSpPr>
          <p:cNvPr id="17" name="Rectangle 16"/>
          <p:cNvSpPr/>
          <p:nvPr/>
        </p:nvSpPr>
        <p:spPr>
          <a:xfrm>
            <a:off x="1124712" y="3017520"/>
            <a:ext cx="5029200" cy="548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188720" y="3108960"/>
            <a:ext cx="4846320" cy="411480"/>
          </a:xfrm>
          <a:prstGeom prst="rect">
            <a:avLst/>
          </a:prstGeom>
          <a:noFill/>
        </p:spPr>
        <p:txBody>
          <a:bodyPr wrap="square">
            <a:spAutoFit/>
          </a:bodyPr>
          <a:lstStyle/>
          <a:p>
            <a:pPr algn="l"/>
            <a:r>
              <a:rPr sz="1400" b="0" i="0">
                <a:solidFill>
                  <a:srgbClr val="0D2B55"/>
                </a:solidFill>
              </a:rPr>
              <a:t>Literature Review (25 Papers)</a:t>
            </a:r>
          </a:p>
        </p:txBody>
      </p:sp>
      <p:sp>
        <p:nvSpPr>
          <p:cNvPr id="19" name="Rectangle 18"/>
          <p:cNvSpPr/>
          <p:nvPr/>
        </p:nvSpPr>
        <p:spPr>
          <a:xfrm>
            <a:off x="274320" y="3794760"/>
            <a:ext cx="822960" cy="54864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4320" y="3794760"/>
            <a:ext cx="822960" cy="548640"/>
          </a:xfrm>
          <a:prstGeom prst="rect">
            <a:avLst/>
          </a:prstGeom>
          <a:noFill/>
        </p:spPr>
        <p:txBody>
          <a:bodyPr wrap="square">
            <a:spAutoFit/>
          </a:bodyPr>
          <a:lstStyle/>
          <a:p>
            <a:pPr algn="ctr"/>
            <a:r>
              <a:rPr sz="1200" b="1" i="0">
                <a:solidFill>
                  <a:srgbClr val="FFFFFF"/>
                </a:solidFill>
              </a:rPr>
              <a:t>08</a:t>
            </a:r>
          </a:p>
        </p:txBody>
      </p:sp>
      <p:sp>
        <p:nvSpPr>
          <p:cNvPr id="21" name="Rectangle 20"/>
          <p:cNvSpPr/>
          <p:nvPr/>
        </p:nvSpPr>
        <p:spPr>
          <a:xfrm>
            <a:off x="1124712" y="3794760"/>
            <a:ext cx="5029200" cy="548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88720" y="3886200"/>
            <a:ext cx="4846320" cy="411480"/>
          </a:xfrm>
          <a:prstGeom prst="rect">
            <a:avLst/>
          </a:prstGeom>
          <a:noFill/>
        </p:spPr>
        <p:txBody>
          <a:bodyPr wrap="square">
            <a:spAutoFit/>
          </a:bodyPr>
          <a:lstStyle/>
          <a:p>
            <a:pPr algn="l"/>
            <a:r>
              <a:rPr sz="1400" b="0" i="0">
                <a:solidFill>
                  <a:srgbClr val="0D2B55"/>
                </a:solidFill>
              </a:rPr>
              <a:t>Novelty Justification</a:t>
            </a:r>
          </a:p>
        </p:txBody>
      </p:sp>
      <p:sp>
        <p:nvSpPr>
          <p:cNvPr id="23" name="Rectangle 22"/>
          <p:cNvSpPr/>
          <p:nvPr/>
        </p:nvSpPr>
        <p:spPr>
          <a:xfrm>
            <a:off x="6309360" y="1463040"/>
            <a:ext cx="822960" cy="54864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09360" y="1463040"/>
            <a:ext cx="822960" cy="548640"/>
          </a:xfrm>
          <a:prstGeom prst="rect">
            <a:avLst/>
          </a:prstGeom>
          <a:noFill/>
        </p:spPr>
        <p:txBody>
          <a:bodyPr wrap="square">
            <a:spAutoFit/>
          </a:bodyPr>
          <a:lstStyle/>
          <a:p>
            <a:pPr algn="ctr"/>
            <a:r>
              <a:rPr sz="1200" b="1" i="0">
                <a:solidFill>
                  <a:srgbClr val="FFFFFF"/>
                </a:solidFill>
              </a:rPr>
              <a:t>09</a:t>
            </a:r>
          </a:p>
        </p:txBody>
      </p:sp>
      <p:sp>
        <p:nvSpPr>
          <p:cNvPr id="25" name="Rectangle 24"/>
          <p:cNvSpPr/>
          <p:nvPr/>
        </p:nvSpPr>
        <p:spPr>
          <a:xfrm>
            <a:off x="7159752" y="1463040"/>
            <a:ext cx="5029200" cy="548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0" y="1554480"/>
            <a:ext cx="4846320" cy="411480"/>
          </a:xfrm>
          <a:prstGeom prst="rect">
            <a:avLst/>
          </a:prstGeom>
          <a:noFill/>
        </p:spPr>
        <p:txBody>
          <a:bodyPr wrap="square">
            <a:spAutoFit/>
          </a:bodyPr>
          <a:lstStyle/>
          <a:p>
            <a:pPr algn="l"/>
            <a:r>
              <a:rPr sz="1400" b="0" i="0">
                <a:solidFill>
                  <a:srgbClr val="0D2B55"/>
                </a:solidFill>
              </a:rPr>
              <a:t>Architectural Design</a:t>
            </a:r>
          </a:p>
        </p:txBody>
      </p:sp>
      <p:sp>
        <p:nvSpPr>
          <p:cNvPr id="27" name="Rectangle 26"/>
          <p:cNvSpPr/>
          <p:nvPr/>
        </p:nvSpPr>
        <p:spPr>
          <a:xfrm>
            <a:off x="6309360" y="2240280"/>
            <a:ext cx="822960" cy="54864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09360" y="2240280"/>
            <a:ext cx="822960" cy="548640"/>
          </a:xfrm>
          <a:prstGeom prst="rect">
            <a:avLst/>
          </a:prstGeom>
          <a:noFill/>
        </p:spPr>
        <p:txBody>
          <a:bodyPr wrap="square">
            <a:spAutoFit/>
          </a:bodyPr>
          <a:lstStyle/>
          <a:p>
            <a:pPr algn="ctr"/>
            <a:r>
              <a:rPr sz="1200" b="1" i="0">
                <a:solidFill>
                  <a:srgbClr val="FFFFFF"/>
                </a:solidFill>
              </a:rPr>
              <a:t>10</a:t>
            </a:r>
          </a:p>
        </p:txBody>
      </p:sp>
      <p:sp>
        <p:nvSpPr>
          <p:cNvPr id="29" name="Rectangle 28"/>
          <p:cNvSpPr/>
          <p:nvPr/>
        </p:nvSpPr>
        <p:spPr>
          <a:xfrm>
            <a:off x="7159752" y="2240280"/>
            <a:ext cx="5029200" cy="548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223760" y="2331720"/>
            <a:ext cx="4846320" cy="411480"/>
          </a:xfrm>
          <a:prstGeom prst="rect">
            <a:avLst/>
          </a:prstGeom>
          <a:noFill/>
        </p:spPr>
        <p:txBody>
          <a:bodyPr wrap="square">
            <a:spAutoFit/>
          </a:bodyPr>
          <a:lstStyle/>
          <a:p>
            <a:pPr algn="l"/>
            <a:r>
              <a:rPr sz="1400" b="0" i="0">
                <a:solidFill>
                  <a:srgbClr val="0D2B55"/>
                </a:solidFill>
              </a:rPr>
              <a:t>Expected Outcomes</a:t>
            </a:r>
          </a:p>
        </p:txBody>
      </p:sp>
      <p:sp>
        <p:nvSpPr>
          <p:cNvPr id="31" name="Rectangle 30"/>
          <p:cNvSpPr/>
          <p:nvPr/>
        </p:nvSpPr>
        <p:spPr>
          <a:xfrm>
            <a:off x="6309360" y="3017520"/>
            <a:ext cx="822960" cy="54864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09360" y="3017520"/>
            <a:ext cx="822960" cy="548640"/>
          </a:xfrm>
          <a:prstGeom prst="rect">
            <a:avLst/>
          </a:prstGeom>
          <a:noFill/>
        </p:spPr>
        <p:txBody>
          <a:bodyPr wrap="square">
            <a:spAutoFit/>
          </a:bodyPr>
          <a:lstStyle/>
          <a:p>
            <a:pPr algn="ctr"/>
            <a:r>
              <a:rPr sz="1200" b="1" i="0">
                <a:solidFill>
                  <a:srgbClr val="FFFFFF"/>
                </a:solidFill>
              </a:rPr>
              <a:t>11</a:t>
            </a:r>
          </a:p>
        </p:txBody>
      </p:sp>
      <p:sp>
        <p:nvSpPr>
          <p:cNvPr id="33" name="Rectangle 32"/>
          <p:cNvSpPr/>
          <p:nvPr/>
        </p:nvSpPr>
        <p:spPr>
          <a:xfrm>
            <a:off x="7159752" y="3017520"/>
            <a:ext cx="5029200" cy="548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223760" y="3108960"/>
            <a:ext cx="4846320" cy="411480"/>
          </a:xfrm>
          <a:prstGeom prst="rect">
            <a:avLst/>
          </a:prstGeom>
          <a:noFill/>
        </p:spPr>
        <p:txBody>
          <a:bodyPr wrap="square">
            <a:spAutoFit/>
          </a:bodyPr>
          <a:lstStyle/>
          <a:p>
            <a:pPr algn="l"/>
            <a:r>
              <a:rPr sz="1400" b="0" i="0">
                <a:solidFill>
                  <a:srgbClr val="0D2B55"/>
                </a:solidFill>
              </a:rPr>
              <a:t>Timeline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97280"/>
            <a:ext cx="12188952" cy="64008"/>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61288"/>
            <a:ext cx="12188952" cy="5696712"/>
          </a:xfrm>
          <a:prstGeom prst="rect">
            <a:avLst/>
          </a:prstGeom>
          <a:solidFill>
            <a:srgbClr val="F2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91440"/>
            <a:ext cx="11430000" cy="914400"/>
          </a:xfrm>
          <a:prstGeom prst="rect">
            <a:avLst/>
          </a:prstGeom>
          <a:noFill/>
        </p:spPr>
        <p:txBody>
          <a:bodyPr wrap="square">
            <a:spAutoFit/>
          </a:bodyPr>
          <a:lstStyle/>
          <a:p>
            <a:pPr algn="l"/>
            <a:r>
              <a:rPr sz="2800" b="1" i="0">
                <a:solidFill>
                  <a:srgbClr val="FFFFFF"/>
                </a:solidFill>
              </a:rPr>
              <a:t>Title &amp; Problem Statement</a:t>
            </a:r>
          </a:p>
        </p:txBody>
      </p:sp>
      <p:sp>
        <p:nvSpPr>
          <p:cNvPr id="6" name="Rectangle 5"/>
          <p:cNvSpPr/>
          <p:nvPr/>
        </p:nvSpPr>
        <p:spPr>
          <a:xfrm>
            <a:off x="274320" y="1371600"/>
            <a:ext cx="11612880" cy="100584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417320"/>
            <a:ext cx="11247120" cy="914400"/>
          </a:xfrm>
          <a:prstGeom prst="rect">
            <a:avLst/>
          </a:prstGeom>
          <a:noFill/>
        </p:spPr>
        <p:txBody>
          <a:bodyPr wrap="square">
            <a:spAutoFit/>
          </a:bodyPr>
          <a:lstStyle/>
          <a:p>
            <a:pPr algn="ctr"/>
            <a:r>
              <a:rPr sz="1400" b="1" i="1">
                <a:solidFill>
                  <a:srgbClr val="FFFFFF"/>
                </a:solidFill>
              </a:rPr>
              <a:t>"Intelligent Anti-Money Laundering Detection in the Insurance Sector:
A Multi-Layer Machine Learning Framework for Risk Identification and Regulatory Compliance"</a:t>
            </a:r>
          </a:p>
        </p:txBody>
      </p:sp>
      <p:sp>
        <p:nvSpPr>
          <p:cNvPr id="8" name="TextBox 7"/>
          <p:cNvSpPr txBox="1"/>
          <p:nvPr/>
        </p:nvSpPr>
        <p:spPr>
          <a:xfrm>
            <a:off x="320040" y="2606040"/>
            <a:ext cx="4572000" cy="365760"/>
          </a:xfrm>
          <a:prstGeom prst="rect">
            <a:avLst/>
          </a:prstGeom>
          <a:noFill/>
        </p:spPr>
        <p:txBody>
          <a:bodyPr wrap="square">
            <a:spAutoFit/>
          </a:bodyPr>
          <a:lstStyle/>
          <a:p>
            <a:pPr algn="l"/>
            <a:r>
              <a:rPr sz="1500" b="1" i="0">
                <a:solidFill>
                  <a:srgbClr val="0D2B55"/>
                </a:solidFill>
              </a:rPr>
              <a:t>Why Insurance?</a:t>
            </a:r>
          </a:p>
        </p:txBody>
      </p:sp>
      <p:sp>
        <p:nvSpPr>
          <p:cNvPr id="9" name="Rectangle 8"/>
          <p:cNvSpPr/>
          <p:nvPr/>
        </p:nvSpPr>
        <p:spPr>
          <a:xfrm>
            <a:off x="320040" y="3017520"/>
            <a:ext cx="137160" cy="274320"/>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 y="2999232"/>
            <a:ext cx="5029200" cy="347472"/>
          </a:xfrm>
          <a:prstGeom prst="rect">
            <a:avLst/>
          </a:prstGeom>
          <a:noFill/>
        </p:spPr>
        <p:txBody>
          <a:bodyPr wrap="square">
            <a:spAutoFit/>
          </a:bodyPr>
          <a:lstStyle/>
          <a:p>
            <a:pPr algn="l"/>
            <a:r>
              <a:rPr sz="1300" b="0" i="0">
                <a:solidFill>
                  <a:srgbClr val="333333"/>
                </a:solidFill>
              </a:rPr>
              <a:t>Insurance is an underexplored money laundering channel</a:t>
            </a:r>
          </a:p>
        </p:txBody>
      </p:sp>
      <p:sp>
        <p:nvSpPr>
          <p:cNvPr id="11" name="Rectangle 10"/>
          <p:cNvSpPr/>
          <p:nvPr/>
        </p:nvSpPr>
        <p:spPr>
          <a:xfrm>
            <a:off x="320040" y="3401568"/>
            <a:ext cx="137160" cy="274320"/>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30352" y="3383279"/>
            <a:ext cx="5029200" cy="347472"/>
          </a:xfrm>
          <a:prstGeom prst="rect">
            <a:avLst/>
          </a:prstGeom>
          <a:noFill/>
        </p:spPr>
        <p:txBody>
          <a:bodyPr wrap="square">
            <a:spAutoFit/>
          </a:bodyPr>
          <a:lstStyle/>
          <a:p>
            <a:pPr algn="l"/>
            <a:r>
              <a:rPr sz="1300" b="0" i="0">
                <a:solidFill>
                  <a:srgbClr val="333333"/>
                </a:solidFill>
              </a:rPr>
              <a:t>Complex product lifecycles create exploitable gaps</a:t>
            </a:r>
          </a:p>
        </p:txBody>
      </p:sp>
      <p:sp>
        <p:nvSpPr>
          <p:cNvPr id="13" name="Rectangle 12"/>
          <p:cNvSpPr/>
          <p:nvPr/>
        </p:nvSpPr>
        <p:spPr>
          <a:xfrm>
            <a:off x="320040" y="3785615"/>
            <a:ext cx="137160" cy="274320"/>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352" y="3767328"/>
            <a:ext cx="5029200" cy="347472"/>
          </a:xfrm>
          <a:prstGeom prst="rect">
            <a:avLst/>
          </a:prstGeom>
          <a:noFill/>
        </p:spPr>
        <p:txBody>
          <a:bodyPr wrap="square">
            <a:spAutoFit/>
          </a:bodyPr>
          <a:lstStyle/>
          <a:p>
            <a:pPr algn="l"/>
            <a:r>
              <a:rPr sz="1300" b="0" i="0">
                <a:solidFill>
                  <a:srgbClr val="333333"/>
                </a:solidFill>
              </a:rPr>
              <a:t>Third-party intermediary abuse is hard to track</a:t>
            </a:r>
          </a:p>
        </p:txBody>
      </p:sp>
      <p:sp>
        <p:nvSpPr>
          <p:cNvPr id="15" name="Rectangle 14"/>
          <p:cNvSpPr/>
          <p:nvPr/>
        </p:nvSpPr>
        <p:spPr>
          <a:xfrm>
            <a:off x="320040" y="4169663"/>
            <a:ext cx="137160" cy="274320"/>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 y="4151376"/>
            <a:ext cx="5029200" cy="347472"/>
          </a:xfrm>
          <a:prstGeom prst="rect">
            <a:avLst/>
          </a:prstGeom>
          <a:noFill/>
        </p:spPr>
        <p:txBody>
          <a:bodyPr wrap="square">
            <a:spAutoFit/>
          </a:bodyPr>
          <a:lstStyle/>
          <a:p>
            <a:pPr algn="l"/>
            <a:r>
              <a:rPr sz="1300" b="0" i="0">
                <a:solidFill>
                  <a:srgbClr val="333333"/>
                </a:solidFill>
              </a:rPr>
              <a:t>Traditional rule-based systems have 90–95% false positive rates</a:t>
            </a:r>
          </a:p>
        </p:txBody>
      </p:sp>
      <p:sp>
        <p:nvSpPr>
          <p:cNvPr id="17" name="Rectangle 16"/>
          <p:cNvSpPr/>
          <p:nvPr/>
        </p:nvSpPr>
        <p:spPr>
          <a:xfrm>
            <a:off x="320040" y="4553712"/>
            <a:ext cx="137160" cy="274320"/>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0352" y="4535424"/>
            <a:ext cx="5029200" cy="347472"/>
          </a:xfrm>
          <a:prstGeom prst="rect">
            <a:avLst/>
          </a:prstGeom>
          <a:noFill/>
        </p:spPr>
        <p:txBody>
          <a:bodyPr wrap="square">
            <a:spAutoFit/>
          </a:bodyPr>
          <a:lstStyle/>
          <a:p>
            <a:pPr algn="l"/>
            <a:r>
              <a:rPr sz="1300" b="0" i="0">
                <a:solidFill>
                  <a:srgbClr val="333333"/>
                </a:solidFill>
              </a:rPr>
              <a:t>Limited ML-based research specific to insurance AML</a:t>
            </a:r>
          </a:p>
        </p:txBody>
      </p:sp>
      <p:sp>
        <p:nvSpPr>
          <p:cNvPr id="19" name="TextBox 18"/>
          <p:cNvSpPr txBox="1"/>
          <p:nvPr/>
        </p:nvSpPr>
        <p:spPr>
          <a:xfrm>
            <a:off x="6400800" y="2606040"/>
            <a:ext cx="5029200" cy="365760"/>
          </a:xfrm>
          <a:prstGeom prst="rect">
            <a:avLst/>
          </a:prstGeom>
          <a:noFill/>
        </p:spPr>
        <p:txBody>
          <a:bodyPr wrap="square">
            <a:spAutoFit/>
          </a:bodyPr>
          <a:lstStyle/>
          <a:p>
            <a:pPr algn="l"/>
            <a:r>
              <a:rPr sz="1500" b="1" i="0">
                <a:solidFill>
                  <a:srgbClr val="0D2B55"/>
                </a:solidFill>
              </a:rPr>
              <a:t>Key Laundering Typologies</a:t>
            </a:r>
          </a:p>
        </p:txBody>
      </p:sp>
      <p:sp>
        <p:nvSpPr>
          <p:cNvPr id="20" name="Rectangle 19"/>
          <p:cNvSpPr/>
          <p:nvPr/>
        </p:nvSpPr>
        <p:spPr>
          <a:xfrm>
            <a:off x="6400800" y="3017520"/>
            <a:ext cx="137160" cy="2743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01968" y="2999232"/>
            <a:ext cx="5212080" cy="347472"/>
          </a:xfrm>
          <a:prstGeom prst="rect">
            <a:avLst/>
          </a:prstGeom>
          <a:noFill/>
        </p:spPr>
        <p:txBody>
          <a:bodyPr wrap="square">
            <a:spAutoFit/>
          </a:bodyPr>
          <a:lstStyle/>
          <a:p>
            <a:pPr algn="l"/>
            <a:r>
              <a:rPr sz="1300" b="0" i="0">
                <a:solidFill>
                  <a:srgbClr val="333333"/>
                </a:solidFill>
              </a:rPr>
              <a:t>Premium over-payment &amp; cash-back</a:t>
            </a:r>
          </a:p>
        </p:txBody>
      </p:sp>
      <p:sp>
        <p:nvSpPr>
          <p:cNvPr id="22" name="Rectangle 21"/>
          <p:cNvSpPr/>
          <p:nvPr/>
        </p:nvSpPr>
        <p:spPr>
          <a:xfrm>
            <a:off x="6400800" y="3401568"/>
            <a:ext cx="137160" cy="2743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01968" y="3383279"/>
            <a:ext cx="5212080" cy="347472"/>
          </a:xfrm>
          <a:prstGeom prst="rect">
            <a:avLst/>
          </a:prstGeom>
          <a:noFill/>
        </p:spPr>
        <p:txBody>
          <a:bodyPr wrap="square">
            <a:spAutoFit/>
          </a:bodyPr>
          <a:lstStyle/>
          <a:p>
            <a:pPr algn="l"/>
            <a:r>
              <a:rPr sz="1300" b="0" i="0">
                <a:solidFill>
                  <a:srgbClr val="333333"/>
                </a:solidFill>
              </a:rPr>
              <a:t>Early policy surrender for clean funds</a:t>
            </a:r>
          </a:p>
        </p:txBody>
      </p:sp>
      <p:sp>
        <p:nvSpPr>
          <p:cNvPr id="24" name="Rectangle 23"/>
          <p:cNvSpPr/>
          <p:nvPr/>
        </p:nvSpPr>
        <p:spPr>
          <a:xfrm>
            <a:off x="6400800" y="3785615"/>
            <a:ext cx="137160" cy="2743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01968" y="3767328"/>
            <a:ext cx="5212080" cy="347472"/>
          </a:xfrm>
          <a:prstGeom prst="rect">
            <a:avLst/>
          </a:prstGeom>
          <a:noFill/>
        </p:spPr>
        <p:txBody>
          <a:bodyPr wrap="square">
            <a:spAutoFit/>
          </a:bodyPr>
          <a:lstStyle/>
          <a:p>
            <a:pPr algn="l"/>
            <a:r>
              <a:rPr sz="1300" b="0" i="0">
                <a:solidFill>
                  <a:srgbClr val="333333"/>
                </a:solidFill>
              </a:rPr>
              <a:t>Fictitious/inflated claims</a:t>
            </a:r>
          </a:p>
        </p:txBody>
      </p:sp>
      <p:sp>
        <p:nvSpPr>
          <p:cNvPr id="26" name="Rectangle 25"/>
          <p:cNvSpPr/>
          <p:nvPr/>
        </p:nvSpPr>
        <p:spPr>
          <a:xfrm>
            <a:off x="6400800" y="4169663"/>
            <a:ext cx="137160" cy="2743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01968" y="4151376"/>
            <a:ext cx="5212080" cy="347472"/>
          </a:xfrm>
          <a:prstGeom prst="rect">
            <a:avLst/>
          </a:prstGeom>
          <a:noFill/>
        </p:spPr>
        <p:txBody>
          <a:bodyPr wrap="square">
            <a:spAutoFit/>
          </a:bodyPr>
          <a:lstStyle/>
          <a:p>
            <a:pPr algn="l"/>
            <a:r>
              <a:rPr sz="1300" b="0" i="0">
                <a:solidFill>
                  <a:srgbClr val="333333"/>
                </a:solidFill>
              </a:rPr>
              <a:t>Round-tripping through annuities</a:t>
            </a:r>
          </a:p>
        </p:txBody>
      </p:sp>
      <p:sp>
        <p:nvSpPr>
          <p:cNvPr id="28" name="Rectangle 27"/>
          <p:cNvSpPr/>
          <p:nvPr/>
        </p:nvSpPr>
        <p:spPr>
          <a:xfrm>
            <a:off x="6400800" y="4553712"/>
            <a:ext cx="137160" cy="2743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01968" y="4535424"/>
            <a:ext cx="5212080" cy="347472"/>
          </a:xfrm>
          <a:prstGeom prst="rect">
            <a:avLst/>
          </a:prstGeom>
          <a:noFill/>
        </p:spPr>
        <p:txBody>
          <a:bodyPr wrap="square">
            <a:spAutoFit/>
          </a:bodyPr>
          <a:lstStyle/>
          <a:p>
            <a:pPr algn="l"/>
            <a:r>
              <a:rPr sz="1300" b="0" i="0">
                <a:solidFill>
                  <a:srgbClr val="333333"/>
                </a:solidFill>
              </a:rPr>
              <a:t>Nominee &amp; third-party arrangements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97280"/>
            <a:ext cx="12188952" cy="64008"/>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61288"/>
            <a:ext cx="12188952" cy="5696712"/>
          </a:xfrm>
          <a:prstGeom prst="rect">
            <a:avLst/>
          </a:prstGeom>
          <a:solidFill>
            <a:srgbClr val="F2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91440"/>
            <a:ext cx="11430000" cy="914400"/>
          </a:xfrm>
          <a:prstGeom prst="rect">
            <a:avLst/>
          </a:prstGeom>
          <a:noFill/>
        </p:spPr>
        <p:txBody>
          <a:bodyPr wrap="square">
            <a:spAutoFit/>
          </a:bodyPr>
          <a:lstStyle/>
          <a:p>
            <a:pPr algn="l"/>
            <a:r>
              <a:rPr sz="2800" b="1" i="0">
                <a:solidFill>
                  <a:srgbClr val="FFFFFF"/>
                </a:solidFill>
              </a:rPr>
              <a:t>Abstract</a:t>
            </a:r>
          </a:p>
        </p:txBody>
      </p:sp>
      <p:sp>
        <p:nvSpPr>
          <p:cNvPr id="6" name="Rectangle 5"/>
          <p:cNvSpPr/>
          <p:nvPr/>
        </p:nvSpPr>
        <p:spPr>
          <a:xfrm>
            <a:off x="274320" y="1371600"/>
            <a:ext cx="11612880" cy="5120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508760"/>
            <a:ext cx="11155680" cy="4846320"/>
          </a:xfrm>
          <a:prstGeom prst="rect">
            <a:avLst/>
          </a:prstGeom>
          <a:noFill/>
        </p:spPr>
        <p:txBody>
          <a:bodyPr wrap="square">
            <a:spAutoFit/>
          </a:bodyPr>
          <a:lstStyle/>
          <a:p>
            <a:pPr algn="l"/>
            <a:r>
              <a:rPr sz="1400" b="0" i="0">
                <a:solidFill>
                  <a:srgbClr val="333333"/>
                </a:solidFill>
              </a:rPr>
              <a:t>The insurance industry faces unique structural vulnerabilities—complex product lifecycles, third-party intermediaries, and cross-border capital flows—that create exploitable gaps in traditional financial crime controls.
This study presents a comprehensive investigation into AML mechanisms within the insurance domain, combining regulatory analysis with a proposed intelligent multi-layer machine learning detection framework.
The system integrates: Supervised Classification (Random Forest, XGBoost) • Unsupervised Anomaly Detection (Isolation Forest, Autoencoders) • Graph-based Network Analysis (GNN)
Validation on synthetic insurance datasets demonstrates improved detection rates with significantly reduced false positives. The system aligns with FATF Rec. 26, EU AMLD6, and FinCEN guidance, supporting automated SAR generation.</a:t>
            </a:r>
          </a:p>
        </p:txBody>
      </p:sp>
      <p:sp>
        <p:nvSpPr>
          <p:cNvPr id="8" name="Rectangle 7"/>
          <p:cNvSpPr/>
          <p:nvPr/>
        </p:nvSpPr>
        <p:spPr>
          <a:xfrm>
            <a:off x="274320" y="6126480"/>
            <a:ext cx="11612880" cy="50292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199632"/>
            <a:ext cx="11247120" cy="365760"/>
          </a:xfrm>
          <a:prstGeom prst="rect">
            <a:avLst/>
          </a:prstGeom>
          <a:noFill/>
        </p:spPr>
        <p:txBody>
          <a:bodyPr wrap="square">
            <a:spAutoFit/>
          </a:bodyPr>
          <a:lstStyle/>
          <a:p>
            <a:pPr algn="ctr"/>
            <a:r>
              <a:rPr sz="1100" b="0" i="1">
                <a:solidFill>
                  <a:srgbClr val="FFFFFF"/>
                </a:solidFill>
              </a:rPr>
              <a:t>Keywords: AML · Insurance Fraud · Machine Learning · Anomaly Detection · Graph Analytics · KYC/CDD · FATF · Financial Crime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97280"/>
            <a:ext cx="12188952" cy="64008"/>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61288"/>
            <a:ext cx="12188952" cy="5696712"/>
          </a:xfrm>
          <a:prstGeom prst="rect">
            <a:avLst/>
          </a:prstGeom>
          <a:solidFill>
            <a:srgbClr val="F2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91440"/>
            <a:ext cx="11430000" cy="914400"/>
          </a:xfrm>
          <a:prstGeom prst="rect">
            <a:avLst/>
          </a:prstGeom>
          <a:noFill/>
        </p:spPr>
        <p:txBody>
          <a:bodyPr wrap="square">
            <a:spAutoFit/>
          </a:bodyPr>
          <a:lstStyle/>
          <a:p>
            <a:pPr algn="l"/>
            <a:r>
              <a:rPr sz="2800" b="1" i="0">
                <a:solidFill>
                  <a:srgbClr val="FFFFFF"/>
                </a:solidFill>
              </a:rPr>
              <a:t>Literature Review — Part 1</a:t>
            </a:r>
          </a:p>
        </p:txBody>
      </p:sp>
      <p:sp>
        <p:nvSpPr>
          <p:cNvPr id="6" name="TextBox 5"/>
          <p:cNvSpPr txBox="1"/>
          <p:nvPr/>
        </p:nvSpPr>
        <p:spPr>
          <a:xfrm>
            <a:off x="274320" y="685800"/>
            <a:ext cx="11430000" cy="411480"/>
          </a:xfrm>
          <a:prstGeom prst="rect">
            <a:avLst/>
          </a:prstGeom>
          <a:noFill/>
        </p:spPr>
        <p:txBody>
          <a:bodyPr wrap="square">
            <a:spAutoFit/>
          </a:bodyPr>
          <a:lstStyle/>
          <a:p>
            <a:pPr algn="l"/>
            <a:r>
              <a:rPr sz="1400" b="0" i="0">
                <a:solidFill>
                  <a:srgbClr val="F0A500"/>
                </a:solidFill>
              </a:rPr>
              <a:t>Papers 1–5: AML Fundamentals &amp; Regulatory Frameworks</a:t>
            </a:r>
          </a:p>
        </p:txBody>
      </p:sp>
      <p:sp>
        <p:nvSpPr>
          <p:cNvPr id="7" name="Rectangle 6"/>
          <p:cNvSpPr/>
          <p:nvPr/>
        </p:nvSpPr>
        <p:spPr>
          <a:xfrm>
            <a:off x="0" y="1161288"/>
            <a:ext cx="12188952" cy="5696712"/>
          </a:xfrm>
          <a:prstGeom prst="rect">
            <a:avLst/>
          </a:prstGeom>
          <a:solidFill>
            <a:srgbClr val="F2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28600" y="1234440"/>
            <a:ext cx="475488" cy="32004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28600" y="1234440"/>
            <a:ext cx="475488" cy="320040"/>
          </a:xfrm>
          <a:prstGeom prst="rect">
            <a:avLst/>
          </a:prstGeom>
          <a:noFill/>
        </p:spPr>
        <p:txBody>
          <a:bodyPr wrap="square">
            <a:spAutoFit/>
          </a:bodyPr>
          <a:lstStyle/>
          <a:p>
            <a:pPr algn="ctr"/>
            <a:r>
              <a:rPr sz="1100" b="1" i="0">
                <a:solidFill>
                  <a:srgbClr val="FFFFFF"/>
                </a:solidFill>
              </a:rPr>
              <a:t>#</a:t>
            </a:r>
          </a:p>
        </p:txBody>
      </p:sp>
      <p:sp>
        <p:nvSpPr>
          <p:cNvPr id="10" name="Rectangle 9"/>
          <p:cNvSpPr/>
          <p:nvPr/>
        </p:nvSpPr>
        <p:spPr>
          <a:xfrm>
            <a:off x="777240" y="1234440"/>
            <a:ext cx="5303520" cy="32004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1234440"/>
            <a:ext cx="5120640" cy="320040"/>
          </a:xfrm>
          <a:prstGeom prst="rect">
            <a:avLst/>
          </a:prstGeom>
          <a:noFill/>
        </p:spPr>
        <p:txBody>
          <a:bodyPr wrap="square">
            <a:spAutoFit/>
          </a:bodyPr>
          <a:lstStyle/>
          <a:p>
            <a:pPr algn="l"/>
            <a:r>
              <a:rPr sz="1100" b="1" i="0">
                <a:solidFill>
                  <a:srgbClr val="FFFFFF"/>
                </a:solidFill>
              </a:rPr>
              <a:t>Reference / Title</a:t>
            </a:r>
          </a:p>
        </p:txBody>
      </p:sp>
      <p:sp>
        <p:nvSpPr>
          <p:cNvPr id="12" name="Rectangle 11"/>
          <p:cNvSpPr/>
          <p:nvPr/>
        </p:nvSpPr>
        <p:spPr>
          <a:xfrm>
            <a:off x="6263640" y="1234440"/>
            <a:ext cx="5669280" cy="32004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1234440"/>
            <a:ext cx="5486400" cy="320040"/>
          </a:xfrm>
          <a:prstGeom prst="rect">
            <a:avLst/>
          </a:prstGeom>
          <a:noFill/>
        </p:spPr>
        <p:txBody>
          <a:bodyPr wrap="square">
            <a:spAutoFit/>
          </a:bodyPr>
          <a:lstStyle/>
          <a:p>
            <a:pPr algn="l"/>
            <a:r>
              <a:rPr sz="1100" b="1" i="0">
                <a:solidFill>
                  <a:srgbClr val="FFFFFF"/>
                </a:solidFill>
              </a:rPr>
              <a:t>Key Finding / Contribution</a:t>
            </a:r>
          </a:p>
        </p:txBody>
      </p:sp>
      <p:sp>
        <p:nvSpPr>
          <p:cNvPr id="14" name="Rectangle 13"/>
          <p:cNvSpPr/>
          <p:nvPr/>
        </p:nvSpPr>
        <p:spPr>
          <a:xfrm>
            <a:off x="228600" y="1600200"/>
            <a:ext cx="1170432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28600" y="1600200"/>
            <a:ext cx="475488" cy="64008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28600" y="1737360"/>
            <a:ext cx="475488" cy="384048"/>
          </a:xfrm>
          <a:prstGeom prst="rect">
            <a:avLst/>
          </a:prstGeom>
          <a:noFill/>
        </p:spPr>
        <p:txBody>
          <a:bodyPr wrap="square">
            <a:spAutoFit/>
          </a:bodyPr>
          <a:lstStyle/>
          <a:p>
            <a:pPr algn="ctr"/>
            <a:r>
              <a:rPr sz="1400" b="1" i="0">
                <a:solidFill>
                  <a:srgbClr val="FFFFFF"/>
                </a:solidFill>
              </a:rPr>
              <a:t>1</a:t>
            </a:r>
          </a:p>
        </p:txBody>
      </p:sp>
      <p:sp>
        <p:nvSpPr>
          <p:cNvPr id="17" name="TextBox 16"/>
          <p:cNvSpPr txBox="1"/>
          <p:nvPr/>
        </p:nvSpPr>
        <p:spPr>
          <a:xfrm>
            <a:off x="777240" y="1618488"/>
            <a:ext cx="3474720" cy="274320"/>
          </a:xfrm>
          <a:prstGeom prst="rect">
            <a:avLst/>
          </a:prstGeom>
          <a:noFill/>
        </p:spPr>
        <p:txBody>
          <a:bodyPr wrap="square">
            <a:spAutoFit/>
          </a:bodyPr>
          <a:lstStyle/>
          <a:p>
            <a:pPr algn="l"/>
            <a:r>
              <a:rPr sz="1000" b="1" i="0">
                <a:solidFill>
                  <a:srgbClr val="0D2B55"/>
                </a:solidFill>
              </a:rPr>
              <a:t>FATF (2012/2020)</a:t>
            </a:r>
          </a:p>
        </p:txBody>
      </p:sp>
      <p:sp>
        <p:nvSpPr>
          <p:cNvPr id="18" name="TextBox 17"/>
          <p:cNvSpPr txBox="1"/>
          <p:nvPr/>
        </p:nvSpPr>
        <p:spPr>
          <a:xfrm>
            <a:off x="777240" y="1892807"/>
            <a:ext cx="5303520" cy="292608"/>
          </a:xfrm>
          <a:prstGeom prst="rect">
            <a:avLst/>
          </a:prstGeom>
          <a:noFill/>
        </p:spPr>
        <p:txBody>
          <a:bodyPr wrap="square">
            <a:spAutoFit/>
          </a:bodyPr>
          <a:lstStyle/>
          <a:p>
            <a:pPr algn="l"/>
            <a:r>
              <a:rPr sz="1000" b="0" i="1">
                <a:solidFill>
                  <a:srgbClr val="333333"/>
                </a:solidFill>
              </a:rPr>
              <a:t>FATF Recommendations on Anti-Money Laundering and Counter-Terrorism Financing</a:t>
            </a:r>
          </a:p>
        </p:txBody>
      </p:sp>
      <p:sp>
        <p:nvSpPr>
          <p:cNvPr id="19" name="Rectangle 18"/>
          <p:cNvSpPr/>
          <p:nvPr/>
        </p:nvSpPr>
        <p:spPr>
          <a:xfrm>
            <a:off x="6263640" y="1600200"/>
            <a:ext cx="45720" cy="640080"/>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55080" y="1645920"/>
            <a:ext cx="5577840" cy="566928"/>
          </a:xfrm>
          <a:prstGeom prst="rect">
            <a:avLst/>
          </a:prstGeom>
          <a:noFill/>
        </p:spPr>
        <p:txBody>
          <a:bodyPr wrap="square">
            <a:spAutoFit/>
          </a:bodyPr>
          <a:lstStyle/>
          <a:p>
            <a:pPr algn="l"/>
            <a:r>
              <a:rPr sz="1050" b="0" i="0">
                <a:solidFill>
                  <a:srgbClr val="333333"/>
                </a:solidFill>
              </a:rPr>
              <a:t>Established the global Risk-Based Approach (RBA); defines 40 recommendations including Rec. 26 for financial institutions.</a:t>
            </a:r>
          </a:p>
        </p:txBody>
      </p:sp>
      <p:sp>
        <p:nvSpPr>
          <p:cNvPr id="21" name="Rectangle 20"/>
          <p:cNvSpPr/>
          <p:nvPr/>
        </p:nvSpPr>
        <p:spPr>
          <a:xfrm>
            <a:off x="228600" y="2258568"/>
            <a:ext cx="11704320" cy="640080"/>
          </a:xfrm>
          <a:prstGeom prst="rect">
            <a:avLst/>
          </a:prstGeom>
          <a:solidFill>
            <a:srgbClr val="E8F0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28600" y="2258568"/>
            <a:ext cx="475488" cy="64008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28600" y="2395727"/>
            <a:ext cx="475488" cy="384048"/>
          </a:xfrm>
          <a:prstGeom prst="rect">
            <a:avLst/>
          </a:prstGeom>
          <a:noFill/>
        </p:spPr>
        <p:txBody>
          <a:bodyPr wrap="square">
            <a:spAutoFit/>
          </a:bodyPr>
          <a:lstStyle/>
          <a:p>
            <a:pPr algn="ctr"/>
            <a:r>
              <a:rPr sz="1400" b="1" i="0">
                <a:solidFill>
                  <a:srgbClr val="FFFFFF"/>
                </a:solidFill>
              </a:rPr>
              <a:t>2</a:t>
            </a:r>
          </a:p>
        </p:txBody>
      </p:sp>
      <p:sp>
        <p:nvSpPr>
          <p:cNvPr id="24" name="TextBox 23"/>
          <p:cNvSpPr txBox="1"/>
          <p:nvPr/>
        </p:nvSpPr>
        <p:spPr>
          <a:xfrm>
            <a:off x="777240" y="2276856"/>
            <a:ext cx="3474720" cy="274320"/>
          </a:xfrm>
          <a:prstGeom prst="rect">
            <a:avLst/>
          </a:prstGeom>
          <a:noFill/>
        </p:spPr>
        <p:txBody>
          <a:bodyPr wrap="square">
            <a:spAutoFit/>
          </a:bodyPr>
          <a:lstStyle/>
          <a:p>
            <a:pPr algn="l"/>
            <a:r>
              <a:rPr sz="1000" b="1" i="0">
                <a:solidFill>
                  <a:srgbClr val="0D2B55"/>
                </a:solidFill>
              </a:rPr>
              <a:t>FATF (2018)</a:t>
            </a:r>
          </a:p>
        </p:txBody>
      </p:sp>
      <p:sp>
        <p:nvSpPr>
          <p:cNvPr id="25" name="TextBox 24"/>
          <p:cNvSpPr txBox="1"/>
          <p:nvPr/>
        </p:nvSpPr>
        <p:spPr>
          <a:xfrm>
            <a:off x="777240" y="2551175"/>
            <a:ext cx="5303520" cy="292608"/>
          </a:xfrm>
          <a:prstGeom prst="rect">
            <a:avLst/>
          </a:prstGeom>
          <a:noFill/>
        </p:spPr>
        <p:txBody>
          <a:bodyPr wrap="square">
            <a:spAutoFit/>
          </a:bodyPr>
          <a:lstStyle/>
          <a:p>
            <a:pPr algn="l"/>
            <a:r>
              <a:rPr sz="1000" b="0" i="1">
                <a:solidFill>
                  <a:srgbClr val="333333"/>
                </a:solidFill>
              </a:rPr>
              <a:t>Money Laundering and Terrorist Financing Risks in the Insurance Sector</a:t>
            </a:r>
          </a:p>
        </p:txBody>
      </p:sp>
      <p:sp>
        <p:nvSpPr>
          <p:cNvPr id="26" name="Rectangle 25"/>
          <p:cNvSpPr/>
          <p:nvPr/>
        </p:nvSpPr>
        <p:spPr>
          <a:xfrm>
            <a:off x="6263640" y="2258568"/>
            <a:ext cx="45720" cy="640080"/>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55080" y="2304287"/>
            <a:ext cx="5577840" cy="566928"/>
          </a:xfrm>
          <a:prstGeom prst="rect">
            <a:avLst/>
          </a:prstGeom>
          <a:noFill/>
        </p:spPr>
        <p:txBody>
          <a:bodyPr wrap="square">
            <a:spAutoFit/>
          </a:bodyPr>
          <a:lstStyle/>
          <a:p>
            <a:pPr algn="l"/>
            <a:r>
              <a:rPr sz="1050" b="0" i="0">
                <a:solidFill>
                  <a:srgbClr val="333333"/>
                </a:solidFill>
              </a:rPr>
              <a:t>Identified life insurance, annuities &amp; single-premium products as high-risk AML vectors; introduced insurance-specific typologies.</a:t>
            </a:r>
          </a:p>
        </p:txBody>
      </p:sp>
      <p:sp>
        <p:nvSpPr>
          <p:cNvPr id="28" name="Rectangle 27"/>
          <p:cNvSpPr/>
          <p:nvPr/>
        </p:nvSpPr>
        <p:spPr>
          <a:xfrm>
            <a:off x="228600" y="2916935"/>
            <a:ext cx="1170432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28600" y="2916935"/>
            <a:ext cx="475488" cy="64008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28600" y="3054095"/>
            <a:ext cx="475488" cy="384048"/>
          </a:xfrm>
          <a:prstGeom prst="rect">
            <a:avLst/>
          </a:prstGeom>
          <a:noFill/>
        </p:spPr>
        <p:txBody>
          <a:bodyPr wrap="square">
            <a:spAutoFit/>
          </a:bodyPr>
          <a:lstStyle/>
          <a:p>
            <a:pPr algn="ctr"/>
            <a:r>
              <a:rPr sz="1400" b="1" i="0">
                <a:solidFill>
                  <a:srgbClr val="FFFFFF"/>
                </a:solidFill>
              </a:rPr>
              <a:t>3</a:t>
            </a:r>
          </a:p>
        </p:txBody>
      </p:sp>
      <p:sp>
        <p:nvSpPr>
          <p:cNvPr id="31" name="TextBox 30"/>
          <p:cNvSpPr txBox="1"/>
          <p:nvPr/>
        </p:nvSpPr>
        <p:spPr>
          <a:xfrm>
            <a:off x="777240" y="2935223"/>
            <a:ext cx="3474720" cy="274320"/>
          </a:xfrm>
          <a:prstGeom prst="rect">
            <a:avLst/>
          </a:prstGeom>
          <a:noFill/>
        </p:spPr>
        <p:txBody>
          <a:bodyPr wrap="square">
            <a:spAutoFit/>
          </a:bodyPr>
          <a:lstStyle/>
          <a:p>
            <a:pPr algn="l"/>
            <a:r>
              <a:rPr sz="1000" b="1" i="0">
                <a:solidFill>
                  <a:srgbClr val="0D2B55"/>
                </a:solidFill>
              </a:rPr>
              <a:t>Schott, P.A. (2006)</a:t>
            </a:r>
          </a:p>
        </p:txBody>
      </p:sp>
      <p:sp>
        <p:nvSpPr>
          <p:cNvPr id="32" name="TextBox 31"/>
          <p:cNvSpPr txBox="1"/>
          <p:nvPr/>
        </p:nvSpPr>
        <p:spPr>
          <a:xfrm>
            <a:off x="777240" y="3209543"/>
            <a:ext cx="5303520" cy="292608"/>
          </a:xfrm>
          <a:prstGeom prst="rect">
            <a:avLst/>
          </a:prstGeom>
          <a:noFill/>
        </p:spPr>
        <p:txBody>
          <a:bodyPr wrap="square">
            <a:spAutoFit/>
          </a:bodyPr>
          <a:lstStyle/>
          <a:p>
            <a:pPr algn="l"/>
            <a:r>
              <a:rPr sz="1000" b="0" i="1">
                <a:solidFill>
                  <a:srgbClr val="333333"/>
                </a:solidFill>
              </a:rPr>
              <a:t>Reference Guide to Anti-Money Laundering and Combating the Financing of Terrorism</a:t>
            </a:r>
          </a:p>
        </p:txBody>
      </p:sp>
      <p:sp>
        <p:nvSpPr>
          <p:cNvPr id="33" name="Rectangle 32"/>
          <p:cNvSpPr/>
          <p:nvPr/>
        </p:nvSpPr>
        <p:spPr>
          <a:xfrm>
            <a:off x="6263640" y="2916935"/>
            <a:ext cx="45720" cy="640080"/>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55080" y="2962655"/>
            <a:ext cx="5577840" cy="566928"/>
          </a:xfrm>
          <a:prstGeom prst="rect">
            <a:avLst/>
          </a:prstGeom>
          <a:noFill/>
        </p:spPr>
        <p:txBody>
          <a:bodyPr wrap="square">
            <a:spAutoFit/>
          </a:bodyPr>
          <a:lstStyle/>
          <a:p>
            <a:pPr algn="l"/>
            <a:r>
              <a:rPr sz="1050" b="0" i="0">
                <a:solidFill>
                  <a:srgbClr val="333333"/>
                </a:solidFill>
              </a:rPr>
              <a:t>Comprehensive framework for AML/CFT; documented fictitious claim abuse and nominee policy arrangements in insurance.</a:t>
            </a:r>
          </a:p>
        </p:txBody>
      </p:sp>
      <p:sp>
        <p:nvSpPr>
          <p:cNvPr id="35" name="Rectangle 34"/>
          <p:cNvSpPr/>
          <p:nvPr/>
        </p:nvSpPr>
        <p:spPr>
          <a:xfrm>
            <a:off x="228600" y="3575303"/>
            <a:ext cx="11704320" cy="640080"/>
          </a:xfrm>
          <a:prstGeom prst="rect">
            <a:avLst/>
          </a:prstGeom>
          <a:solidFill>
            <a:srgbClr val="E8F0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228600" y="3575303"/>
            <a:ext cx="475488" cy="64008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28600" y="3712463"/>
            <a:ext cx="475488" cy="384048"/>
          </a:xfrm>
          <a:prstGeom prst="rect">
            <a:avLst/>
          </a:prstGeom>
          <a:noFill/>
        </p:spPr>
        <p:txBody>
          <a:bodyPr wrap="square">
            <a:spAutoFit/>
          </a:bodyPr>
          <a:lstStyle/>
          <a:p>
            <a:pPr algn="ctr"/>
            <a:r>
              <a:rPr sz="1400" b="1" i="0">
                <a:solidFill>
                  <a:srgbClr val="FFFFFF"/>
                </a:solidFill>
              </a:rPr>
              <a:t>4</a:t>
            </a:r>
          </a:p>
        </p:txBody>
      </p:sp>
      <p:sp>
        <p:nvSpPr>
          <p:cNvPr id="38" name="TextBox 37"/>
          <p:cNvSpPr txBox="1"/>
          <p:nvPr/>
        </p:nvSpPr>
        <p:spPr>
          <a:xfrm>
            <a:off x="777240" y="3593591"/>
            <a:ext cx="3474720" cy="274320"/>
          </a:xfrm>
          <a:prstGeom prst="rect">
            <a:avLst/>
          </a:prstGeom>
          <a:noFill/>
        </p:spPr>
        <p:txBody>
          <a:bodyPr wrap="square">
            <a:spAutoFit/>
          </a:bodyPr>
          <a:lstStyle/>
          <a:p>
            <a:pPr algn="l"/>
            <a:r>
              <a:rPr sz="1000" b="1" i="0">
                <a:solidFill>
                  <a:srgbClr val="0D2B55"/>
                </a:solidFill>
              </a:rPr>
              <a:t>IAIS (2013)</a:t>
            </a:r>
          </a:p>
        </p:txBody>
      </p:sp>
      <p:sp>
        <p:nvSpPr>
          <p:cNvPr id="39" name="TextBox 38"/>
          <p:cNvSpPr txBox="1"/>
          <p:nvPr/>
        </p:nvSpPr>
        <p:spPr>
          <a:xfrm>
            <a:off x="777240" y="3867911"/>
            <a:ext cx="5303520" cy="292608"/>
          </a:xfrm>
          <a:prstGeom prst="rect">
            <a:avLst/>
          </a:prstGeom>
          <a:noFill/>
        </p:spPr>
        <p:txBody>
          <a:bodyPr wrap="square">
            <a:spAutoFit/>
          </a:bodyPr>
          <a:lstStyle/>
          <a:p>
            <a:pPr algn="l"/>
            <a:r>
              <a:rPr sz="1000" b="0" i="1">
                <a:solidFill>
                  <a:srgbClr val="333333"/>
                </a:solidFill>
              </a:rPr>
              <a:t>Application Paper on AML/CFT in the Insurance Sector</a:t>
            </a:r>
          </a:p>
        </p:txBody>
      </p:sp>
      <p:sp>
        <p:nvSpPr>
          <p:cNvPr id="40" name="Rectangle 39"/>
          <p:cNvSpPr/>
          <p:nvPr/>
        </p:nvSpPr>
        <p:spPr>
          <a:xfrm>
            <a:off x="6263640" y="3575303"/>
            <a:ext cx="45720" cy="640080"/>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55080" y="3621023"/>
            <a:ext cx="5577840" cy="566928"/>
          </a:xfrm>
          <a:prstGeom prst="rect">
            <a:avLst/>
          </a:prstGeom>
          <a:noFill/>
        </p:spPr>
        <p:txBody>
          <a:bodyPr wrap="square">
            <a:spAutoFit/>
          </a:bodyPr>
          <a:lstStyle/>
          <a:p>
            <a:pPr algn="l"/>
            <a:r>
              <a:rPr sz="1050" b="0" i="0">
                <a:solidFill>
                  <a:srgbClr val="333333"/>
                </a:solidFill>
              </a:rPr>
              <a:t>Mapped insurance product risk; recommended risk-based CDD and STR filing obligations for insurers and intermediaries.</a:t>
            </a:r>
          </a:p>
        </p:txBody>
      </p:sp>
      <p:sp>
        <p:nvSpPr>
          <p:cNvPr id="42" name="Rectangle 41"/>
          <p:cNvSpPr/>
          <p:nvPr/>
        </p:nvSpPr>
        <p:spPr>
          <a:xfrm>
            <a:off x="228600" y="4233671"/>
            <a:ext cx="1170432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228600" y="4233671"/>
            <a:ext cx="475488" cy="64008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28600" y="4370831"/>
            <a:ext cx="475488" cy="384048"/>
          </a:xfrm>
          <a:prstGeom prst="rect">
            <a:avLst/>
          </a:prstGeom>
          <a:noFill/>
        </p:spPr>
        <p:txBody>
          <a:bodyPr wrap="square">
            <a:spAutoFit/>
          </a:bodyPr>
          <a:lstStyle/>
          <a:p>
            <a:pPr algn="ctr"/>
            <a:r>
              <a:rPr sz="1400" b="1" i="0">
                <a:solidFill>
                  <a:srgbClr val="FFFFFF"/>
                </a:solidFill>
              </a:rPr>
              <a:t>5</a:t>
            </a:r>
          </a:p>
        </p:txBody>
      </p:sp>
      <p:sp>
        <p:nvSpPr>
          <p:cNvPr id="45" name="TextBox 44"/>
          <p:cNvSpPr txBox="1"/>
          <p:nvPr/>
        </p:nvSpPr>
        <p:spPr>
          <a:xfrm>
            <a:off x="777240" y="4251959"/>
            <a:ext cx="3474720" cy="274320"/>
          </a:xfrm>
          <a:prstGeom prst="rect">
            <a:avLst/>
          </a:prstGeom>
          <a:noFill/>
        </p:spPr>
        <p:txBody>
          <a:bodyPr wrap="square">
            <a:spAutoFit/>
          </a:bodyPr>
          <a:lstStyle/>
          <a:p>
            <a:pPr algn="l"/>
            <a:r>
              <a:rPr sz="1000" b="1" i="0">
                <a:solidFill>
                  <a:srgbClr val="0D2B55"/>
                </a:solidFill>
              </a:rPr>
              <a:t>Unger &amp; den Hertog (2012)</a:t>
            </a:r>
          </a:p>
        </p:txBody>
      </p:sp>
      <p:sp>
        <p:nvSpPr>
          <p:cNvPr id="46" name="TextBox 45"/>
          <p:cNvSpPr txBox="1"/>
          <p:nvPr/>
        </p:nvSpPr>
        <p:spPr>
          <a:xfrm>
            <a:off x="777240" y="4526279"/>
            <a:ext cx="5303520" cy="292608"/>
          </a:xfrm>
          <a:prstGeom prst="rect">
            <a:avLst/>
          </a:prstGeom>
          <a:noFill/>
        </p:spPr>
        <p:txBody>
          <a:bodyPr wrap="square">
            <a:spAutoFit/>
          </a:bodyPr>
          <a:lstStyle/>
          <a:p>
            <a:pPr algn="l"/>
            <a:r>
              <a:rPr sz="1000" b="0" i="1">
                <a:solidFill>
                  <a:srgbClr val="333333"/>
                </a:solidFill>
              </a:rPr>
              <a:t>Water Always Finds Its Way: Identifying New Forms of Money Laundering</a:t>
            </a:r>
          </a:p>
        </p:txBody>
      </p:sp>
      <p:sp>
        <p:nvSpPr>
          <p:cNvPr id="47" name="Rectangle 46"/>
          <p:cNvSpPr/>
          <p:nvPr/>
        </p:nvSpPr>
        <p:spPr>
          <a:xfrm>
            <a:off x="6263640" y="4233671"/>
            <a:ext cx="45720" cy="640080"/>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355080" y="4279391"/>
            <a:ext cx="5577840" cy="566928"/>
          </a:xfrm>
          <a:prstGeom prst="rect">
            <a:avLst/>
          </a:prstGeom>
          <a:noFill/>
        </p:spPr>
        <p:txBody>
          <a:bodyPr wrap="square">
            <a:spAutoFit/>
          </a:bodyPr>
          <a:lstStyle/>
          <a:p>
            <a:pPr algn="l"/>
            <a:r>
              <a:rPr sz="1050" b="0" i="0">
                <a:solidFill>
                  <a:srgbClr val="333333"/>
                </a:solidFill>
              </a:rPr>
              <a:t>Estimated global ML at 2–5% of GDP annually; demonstrated shift of criminal funds toward insurance sector.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97280"/>
            <a:ext cx="12188952" cy="64008"/>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61288"/>
            <a:ext cx="12188952" cy="5696712"/>
          </a:xfrm>
          <a:prstGeom prst="rect">
            <a:avLst/>
          </a:prstGeom>
          <a:solidFill>
            <a:srgbClr val="F2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91440"/>
            <a:ext cx="11430000" cy="914400"/>
          </a:xfrm>
          <a:prstGeom prst="rect">
            <a:avLst/>
          </a:prstGeom>
          <a:noFill/>
        </p:spPr>
        <p:txBody>
          <a:bodyPr wrap="square">
            <a:spAutoFit/>
          </a:bodyPr>
          <a:lstStyle/>
          <a:p>
            <a:pPr algn="l"/>
            <a:r>
              <a:rPr sz="2800" b="1" i="0">
                <a:solidFill>
                  <a:srgbClr val="FFFFFF"/>
                </a:solidFill>
              </a:rPr>
              <a:t>Literature Review — Part 2</a:t>
            </a:r>
          </a:p>
        </p:txBody>
      </p:sp>
      <p:sp>
        <p:nvSpPr>
          <p:cNvPr id="6" name="TextBox 5"/>
          <p:cNvSpPr txBox="1"/>
          <p:nvPr/>
        </p:nvSpPr>
        <p:spPr>
          <a:xfrm>
            <a:off x="274320" y="685800"/>
            <a:ext cx="11430000" cy="411480"/>
          </a:xfrm>
          <a:prstGeom prst="rect">
            <a:avLst/>
          </a:prstGeom>
          <a:noFill/>
        </p:spPr>
        <p:txBody>
          <a:bodyPr wrap="square">
            <a:spAutoFit/>
          </a:bodyPr>
          <a:lstStyle/>
          <a:p>
            <a:pPr algn="l"/>
            <a:r>
              <a:rPr sz="1400" b="0" i="0">
                <a:solidFill>
                  <a:srgbClr val="F0A500"/>
                </a:solidFill>
              </a:rPr>
              <a:t>Papers 6–10: Insurance-Specific Typologies &amp; Vulnerabilities</a:t>
            </a:r>
          </a:p>
        </p:txBody>
      </p:sp>
      <p:sp>
        <p:nvSpPr>
          <p:cNvPr id="7" name="Rectangle 6"/>
          <p:cNvSpPr/>
          <p:nvPr/>
        </p:nvSpPr>
        <p:spPr>
          <a:xfrm>
            <a:off x="0" y="1161288"/>
            <a:ext cx="12188952" cy="5696712"/>
          </a:xfrm>
          <a:prstGeom prst="rect">
            <a:avLst/>
          </a:prstGeom>
          <a:solidFill>
            <a:srgbClr val="F2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28600" y="1234440"/>
            <a:ext cx="475488" cy="32004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28600" y="1234440"/>
            <a:ext cx="475488" cy="320040"/>
          </a:xfrm>
          <a:prstGeom prst="rect">
            <a:avLst/>
          </a:prstGeom>
          <a:noFill/>
        </p:spPr>
        <p:txBody>
          <a:bodyPr wrap="square">
            <a:spAutoFit/>
          </a:bodyPr>
          <a:lstStyle/>
          <a:p>
            <a:pPr algn="ctr"/>
            <a:r>
              <a:rPr sz="1100" b="1" i="0">
                <a:solidFill>
                  <a:srgbClr val="FFFFFF"/>
                </a:solidFill>
              </a:rPr>
              <a:t>#</a:t>
            </a:r>
          </a:p>
        </p:txBody>
      </p:sp>
      <p:sp>
        <p:nvSpPr>
          <p:cNvPr id="10" name="Rectangle 9"/>
          <p:cNvSpPr/>
          <p:nvPr/>
        </p:nvSpPr>
        <p:spPr>
          <a:xfrm>
            <a:off x="777240" y="1234440"/>
            <a:ext cx="5303520" cy="32004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1234440"/>
            <a:ext cx="5120640" cy="320040"/>
          </a:xfrm>
          <a:prstGeom prst="rect">
            <a:avLst/>
          </a:prstGeom>
          <a:noFill/>
        </p:spPr>
        <p:txBody>
          <a:bodyPr wrap="square">
            <a:spAutoFit/>
          </a:bodyPr>
          <a:lstStyle/>
          <a:p>
            <a:pPr algn="l"/>
            <a:r>
              <a:rPr sz="1100" b="1" i="0">
                <a:solidFill>
                  <a:srgbClr val="FFFFFF"/>
                </a:solidFill>
              </a:rPr>
              <a:t>Reference / Title</a:t>
            </a:r>
          </a:p>
        </p:txBody>
      </p:sp>
      <p:sp>
        <p:nvSpPr>
          <p:cNvPr id="12" name="Rectangle 11"/>
          <p:cNvSpPr/>
          <p:nvPr/>
        </p:nvSpPr>
        <p:spPr>
          <a:xfrm>
            <a:off x="6263640" y="1234440"/>
            <a:ext cx="5669280" cy="32004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1234440"/>
            <a:ext cx="5486400" cy="320040"/>
          </a:xfrm>
          <a:prstGeom prst="rect">
            <a:avLst/>
          </a:prstGeom>
          <a:noFill/>
        </p:spPr>
        <p:txBody>
          <a:bodyPr wrap="square">
            <a:spAutoFit/>
          </a:bodyPr>
          <a:lstStyle/>
          <a:p>
            <a:pPr algn="l"/>
            <a:r>
              <a:rPr sz="1100" b="1" i="0">
                <a:solidFill>
                  <a:srgbClr val="FFFFFF"/>
                </a:solidFill>
              </a:rPr>
              <a:t>Key Finding / Contribution</a:t>
            </a:r>
          </a:p>
        </p:txBody>
      </p:sp>
      <p:sp>
        <p:nvSpPr>
          <p:cNvPr id="14" name="Rectangle 13"/>
          <p:cNvSpPr/>
          <p:nvPr/>
        </p:nvSpPr>
        <p:spPr>
          <a:xfrm>
            <a:off x="228600" y="1600200"/>
            <a:ext cx="11704320" cy="640080"/>
          </a:xfrm>
          <a:prstGeom prst="rect">
            <a:avLst/>
          </a:prstGeom>
          <a:solidFill>
            <a:srgbClr val="E8F0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28600" y="1600200"/>
            <a:ext cx="475488" cy="64008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28600" y="1737360"/>
            <a:ext cx="475488" cy="384048"/>
          </a:xfrm>
          <a:prstGeom prst="rect">
            <a:avLst/>
          </a:prstGeom>
          <a:noFill/>
        </p:spPr>
        <p:txBody>
          <a:bodyPr wrap="square">
            <a:spAutoFit/>
          </a:bodyPr>
          <a:lstStyle/>
          <a:p>
            <a:pPr algn="ctr"/>
            <a:r>
              <a:rPr sz="1400" b="1" i="0">
                <a:solidFill>
                  <a:srgbClr val="FFFFFF"/>
                </a:solidFill>
              </a:rPr>
              <a:t>6</a:t>
            </a:r>
          </a:p>
        </p:txBody>
      </p:sp>
      <p:sp>
        <p:nvSpPr>
          <p:cNvPr id="17" name="TextBox 16"/>
          <p:cNvSpPr txBox="1"/>
          <p:nvPr/>
        </p:nvSpPr>
        <p:spPr>
          <a:xfrm>
            <a:off x="777240" y="1618488"/>
            <a:ext cx="3474720" cy="274320"/>
          </a:xfrm>
          <a:prstGeom prst="rect">
            <a:avLst/>
          </a:prstGeom>
          <a:noFill/>
        </p:spPr>
        <p:txBody>
          <a:bodyPr wrap="square">
            <a:spAutoFit/>
          </a:bodyPr>
          <a:lstStyle/>
          <a:p>
            <a:pPr algn="l"/>
            <a:r>
              <a:rPr sz="1000" b="1" i="0">
                <a:solidFill>
                  <a:srgbClr val="0D2B55"/>
                </a:solidFill>
              </a:rPr>
              <a:t>Levi &amp; Reuter (2006)</a:t>
            </a:r>
          </a:p>
        </p:txBody>
      </p:sp>
      <p:sp>
        <p:nvSpPr>
          <p:cNvPr id="18" name="TextBox 17"/>
          <p:cNvSpPr txBox="1"/>
          <p:nvPr/>
        </p:nvSpPr>
        <p:spPr>
          <a:xfrm>
            <a:off x="777240" y="1892807"/>
            <a:ext cx="5303520" cy="292608"/>
          </a:xfrm>
          <a:prstGeom prst="rect">
            <a:avLst/>
          </a:prstGeom>
          <a:noFill/>
        </p:spPr>
        <p:txBody>
          <a:bodyPr wrap="square">
            <a:spAutoFit/>
          </a:bodyPr>
          <a:lstStyle/>
          <a:p>
            <a:pPr algn="l"/>
            <a:r>
              <a:rPr sz="1000" b="0" i="1">
                <a:solidFill>
                  <a:srgbClr val="333333"/>
                </a:solidFill>
              </a:rPr>
              <a:t>Money Laundering — Annual Review of Law and Social Science</a:t>
            </a:r>
          </a:p>
        </p:txBody>
      </p:sp>
      <p:sp>
        <p:nvSpPr>
          <p:cNvPr id="19" name="Rectangle 18"/>
          <p:cNvSpPr/>
          <p:nvPr/>
        </p:nvSpPr>
        <p:spPr>
          <a:xfrm>
            <a:off x="6263640" y="1600200"/>
            <a:ext cx="45720" cy="640080"/>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55080" y="1645920"/>
            <a:ext cx="5577840" cy="566928"/>
          </a:xfrm>
          <a:prstGeom prst="rect">
            <a:avLst/>
          </a:prstGeom>
          <a:noFill/>
        </p:spPr>
        <p:txBody>
          <a:bodyPr wrap="square">
            <a:spAutoFit/>
          </a:bodyPr>
          <a:lstStyle/>
          <a:p>
            <a:pPr algn="l"/>
            <a:r>
              <a:rPr sz="1050" b="0" i="0">
                <a:solidFill>
                  <a:srgbClr val="333333"/>
                </a:solidFill>
              </a:rPr>
              <a:t>Analyzed structural factors enabling layering; identified long product durations in insurance as layering facilitators.</a:t>
            </a:r>
          </a:p>
        </p:txBody>
      </p:sp>
      <p:sp>
        <p:nvSpPr>
          <p:cNvPr id="21" name="Rectangle 20"/>
          <p:cNvSpPr/>
          <p:nvPr/>
        </p:nvSpPr>
        <p:spPr>
          <a:xfrm>
            <a:off x="228600" y="2258568"/>
            <a:ext cx="1170432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28600" y="2258568"/>
            <a:ext cx="475488" cy="64008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28600" y="2395727"/>
            <a:ext cx="475488" cy="384048"/>
          </a:xfrm>
          <a:prstGeom prst="rect">
            <a:avLst/>
          </a:prstGeom>
          <a:noFill/>
        </p:spPr>
        <p:txBody>
          <a:bodyPr wrap="square">
            <a:spAutoFit/>
          </a:bodyPr>
          <a:lstStyle/>
          <a:p>
            <a:pPr algn="ctr"/>
            <a:r>
              <a:rPr sz="1400" b="1" i="0">
                <a:solidFill>
                  <a:srgbClr val="FFFFFF"/>
                </a:solidFill>
              </a:rPr>
              <a:t>7</a:t>
            </a:r>
          </a:p>
        </p:txBody>
      </p:sp>
      <p:sp>
        <p:nvSpPr>
          <p:cNvPr id="24" name="TextBox 23"/>
          <p:cNvSpPr txBox="1"/>
          <p:nvPr/>
        </p:nvSpPr>
        <p:spPr>
          <a:xfrm>
            <a:off x="777240" y="2276856"/>
            <a:ext cx="3474720" cy="274320"/>
          </a:xfrm>
          <a:prstGeom prst="rect">
            <a:avLst/>
          </a:prstGeom>
          <a:noFill/>
        </p:spPr>
        <p:txBody>
          <a:bodyPr wrap="square">
            <a:spAutoFit/>
          </a:bodyPr>
          <a:lstStyle/>
          <a:p>
            <a:pPr algn="l"/>
            <a:r>
              <a:rPr sz="1000" b="1" i="0">
                <a:solidFill>
                  <a:srgbClr val="0D2B55"/>
                </a:solidFill>
              </a:rPr>
              <a:t>Gilmour, N. (2016)</a:t>
            </a:r>
          </a:p>
        </p:txBody>
      </p:sp>
      <p:sp>
        <p:nvSpPr>
          <p:cNvPr id="25" name="TextBox 24"/>
          <p:cNvSpPr txBox="1"/>
          <p:nvPr/>
        </p:nvSpPr>
        <p:spPr>
          <a:xfrm>
            <a:off x="777240" y="2551175"/>
            <a:ext cx="5303520" cy="292608"/>
          </a:xfrm>
          <a:prstGeom prst="rect">
            <a:avLst/>
          </a:prstGeom>
          <a:noFill/>
        </p:spPr>
        <p:txBody>
          <a:bodyPr wrap="square">
            <a:spAutoFit/>
          </a:bodyPr>
          <a:lstStyle/>
          <a:p>
            <a:pPr algn="l"/>
            <a:r>
              <a:rPr sz="1000" b="0" i="1">
                <a:solidFill>
                  <a:srgbClr val="333333"/>
                </a:solidFill>
              </a:rPr>
              <a:t>Understanding the True Cost of Financial Crime: A Focus on Insurance</a:t>
            </a:r>
          </a:p>
        </p:txBody>
      </p:sp>
      <p:sp>
        <p:nvSpPr>
          <p:cNvPr id="26" name="Rectangle 25"/>
          <p:cNvSpPr/>
          <p:nvPr/>
        </p:nvSpPr>
        <p:spPr>
          <a:xfrm>
            <a:off x="6263640" y="2258568"/>
            <a:ext cx="45720" cy="640080"/>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55080" y="2304287"/>
            <a:ext cx="5577840" cy="566928"/>
          </a:xfrm>
          <a:prstGeom prst="rect">
            <a:avLst/>
          </a:prstGeom>
          <a:noFill/>
        </p:spPr>
        <p:txBody>
          <a:bodyPr wrap="square">
            <a:spAutoFit/>
          </a:bodyPr>
          <a:lstStyle/>
          <a:p>
            <a:pPr algn="l"/>
            <a:r>
              <a:rPr sz="1050" b="0" i="0">
                <a:solidFill>
                  <a:srgbClr val="333333"/>
                </a:solidFill>
              </a:rPr>
              <a:t>Empirically assessed insurance fraud costs; linked premium over-payment and early surrender to laundering networks.</a:t>
            </a:r>
          </a:p>
        </p:txBody>
      </p:sp>
      <p:sp>
        <p:nvSpPr>
          <p:cNvPr id="28" name="Rectangle 27"/>
          <p:cNvSpPr/>
          <p:nvPr/>
        </p:nvSpPr>
        <p:spPr>
          <a:xfrm>
            <a:off x="228600" y="2916935"/>
            <a:ext cx="11704320" cy="640080"/>
          </a:xfrm>
          <a:prstGeom prst="rect">
            <a:avLst/>
          </a:prstGeom>
          <a:solidFill>
            <a:srgbClr val="E8F0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28600" y="2916935"/>
            <a:ext cx="475488" cy="64008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28600" y="3054095"/>
            <a:ext cx="475488" cy="384048"/>
          </a:xfrm>
          <a:prstGeom prst="rect">
            <a:avLst/>
          </a:prstGeom>
          <a:noFill/>
        </p:spPr>
        <p:txBody>
          <a:bodyPr wrap="square">
            <a:spAutoFit/>
          </a:bodyPr>
          <a:lstStyle/>
          <a:p>
            <a:pPr algn="ctr"/>
            <a:r>
              <a:rPr sz="1400" b="1" i="0">
                <a:solidFill>
                  <a:srgbClr val="FFFFFF"/>
                </a:solidFill>
              </a:rPr>
              <a:t>8</a:t>
            </a:r>
          </a:p>
        </p:txBody>
      </p:sp>
      <p:sp>
        <p:nvSpPr>
          <p:cNvPr id="31" name="TextBox 30"/>
          <p:cNvSpPr txBox="1"/>
          <p:nvPr/>
        </p:nvSpPr>
        <p:spPr>
          <a:xfrm>
            <a:off x="777240" y="2935223"/>
            <a:ext cx="3474720" cy="274320"/>
          </a:xfrm>
          <a:prstGeom prst="rect">
            <a:avLst/>
          </a:prstGeom>
          <a:noFill/>
        </p:spPr>
        <p:txBody>
          <a:bodyPr wrap="square">
            <a:spAutoFit/>
          </a:bodyPr>
          <a:lstStyle/>
          <a:p>
            <a:pPr algn="l"/>
            <a:r>
              <a:rPr sz="1000" b="1" i="0">
                <a:solidFill>
                  <a:srgbClr val="0D2B55"/>
                </a:solidFill>
              </a:rPr>
              <a:t>Teichmann, F.M.J. (2020)</a:t>
            </a:r>
          </a:p>
        </p:txBody>
      </p:sp>
      <p:sp>
        <p:nvSpPr>
          <p:cNvPr id="32" name="TextBox 31"/>
          <p:cNvSpPr txBox="1"/>
          <p:nvPr/>
        </p:nvSpPr>
        <p:spPr>
          <a:xfrm>
            <a:off x="777240" y="3209543"/>
            <a:ext cx="5303520" cy="292608"/>
          </a:xfrm>
          <a:prstGeom prst="rect">
            <a:avLst/>
          </a:prstGeom>
          <a:noFill/>
        </p:spPr>
        <p:txBody>
          <a:bodyPr wrap="square">
            <a:spAutoFit/>
          </a:bodyPr>
          <a:lstStyle/>
          <a:p>
            <a:pPr algn="l"/>
            <a:r>
              <a:rPr sz="1000" b="0" i="1">
                <a:solidFill>
                  <a:srgbClr val="333333"/>
                </a:solidFill>
              </a:rPr>
              <a:t>Money Laundering via Life Insurance</a:t>
            </a:r>
          </a:p>
        </p:txBody>
      </p:sp>
      <p:sp>
        <p:nvSpPr>
          <p:cNvPr id="33" name="Rectangle 32"/>
          <p:cNvSpPr/>
          <p:nvPr/>
        </p:nvSpPr>
        <p:spPr>
          <a:xfrm>
            <a:off x="6263640" y="2916935"/>
            <a:ext cx="45720" cy="640080"/>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55080" y="2962655"/>
            <a:ext cx="5577840" cy="566928"/>
          </a:xfrm>
          <a:prstGeom prst="rect">
            <a:avLst/>
          </a:prstGeom>
          <a:noFill/>
        </p:spPr>
        <p:txBody>
          <a:bodyPr wrap="square">
            <a:spAutoFit/>
          </a:bodyPr>
          <a:lstStyle/>
          <a:p>
            <a:pPr algn="l"/>
            <a:r>
              <a:rPr sz="1050" b="0" i="0">
                <a:solidFill>
                  <a:srgbClr val="333333"/>
                </a:solidFill>
              </a:rPr>
              <a:t>Documented 14 life-insurance laundering methods including policy loans, round-tripping, and reinsurance manipulation.</a:t>
            </a:r>
          </a:p>
        </p:txBody>
      </p:sp>
      <p:sp>
        <p:nvSpPr>
          <p:cNvPr id="35" name="Rectangle 34"/>
          <p:cNvSpPr/>
          <p:nvPr/>
        </p:nvSpPr>
        <p:spPr>
          <a:xfrm>
            <a:off x="228600" y="3575303"/>
            <a:ext cx="1170432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228600" y="3575303"/>
            <a:ext cx="475488" cy="64008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28600" y="3712463"/>
            <a:ext cx="475488" cy="384048"/>
          </a:xfrm>
          <a:prstGeom prst="rect">
            <a:avLst/>
          </a:prstGeom>
          <a:noFill/>
        </p:spPr>
        <p:txBody>
          <a:bodyPr wrap="square">
            <a:spAutoFit/>
          </a:bodyPr>
          <a:lstStyle/>
          <a:p>
            <a:pPr algn="ctr"/>
            <a:r>
              <a:rPr sz="1400" b="1" i="0">
                <a:solidFill>
                  <a:srgbClr val="FFFFFF"/>
                </a:solidFill>
              </a:rPr>
              <a:t>9</a:t>
            </a:r>
          </a:p>
        </p:txBody>
      </p:sp>
      <p:sp>
        <p:nvSpPr>
          <p:cNvPr id="38" name="TextBox 37"/>
          <p:cNvSpPr txBox="1"/>
          <p:nvPr/>
        </p:nvSpPr>
        <p:spPr>
          <a:xfrm>
            <a:off x="777240" y="3593591"/>
            <a:ext cx="3474720" cy="274320"/>
          </a:xfrm>
          <a:prstGeom prst="rect">
            <a:avLst/>
          </a:prstGeom>
          <a:noFill/>
        </p:spPr>
        <p:txBody>
          <a:bodyPr wrap="square">
            <a:spAutoFit/>
          </a:bodyPr>
          <a:lstStyle/>
          <a:p>
            <a:pPr algn="l"/>
            <a:r>
              <a:rPr sz="1000" b="1" i="0">
                <a:solidFill>
                  <a:srgbClr val="0D2B55"/>
                </a:solidFill>
              </a:rPr>
              <a:t>Colladon &amp; Remondi (2017)</a:t>
            </a:r>
          </a:p>
        </p:txBody>
      </p:sp>
      <p:sp>
        <p:nvSpPr>
          <p:cNvPr id="39" name="TextBox 38"/>
          <p:cNvSpPr txBox="1"/>
          <p:nvPr/>
        </p:nvSpPr>
        <p:spPr>
          <a:xfrm>
            <a:off x="777240" y="3867911"/>
            <a:ext cx="5303520" cy="292608"/>
          </a:xfrm>
          <a:prstGeom prst="rect">
            <a:avLst/>
          </a:prstGeom>
          <a:noFill/>
        </p:spPr>
        <p:txBody>
          <a:bodyPr wrap="square">
            <a:spAutoFit/>
          </a:bodyPr>
          <a:lstStyle/>
          <a:p>
            <a:pPr algn="l"/>
            <a:r>
              <a:rPr sz="1000" b="0" i="1">
                <a:solidFill>
                  <a:srgbClr val="333333"/>
                </a:solidFill>
              </a:rPr>
              <a:t>Using Social Network Analysis to Prevent Money Laundering</a:t>
            </a:r>
          </a:p>
        </p:txBody>
      </p:sp>
      <p:sp>
        <p:nvSpPr>
          <p:cNvPr id="40" name="Rectangle 39"/>
          <p:cNvSpPr/>
          <p:nvPr/>
        </p:nvSpPr>
        <p:spPr>
          <a:xfrm>
            <a:off x="6263640" y="3575303"/>
            <a:ext cx="45720" cy="640080"/>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55080" y="3621023"/>
            <a:ext cx="5577840" cy="566928"/>
          </a:xfrm>
          <a:prstGeom prst="rect">
            <a:avLst/>
          </a:prstGeom>
          <a:noFill/>
        </p:spPr>
        <p:txBody>
          <a:bodyPr wrap="square">
            <a:spAutoFit/>
          </a:bodyPr>
          <a:lstStyle/>
          <a:p>
            <a:pPr algn="l"/>
            <a:r>
              <a:rPr sz="1050" b="0" i="0">
                <a:solidFill>
                  <a:srgbClr val="333333"/>
                </a:solidFill>
              </a:rPr>
              <a:t>Applied SNA to insurance broker networks; broker clustering patterns correlated with SAR-flagged suspicious activity.</a:t>
            </a:r>
          </a:p>
        </p:txBody>
      </p:sp>
      <p:sp>
        <p:nvSpPr>
          <p:cNvPr id="42" name="Rectangle 41"/>
          <p:cNvSpPr/>
          <p:nvPr/>
        </p:nvSpPr>
        <p:spPr>
          <a:xfrm>
            <a:off x="228600" y="4233671"/>
            <a:ext cx="11704320" cy="640080"/>
          </a:xfrm>
          <a:prstGeom prst="rect">
            <a:avLst/>
          </a:prstGeom>
          <a:solidFill>
            <a:srgbClr val="E8F0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228600" y="4233671"/>
            <a:ext cx="475488" cy="64008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28600" y="4370831"/>
            <a:ext cx="475488" cy="384048"/>
          </a:xfrm>
          <a:prstGeom prst="rect">
            <a:avLst/>
          </a:prstGeom>
          <a:noFill/>
        </p:spPr>
        <p:txBody>
          <a:bodyPr wrap="square">
            <a:spAutoFit/>
          </a:bodyPr>
          <a:lstStyle/>
          <a:p>
            <a:pPr algn="ctr"/>
            <a:r>
              <a:rPr sz="1400" b="1" i="0">
                <a:solidFill>
                  <a:srgbClr val="FFFFFF"/>
                </a:solidFill>
              </a:rPr>
              <a:t>10</a:t>
            </a:r>
          </a:p>
        </p:txBody>
      </p:sp>
      <p:sp>
        <p:nvSpPr>
          <p:cNvPr id="45" name="TextBox 44"/>
          <p:cNvSpPr txBox="1"/>
          <p:nvPr/>
        </p:nvSpPr>
        <p:spPr>
          <a:xfrm>
            <a:off x="777240" y="4251959"/>
            <a:ext cx="3474720" cy="274320"/>
          </a:xfrm>
          <a:prstGeom prst="rect">
            <a:avLst/>
          </a:prstGeom>
          <a:noFill/>
        </p:spPr>
        <p:txBody>
          <a:bodyPr wrap="square">
            <a:spAutoFit/>
          </a:bodyPr>
          <a:lstStyle/>
          <a:p>
            <a:pPr algn="l"/>
            <a:r>
              <a:rPr sz="1000" b="1" i="0">
                <a:solidFill>
                  <a:srgbClr val="0D2B55"/>
                </a:solidFill>
              </a:rPr>
              <a:t>Gara, L. (2019)</a:t>
            </a:r>
          </a:p>
        </p:txBody>
      </p:sp>
      <p:sp>
        <p:nvSpPr>
          <p:cNvPr id="46" name="TextBox 45"/>
          <p:cNvSpPr txBox="1"/>
          <p:nvPr/>
        </p:nvSpPr>
        <p:spPr>
          <a:xfrm>
            <a:off x="777240" y="4526279"/>
            <a:ext cx="5303520" cy="292608"/>
          </a:xfrm>
          <a:prstGeom prst="rect">
            <a:avLst/>
          </a:prstGeom>
          <a:noFill/>
        </p:spPr>
        <p:txBody>
          <a:bodyPr wrap="square">
            <a:spAutoFit/>
          </a:bodyPr>
          <a:lstStyle/>
          <a:p>
            <a:pPr algn="l"/>
            <a:r>
              <a:rPr sz="1000" b="0" i="1">
                <a:solidFill>
                  <a:srgbClr val="333333"/>
                </a:solidFill>
              </a:rPr>
              <a:t>Beneficial Ownership and the Insurance Sector: Regulatory Gaps</a:t>
            </a:r>
          </a:p>
        </p:txBody>
      </p:sp>
      <p:sp>
        <p:nvSpPr>
          <p:cNvPr id="47" name="Rectangle 46"/>
          <p:cNvSpPr/>
          <p:nvPr/>
        </p:nvSpPr>
        <p:spPr>
          <a:xfrm>
            <a:off x="6263640" y="4233671"/>
            <a:ext cx="45720" cy="640080"/>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355080" y="4279391"/>
            <a:ext cx="5577840" cy="566928"/>
          </a:xfrm>
          <a:prstGeom prst="rect">
            <a:avLst/>
          </a:prstGeom>
          <a:noFill/>
        </p:spPr>
        <p:txBody>
          <a:bodyPr wrap="square">
            <a:spAutoFit/>
          </a:bodyPr>
          <a:lstStyle/>
          <a:p>
            <a:pPr algn="l"/>
            <a:r>
              <a:rPr sz="1050" b="0" i="0">
                <a:solidFill>
                  <a:srgbClr val="333333"/>
                </a:solidFill>
              </a:rPr>
              <a:t>Exposed inconsistent application of beneficial ownership rules in insurance; recommended uniform disclosure standards.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97280"/>
            <a:ext cx="12188952" cy="64008"/>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61288"/>
            <a:ext cx="12188952" cy="5696712"/>
          </a:xfrm>
          <a:prstGeom prst="rect">
            <a:avLst/>
          </a:prstGeom>
          <a:solidFill>
            <a:srgbClr val="F2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91440"/>
            <a:ext cx="11430000" cy="914400"/>
          </a:xfrm>
          <a:prstGeom prst="rect">
            <a:avLst/>
          </a:prstGeom>
          <a:noFill/>
        </p:spPr>
        <p:txBody>
          <a:bodyPr wrap="square">
            <a:spAutoFit/>
          </a:bodyPr>
          <a:lstStyle/>
          <a:p>
            <a:pPr algn="l"/>
            <a:r>
              <a:rPr sz="2800" b="1" i="0">
                <a:solidFill>
                  <a:srgbClr val="FFFFFF"/>
                </a:solidFill>
              </a:rPr>
              <a:t>Literature Review — Part 3</a:t>
            </a:r>
          </a:p>
        </p:txBody>
      </p:sp>
      <p:sp>
        <p:nvSpPr>
          <p:cNvPr id="6" name="TextBox 5"/>
          <p:cNvSpPr txBox="1"/>
          <p:nvPr/>
        </p:nvSpPr>
        <p:spPr>
          <a:xfrm>
            <a:off x="274320" y="685800"/>
            <a:ext cx="11430000" cy="411480"/>
          </a:xfrm>
          <a:prstGeom prst="rect">
            <a:avLst/>
          </a:prstGeom>
          <a:noFill/>
        </p:spPr>
        <p:txBody>
          <a:bodyPr wrap="square">
            <a:spAutoFit/>
          </a:bodyPr>
          <a:lstStyle/>
          <a:p>
            <a:pPr algn="l"/>
            <a:r>
              <a:rPr sz="1400" b="0" i="0">
                <a:solidFill>
                  <a:srgbClr val="F0A500"/>
                </a:solidFill>
              </a:rPr>
              <a:t>Papers 11–15: Machine Learning for Financial Crime Detection</a:t>
            </a:r>
          </a:p>
        </p:txBody>
      </p:sp>
      <p:sp>
        <p:nvSpPr>
          <p:cNvPr id="7" name="Rectangle 6"/>
          <p:cNvSpPr/>
          <p:nvPr/>
        </p:nvSpPr>
        <p:spPr>
          <a:xfrm>
            <a:off x="0" y="1161288"/>
            <a:ext cx="12188952" cy="5696712"/>
          </a:xfrm>
          <a:prstGeom prst="rect">
            <a:avLst/>
          </a:prstGeom>
          <a:solidFill>
            <a:srgbClr val="F2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28600" y="1234440"/>
            <a:ext cx="475488" cy="32004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28600" y="1234440"/>
            <a:ext cx="475488" cy="320040"/>
          </a:xfrm>
          <a:prstGeom prst="rect">
            <a:avLst/>
          </a:prstGeom>
          <a:noFill/>
        </p:spPr>
        <p:txBody>
          <a:bodyPr wrap="square">
            <a:spAutoFit/>
          </a:bodyPr>
          <a:lstStyle/>
          <a:p>
            <a:pPr algn="ctr"/>
            <a:r>
              <a:rPr sz="1100" b="1" i="0">
                <a:solidFill>
                  <a:srgbClr val="FFFFFF"/>
                </a:solidFill>
              </a:rPr>
              <a:t>#</a:t>
            </a:r>
          </a:p>
        </p:txBody>
      </p:sp>
      <p:sp>
        <p:nvSpPr>
          <p:cNvPr id="10" name="Rectangle 9"/>
          <p:cNvSpPr/>
          <p:nvPr/>
        </p:nvSpPr>
        <p:spPr>
          <a:xfrm>
            <a:off x="777240" y="1234440"/>
            <a:ext cx="5303520" cy="32004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1234440"/>
            <a:ext cx="5120640" cy="320040"/>
          </a:xfrm>
          <a:prstGeom prst="rect">
            <a:avLst/>
          </a:prstGeom>
          <a:noFill/>
        </p:spPr>
        <p:txBody>
          <a:bodyPr wrap="square">
            <a:spAutoFit/>
          </a:bodyPr>
          <a:lstStyle/>
          <a:p>
            <a:pPr algn="l"/>
            <a:r>
              <a:rPr sz="1100" b="1" i="0">
                <a:solidFill>
                  <a:srgbClr val="FFFFFF"/>
                </a:solidFill>
              </a:rPr>
              <a:t>Reference / Title</a:t>
            </a:r>
          </a:p>
        </p:txBody>
      </p:sp>
      <p:sp>
        <p:nvSpPr>
          <p:cNvPr id="12" name="Rectangle 11"/>
          <p:cNvSpPr/>
          <p:nvPr/>
        </p:nvSpPr>
        <p:spPr>
          <a:xfrm>
            <a:off x="6263640" y="1234440"/>
            <a:ext cx="5669280" cy="32004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1234440"/>
            <a:ext cx="5486400" cy="320040"/>
          </a:xfrm>
          <a:prstGeom prst="rect">
            <a:avLst/>
          </a:prstGeom>
          <a:noFill/>
        </p:spPr>
        <p:txBody>
          <a:bodyPr wrap="square">
            <a:spAutoFit/>
          </a:bodyPr>
          <a:lstStyle/>
          <a:p>
            <a:pPr algn="l"/>
            <a:r>
              <a:rPr sz="1100" b="1" i="0">
                <a:solidFill>
                  <a:srgbClr val="FFFFFF"/>
                </a:solidFill>
              </a:rPr>
              <a:t>Key Finding / Contribution</a:t>
            </a:r>
          </a:p>
        </p:txBody>
      </p:sp>
      <p:sp>
        <p:nvSpPr>
          <p:cNvPr id="14" name="Rectangle 13"/>
          <p:cNvSpPr/>
          <p:nvPr/>
        </p:nvSpPr>
        <p:spPr>
          <a:xfrm>
            <a:off x="228600" y="1600200"/>
            <a:ext cx="1170432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28600" y="1600200"/>
            <a:ext cx="475488" cy="64008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28600" y="1737360"/>
            <a:ext cx="475488" cy="384048"/>
          </a:xfrm>
          <a:prstGeom prst="rect">
            <a:avLst/>
          </a:prstGeom>
          <a:noFill/>
        </p:spPr>
        <p:txBody>
          <a:bodyPr wrap="square">
            <a:spAutoFit/>
          </a:bodyPr>
          <a:lstStyle/>
          <a:p>
            <a:pPr algn="ctr"/>
            <a:r>
              <a:rPr sz="1400" b="1" i="0">
                <a:solidFill>
                  <a:srgbClr val="FFFFFF"/>
                </a:solidFill>
              </a:rPr>
              <a:t>11</a:t>
            </a:r>
          </a:p>
        </p:txBody>
      </p:sp>
      <p:sp>
        <p:nvSpPr>
          <p:cNvPr id="17" name="TextBox 16"/>
          <p:cNvSpPr txBox="1"/>
          <p:nvPr/>
        </p:nvSpPr>
        <p:spPr>
          <a:xfrm>
            <a:off x="777240" y="1618488"/>
            <a:ext cx="3474720" cy="274320"/>
          </a:xfrm>
          <a:prstGeom prst="rect">
            <a:avLst/>
          </a:prstGeom>
          <a:noFill/>
        </p:spPr>
        <p:txBody>
          <a:bodyPr wrap="square">
            <a:spAutoFit/>
          </a:bodyPr>
          <a:lstStyle/>
          <a:p>
            <a:pPr algn="l"/>
            <a:r>
              <a:rPr sz="1000" b="1" i="0">
                <a:solidFill>
                  <a:srgbClr val="0D2B55"/>
                </a:solidFill>
              </a:rPr>
              <a:t>Bhattacharyya et al. (2011)</a:t>
            </a:r>
          </a:p>
        </p:txBody>
      </p:sp>
      <p:sp>
        <p:nvSpPr>
          <p:cNvPr id="18" name="TextBox 17"/>
          <p:cNvSpPr txBox="1"/>
          <p:nvPr/>
        </p:nvSpPr>
        <p:spPr>
          <a:xfrm>
            <a:off x="777240" y="1892807"/>
            <a:ext cx="5303520" cy="292608"/>
          </a:xfrm>
          <a:prstGeom prst="rect">
            <a:avLst/>
          </a:prstGeom>
          <a:noFill/>
        </p:spPr>
        <p:txBody>
          <a:bodyPr wrap="square">
            <a:spAutoFit/>
          </a:bodyPr>
          <a:lstStyle/>
          <a:p>
            <a:pPr algn="l"/>
            <a:r>
              <a:rPr sz="1000" b="0" i="1">
                <a:solidFill>
                  <a:srgbClr val="333333"/>
                </a:solidFill>
              </a:rPr>
              <a:t>Data Mining for Credit Card Fraud: A Comparative Study</a:t>
            </a:r>
          </a:p>
        </p:txBody>
      </p:sp>
      <p:sp>
        <p:nvSpPr>
          <p:cNvPr id="19" name="Rectangle 18"/>
          <p:cNvSpPr/>
          <p:nvPr/>
        </p:nvSpPr>
        <p:spPr>
          <a:xfrm>
            <a:off x="6263640" y="1600200"/>
            <a:ext cx="45720" cy="640080"/>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55080" y="1645920"/>
            <a:ext cx="5577840" cy="566928"/>
          </a:xfrm>
          <a:prstGeom prst="rect">
            <a:avLst/>
          </a:prstGeom>
          <a:noFill/>
        </p:spPr>
        <p:txBody>
          <a:bodyPr wrap="square">
            <a:spAutoFit/>
          </a:bodyPr>
          <a:lstStyle/>
          <a:p>
            <a:pPr algn="l"/>
            <a:r>
              <a:rPr sz="1050" b="0" i="0">
                <a:solidFill>
                  <a:srgbClr val="333333"/>
                </a:solidFill>
              </a:rPr>
              <a:t>Demonstrated Random Forest outperforms logistic regression and decision trees for financial fraud classification.</a:t>
            </a:r>
          </a:p>
        </p:txBody>
      </p:sp>
      <p:sp>
        <p:nvSpPr>
          <p:cNvPr id="21" name="Rectangle 20"/>
          <p:cNvSpPr/>
          <p:nvPr/>
        </p:nvSpPr>
        <p:spPr>
          <a:xfrm>
            <a:off x="228600" y="2258568"/>
            <a:ext cx="11704320" cy="640080"/>
          </a:xfrm>
          <a:prstGeom prst="rect">
            <a:avLst/>
          </a:prstGeom>
          <a:solidFill>
            <a:srgbClr val="E8F0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28600" y="2258568"/>
            <a:ext cx="475488" cy="64008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28600" y="2395727"/>
            <a:ext cx="475488" cy="384048"/>
          </a:xfrm>
          <a:prstGeom prst="rect">
            <a:avLst/>
          </a:prstGeom>
          <a:noFill/>
        </p:spPr>
        <p:txBody>
          <a:bodyPr wrap="square">
            <a:spAutoFit/>
          </a:bodyPr>
          <a:lstStyle/>
          <a:p>
            <a:pPr algn="ctr"/>
            <a:r>
              <a:rPr sz="1400" b="1" i="0">
                <a:solidFill>
                  <a:srgbClr val="FFFFFF"/>
                </a:solidFill>
              </a:rPr>
              <a:t>12</a:t>
            </a:r>
          </a:p>
        </p:txBody>
      </p:sp>
      <p:sp>
        <p:nvSpPr>
          <p:cNvPr id="24" name="TextBox 23"/>
          <p:cNvSpPr txBox="1"/>
          <p:nvPr/>
        </p:nvSpPr>
        <p:spPr>
          <a:xfrm>
            <a:off x="777240" y="2276856"/>
            <a:ext cx="3474720" cy="274320"/>
          </a:xfrm>
          <a:prstGeom prst="rect">
            <a:avLst/>
          </a:prstGeom>
          <a:noFill/>
        </p:spPr>
        <p:txBody>
          <a:bodyPr wrap="square">
            <a:spAutoFit/>
          </a:bodyPr>
          <a:lstStyle/>
          <a:p>
            <a:pPr algn="l"/>
            <a:r>
              <a:rPr sz="1000" b="1" i="0">
                <a:solidFill>
                  <a:srgbClr val="0D2B55"/>
                </a:solidFill>
              </a:rPr>
              <a:t>Ngai et al. (2011)</a:t>
            </a:r>
          </a:p>
        </p:txBody>
      </p:sp>
      <p:sp>
        <p:nvSpPr>
          <p:cNvPr id="25" name="TextBox 24"/>
          <p:cNvSpPr txBox="1"/>
          <p:nvPr/>
        </p:nvSpPr>
        <p:spPr>
          <a:xfrm>
            <a:off x="777240" y="2551175"/>
            <a:ext cx="5303520" cy="292608"/>
          </a:xfrm>
          <a:prstGeom prst="rect">
            <a:avLst/>
          </a:prstGeom>
          <a:noFill/>
        </p:spPr>
        <p:txBody>
          <a:bodyPr wrap="square">
            <a:spAutoFit/>
          </a:bodyPr>
          <a:lstStyle/>
          <a:p>
            <a:pPr algn="l"/>
            <a:r>
              <a:rPr sz="1000" b="0" i="1">
                <a:solidFill>
                  <a:srgbClr val="333333"/>
                </a:solidFill>
              </a:rPr>
              <a:t>The Application of Data Mining Techniques in Financial Fraud Detection</a:t>
            </a:r>
          </a:p>
        </p:txBody>
      </p:sp>
      <p:sp>
        <p:nvSpPr>
          <p:cNvPr id="26" name="Rectangle 25"/>
          <p:cNvSpPr/>
          <p:nvPr/>
        </p:nvSpPr>
        <p:spPr>
          <a:xfrm>
            <a:off x="6263640" y="2258568"/>
            <a:ext cx="45720" cy="640080"/>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55080" y="2304287"/>
            <a:ext cx="5577840" cy="566928"/>
          </a:xfrm>
          <a:prstGeom prst="rect">
            <a:avLst/>
          </a:prstGeom>
          <a:noFill/>
        </p:spPr>
        <p:txBody>
          <a:bodyPr wrap="square">
            <a:spAutoFit/>
          </a:bodyPr>
          <a:lstStyle/>
          <a:p>
            <a:pPr algn="l"/>
            <a:r>
              <a:rPr sz="1050" b="0" i="0">
                <a:solidFill>
                  <a:srgbClr val="333333"/>
                </a:solidFill>
              </a:rPr>
              <a:t>Comprehensive survey of fraud detection methods; concluded rule-based systems fail to adapt to evolving typologies.</a:t>
            </a:r>
          </a:p>
        </p:txBody>
      </p:sp>
      <p:sp>
        <p:nvSpPr>
          <p:cNvPr id="28" name="Rectangle 27"/>
          <p:cNvSpPr/>
          <p:nvPr/>
        </p:nvSpPr>
        <p:spPr>
          <a:xfrm>
            <a:off x="228600" y="2916935"/>
            <a:ext cx="1170432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28600" y="2916935"/>
            <a:ext cx="475488" cy="64008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28600" y="3054095"/>
            <a:ext cx="475488" cy="384048"/>
          </a:xfrm>
          <a:prstGeom prst="rect">
            <a:avLst/>
          </a:prstGeom>
          <a:noFill/>
        </p:spPr>
        <p:txBody>
          <a:bodyPr wrap="square">
            <a:spAutoFit/>
          </a:bodyPr>
          <a:lstStyle/>
          <a:p>
            <a:pPr algn="ctr"/>
            <a:r>
              <a:rPr sz="1400" b="1" i="0">
                <a:solidFill>
                  <a:srgbClr val="FFFFFF"/>
                </a:solidFill>
              </a:rPr>
              <a:t>13</a:t>
            </a:r>
          </a:p>
        </p:txBody>
      </p:sp>
      <p:sp>
        <p:nvSpPr>
          <p:cNvPr id="31" name="TextBox 30"/>
          <p:cNvSpPr txBox="1"/>
          <p:nvPr/>
        </p:nvSpPr>
        <p:spPr>
          <a:xfrm>
            <a:off x="777240" y="2935223"/>
            <a:ext cx="3474720" cy="274320"/>
          </a:xfrm>
          <a:prstGeom prst="rect">
            <a:avLst/>
          </a:prstGeom>
          <a:noFill/>
        </p:spPr>
        <p:txBody>
          <a:bodyPr wrap="square">
            <a:spAutoFit/>
          </a:bodyPr>
          <a:lstStyle/>
          <a:p>
            <a:pPr algn="l"/>
            <a:r>
              <a:rPr sz="1000" b="1" i="0">
                <a:solidFill>
                  <a:srgbClr val="0D2B55"/>
                </a:solidFill>
              </a:rPr>
              <a:t>Phua et al. (2010)</a:t>
            </a:r>
          </a:p>
        </p:txBody>
      </p:sp>
      <p:sp>
        <p:nvSpPr>
          <p:cNvPr id="32" name="TextBox 31"/>
          <p:cNvSpPr txBox="1"/>
          <p:nvPr/>
        </p:nvSpPr>
        <p:spPr>
          <a:xfrm>
            <a:off x="777240" y="3209543"/>
            <a:ext cx="5303520" cy="292608"/>
          </a:xfrm>
          <a:prstGeom prst="rect">
            <a:avLst/>
          </a:prstGeom>
          <a:noFill/>
        </p:spPr>
        <p:txBody>
          <a:bodyPr wrap="square">
            <a:spAutoFit/>
          </a:bodyPr>
          <a:lstStyle/>
          <a:p>
            <a:pPr algn="l"/>
            <a:r>
              <a:rPr sz="1000" b="0" i="1">
                <a:solidFill>
                  <a:srgbClr val="333333"/>
                </a:solidFill>
              </a:rPr>
              <a:t>A Comprehensive Survey of Data Mining-Based Fraud Detection Research</a:t>
            </a:r>
          </a:p>
        </p:txBody>
      </p:sp>
      <p:sp>
        <p:nvSpPr>
          <p:cNvPr id="33" name="Rectangle 32"/>
          <p:cNvSpPr/>
          <p:nvPr/>
        </p:nvSpPr>
        <p:spPr>
          <a:xfrm>
            <a:off x="6263640" y="2916935"/>
            <a:ext cx="45720" cy="640080"/>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55080" y="2962655"/>
            <a:ext cx="5577840" cy="566928"/>
          </a:xfrm>
          <a:prstGeom prst="rect">
            <a:avLst/>
          </a:prstGeom>
          <a:noFill/>
        </p:spPr>
        <p:txBody>
          <a:bodyPr wrap="square">
            <a:spAutoFit/>
          </a:bodyPr>
          <a:lstStyle/>
          <a:p>
            <a:pPr algn="l"/>
            <a:r>
              <a:rPr sz="1050" b="0" i="0">
                <a:solidFill>
                  <a:srgbClr val="333333"/>
                </a:solidFill>
              </a:rPr>
              <a:t>Advocated hybrid supervised/unsupervised approaches for improved coverage across known and novel fraud patterns.</a:t>
            </a:r>
          </a:p>
        </p:txBody>
      </p:sp>
      <p:sp>
        <p:nvSpPr>
          <p:cNvPr id="35" name="Rectangle 34"/>
          <p:cNvSpPr/>
          <p:nvPr/>
        </p:nvSpPr>
        <p:spPr>
          <a:xfrm>
            <a:off x="228600" y="3575303"/>
            <a:ext cx="11704320" cy="640080"/>
          </a:xfrm>
          <a:prstGeom prst="rect">
            <a:avLst/>
          </a:prstGeom>
          <a:solidFill>
            <a:srgbClr val="E8F0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228600" y="3575303"/>
            <a:ext cx="475488" cy="64008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28600" y="3712463"/>
            <a:ext cx="475488" cy="384048"/>
          </a:xfrm>
          <a:prstGeom prst="rect">
            <a:avLst/>
          </a:prstGeom>
          <a:noFill/>
        </p:spPr>
        <p:txBody>
          <a:bodyPr wrap="square">
            <a:spAutoFit/>
          </a:bodyPr>
          <a:lstStyle/>
          <a:p>
            <a:pPr algn="ctr"/>
            <a:r>
              <a:rPr sz="1400" b="1" i="0">
                <a:solidFill>
                  <a:srgbClr val="FFFFFF"/>
                </a:solidFill>
              </a:rPr>
              <a:t>14</a:t>
            </a:r>
          </a:p>
        </p:txBody>
      </p:sp>
      <p:sp>
        <p:nvSpPr>
          <p:cNvPr id="38" name="TextBox 37"/>
          <p:cNvSpPr txBox="1"/>
          <p:nvPr/>
        </p:nvSpPr>
        <p:spPr>
          <a:xfrm>
            <a:off x="777240" y="3593591"/>
            <a:ext cx="3474720" cy="274320"/>
          </a:xfrm>
          <a:prstGeom prst="rect">
            <a:avLst/>
          </a:prstGeom>
          <a:noFill/>
        </p:spPr>
        <p:txBody>
          <a:bodyPr wrap="square">
            <a:spAutoFit/>
          </a:bodyPr>
          <a:lstStyle/>
          <a:p>
            <a:pPr algn="l"/>
            <a:r>
              <a:rPr sz="1000" b="1" i="0">
                <a:solidFill>
                  <a:srgbClr val="0D2B55"/>
                </a:solidFill>
              </a:rPr>
              <a:t>Roy &amp; Cheung (2022)</a:t>
            </a:r>
          </a:p>
        </p:txBody>
      </p:sp>
      <p:sp>
        <p:nvSpPr>
          <p:cNvPr id="39" name="TextBox 38"/>
          <p:cNvSpPr txBox="1"/>
          <p:nvPr/>
        </p:nvSpPr>
        <p:spPr>
          <a:xfrm>
            <a:off x="777240" y="3867911"/>
            <a:ext cx="5303520" cy="292608"/>
          </a:xfrm>
          <a:prstGeom prst="rect">
            <a:avLst/>
          </a:prstGeom>
          <a:noFill/>
        </p:spPr>
        <p:txBody>
          <a:bodyPr wrap="square">
            <a:spAutoFit/>
          </a:bodyPr>
          <a:lstStyle/>
          <a:p>
            <a:pPr algn="l"/>
            <a:r>
              <a:rPr sz="1000" b="0" i="1">
                <a:solidFill>
                  <a:srgbClr val="333333"/>
                </a:solidFill>
              </a:rPr>
              <a:t>Deep Autoencoder-Based Anomaly Detection in Insurance Claims</a:t>
            </a:r>
          </a:p>
        </p:txBody>
      </p:sp>
      <p:sp>
        <p:nvSpPr>
          <p:cNvPr id="40" name="Rectangle 39"/>
          <p:cNvSpPr/>
          <p:nvPr/>
        </p:nvSpPr>
        <p:spPr>
          <a:xfrm>
            <a:off x="6263640" y="3575303"/>
            <a:ext cx="45720" cy="640080"/>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55080" y="3621023"/>
            <a:ext cx="5577840" cy="566928"/>
          </a:xfrm>
          <a:prstGeom prst="rect">
            <a:avLst/>
          </a:prstGeom>
          <a:noFill/>
        </p:spPr>
        <p:txBody>
          <a:bodyPr wrap="square">
            <a:spAutoFit/>
          </a:bodyPr>
          <a:lstStyle/>
          <a:p>
            <a:pPr algn="l"/>
            <a:r>
              <a:rPr sz="1050" b="0" i="0">
                <a:solidFill>
                  <a:srgbClr val="333333"/>
                </a:solidFill>
              </a:rPr>
              <a:t>LSTM Autoencoder achieved 87% precision on insurance anomaly detection with significantly fewer false positives than rules.</a:t>
            </a:r>
          </a:p>
        </p:txBody>
      </p:sp>
      <p:sp>
        <p:nvSpPr>
          <p:cNvPr id="42" name="Rectangle 41"/>
          <p:cNvSpPr/>
          <p:nvPr/>
        </p:nvSpPr>
        <p:spPr>
          <a:xfrm>
            <a:off x="228600" y="4233671"/>
            <a:ext cx="1170432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228600" y="4233671"/>
            <a:ext cx="475488" cy="64008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28600" y="4370831"/>
            <a:ext cx="475488" cy="384048"/>
          </a:xfrm>
          <a:prstGeom prst="rect">
            <a:avLst/>
          </a:prstGeom>
          <a:noFill/>
        </p:spPr>
        <p:txBody>
          <a:bodyPr wrap="square">
            <a:spAutoFit/>
          </a:bodyPr>
          <a:lstStyle/>
          <a:p>
            <a:pPr algn="ctr"/>
            <a:r>
              <a:rPr sz="1400" b="1" i="0">
                <a:solidFill>
                  <a:srgbClr val="FFFFFF"/>
                </a:solidFill>
              </a:rPr>
              <a:t>15</a:t>
            </a:r>
          </a:p>
        </p:txBody>
      </p:sp>
      <p:sp>
        <p:nvSpPr>
          <p:cNvPr id="45" name="TextBox 44"/>
          <p:cNvSpPr txBox="1"/>
          <p:nvPr/>
        </p:nvSpPr>
        <p:spPr>
          <a:xfrm>
            <a:off x="777240" y="4251959"/>
            <a:ext cx="3474720" cy="274320"/>
          </a:xfrm>
          <a:prstGeom prst="rect">
            <a:avLst/>
          </a:prstGeom>
          <a:noFill/>
        </p:spPr>
        <p:txBody>
          <a:bodyPr wrap="square">
            <a:spAutoFit/>
          </a:bodyPr>
          <a:lstStyle/>
          <a:p>
            <a:pPr algn="l"/>
            <a:r>
              <a:rPr sz="1000" b="1" i="0">
                <a:solidFill>
                  <a:srgbClr val="0D2B55"/>
                </a:solidFill>
              </a:rPr>
              <a:t>Zanin et al. (2021)</a:t>
            </a:r>
          </a:p>
        </p:txBody>
      </p:sp>
      <p:sp>
        <p:nvSpPr>
          <p:cNvPr id="46" name="TextBox 45"/>
          <p:cNvSpPr txBox="1"/>
          <p:nvPr/>
        </p:nvSpPr>
        <p:spPr>
          <a:xfrm>
            <a:off x="777240" y="4526279"/>
            <a:ext cx="5303520" cy="292608"/>
          </a:xfrm>
          <a:prstGeom prst="rect">
            <a:avLst/>
          </a:prstGeom>
          <a:noFill/>
        </p:spPr>
        <p:txBody>
          <a:bodyPr wrap="square">
            <a:spAutoFit/>
          </a:bodyPr>
          <a:lstStyle/>
          <a:p>
            <a:pPr algn="l"/>
            <a:r>
              <a:rPr sz="1000" b="0" i="1">
                <a:solidFill>
                  <a:srgbClr val="333333"/>
                </a:solidFill>
              </a:rPr>
              <a:t>Network Science Approach to Anti-Money Laundering in Financial Systems</a:t>
            </a:r>
          </a:p>
        </p:txBody>
      </p:sp>
      <p:sp>
        <p:nvSpPr>
          <p:cNvPr id="47" name="Rectangle 46"/>
          <p:cNvSpPr/>
          <p:nvPr/>
        </p:nvSpPr>
        <p:spPr>
          <a:xfrm>
            <a:off x="6263640" y="4233671"/>
            <a:ext cx="45720" cy="640080"/>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355080" y="4279391"/>
            <a:ext cx="5577840" cy="566928"/>
          </a:xfrm>
          <a:prstGeom prst="rect">
            <a:avLst/>
          </a:prstGeom>
          <a:noFill/>
        </p:spPr>
        <p:txBody>
          <a:bodyPr wrap="square">
            <a:spAutoFit/>
          </a:bodyPr>
          <a:lstStyle/>
          <a:p>
            <a:pPr algn="l"/>
            <a:r>
              <a:rPr sz="1050" b="0" i="0">
                <a:solidFill>
                  <a:srgbClr val="333333"/>
                </a:solidFill>
              </a:rPr>
              <a:t>Community structure detection in transaction graphs achieved significant uplift vs. traditional threshold-based AML.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97280"/>
            <a:ext cx="12188952" cy="64008"/>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61288"/>
            <a:ext cx="12188952" cy="5696712"/>
          </a:xfrm>
          <a:prstGeom prst="rect">
            <a:avLst/>
          </a:prstGeom>
          <a:solidFill>
            <a:srgbClr val="F2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91440"/>
            <a:ext cx="11430000" cy="914400"/>
          </a:xfrm>
          <a:prstGeom prst="rect">
            <a:avLst/>
          </a:prstGeom>
          <a:noFill/>
        </p:spPr>
        <p:txBody>
          <a:bodyPr wrap="square">
            <a:spAutoFit/>
          </a:bodyPr>
          <a:lstStyle/>
          <a:p>
            <a:pPr algn="l"/>
            <a:r>
              <a:rPr sz="2800" b="1" i="0">
                <a:solidFill>
                  <a:srgbClr val="FFFFFF"/>
                </a:solidFill>
              </a:rPr>
              <a:t>Literature Review — Part 4</a:t>
            </a:r>
          </a:p>
        </p:txBody>
      </p:sp>
      <p:sp>
        <p:nvSpPr>
          <p:cNvPr id="6" name="TextBox 5"/>
          <p:cNvSpPr txBox="1"/>
          <p:nvPr/>
        </p:nvSpPr>
        <p:spPr>
          <a:xfrm>
            <a:off x="274320" y="685800"/>
            <a:ext cx="11430000" cy="411480"/>
          </a:xfrm>
          <a:prstGeom prst="rect">
            <a:avLst/>
          </a:prstGeom>
          <a:noFill/>
        </p:spPr>
        <p:txBody>
          <a:bodyPr wrap="square">
            <a:spAutoFit/>
          </a:bodyPr>
          <a:lstStyle/>
          <a:p>
            <a:pPr algn="l"/>
            <a:r>
              <a:rPr sz="1400" b="0" i="0">
                <a:solidFill>
                  <a:srgbClr val="F0A500"/>
                </a:solidFill>
              </a:rPr>
              <a:t>Papers 16–20: Graph Analytics &amp; Deep Learning</a:t>
            </a:r>
          </a:p>
        </p:txBody>
      </p:sp>
      <p:sp>
        <p:nvSpPr>
          <p:cNvPr id="7" name="Rectangle 6"/>
          <p:cNvSpPr/>
          <p:nvPr/>
        </p:nvSpPr>
        <p:spPr>
          <a:xfrm>
            <a:off x="0" y="1161288"/>
            <a:ext cx="12188952" cy="5696712"/>
          </a:xfrm>
          <a:prstGeom prst="rect">
            <a:avLst/>
          </a:prstGeom>
          <a:solidFill>
            <a:srgbClr val="F2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28600" y="1234440"/>
            <a:ext cx="475488" cy="32004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28600" y="1234440"/>
            <a:ext cx="475488" cy="320040"/>
          </a:xfrm>
          <a:prstGeom prst="rect">
            <a:avLst/>
          </a:prstGeom>
          <a:noFill/>
        </p:spPr>
        <p:txBody>
          <a:bodyPr wrap="square">
            <a:spAutoFit/>
          </a:bodyPr>
          <a:lstStyle/>
          <a:p>
            <a:pPr algn="ctr"/>
            <a:r>
              <a:rPr sz="1100" b="1" i="0">
                <a:solidFill>
                  <a:srgbClr val="FFFFFF"/>
                </a:solidFill>
              </a:rPr>
              <a:t>#</a:t>
            </a:r>
          </a:p>
        </p:txBody>
      </p:sp>
      <p:sp>
        <p:nvSpPr>
          <p:cNvPr id="10" name="Rectangle 9"/>
          <p:cNvSpPr/>
          <p:nvPr/>
        </p:nvSpPr>
        <p:spPr>
          <a:xfrm>
            <a:off x="777240" y="1234440"/>
            <a:ext cx="5303520" cy="32004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1234440"/>
            <a:ext cx="5120640" cy="320040"/>
          </a:xfrm>
          <a:prstGeom prst="rect">
            <a:avLst/>
          </a:prstGeom>
          <a:noFill/>
        </p:spPr>
        <p:txBody>
          <a:bodyPr wrap="square">
            <a:spAutoFit/>
          </a:bodyPr>
          <a:lstStyle/>
          <a:p>
            <a:pPr algn="l"/>
            <a:r>
              <a:rPr sz="1100" b="1" i="0">
                <a:solidFill>
                  <a:srgbClr val="FFFFFF"/>
                </a:solidFill>
              </a:rPr>
              <a:t>Reference / Title</a:t>
            </a:r>
          </a:p>
        </p:txBody>
      </p:sp>
      <p:sp>
        <p:nvSpPr>
          <p:cNvPr id="12" name="Rectangle 11"/>
          <p:cNvSpPr/>
          <p:nvPr/>
        </p:nvSpPr>
        <p:spPr>
          <a:xfrm>
            <a:off x="6263640" y="1234440"/>
            <a:ext cx="5669280" cy="32004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1234440"/>
            <a:ext cx="5486400" cy="320040"/>
          </a:xfrm>
          <a:prstGeom prst="rect">
            <a:avLst/>
          </a:prstGeom>
          <a:noFill/>
        </p:spPr>
        <p:txBody>
          <a:bodyPr wrap="square">
            <a:spAutoFit/>
          </a:bodyPr>
          <a:lstStyle/>
          <a:p>
            <a:pPr algn="l"/>
            <a:r>
              <a:rPr sz="1100" b="1" i="0">
                <a:solidFill>
                  <a:srgbClr val="FFFFFF"/>
                </a:solidFill>
              </a:rPr>
              <a:t>Key Finding / Contribution</a:t>
            </a:r>
          </a:p>
        </p:txBody>
      </p:sp>
      <p:sp>
        <p:nvSpPr>
          <p:cNvPr id="14" name="Rectangle 13"/>
          <p:cNvSpPr/>
          <p:nvPr/>
        </p:nvSpPr>
        <p:spPr>
          <a:xfrm>
            <a:off x="228600" y="1600200"/>
            <a:ext cx="11704320" cy="640080"/>
          </a:xfrm>
          <a:prstGeom prst="rect">
            <a:avLst/>
          </a:prstGeom>
          <a:solidFill>
            <a:srgbClr val="E8F0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28600" y="1600200"/>
            <a:ext cx="475488" cy="64008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28600" y="1737360"/>
            <a:ext cx="475488" cy="384048"/>
          </a:xfrm>
          <a:prstGeom prst="rect">
            <a:avLst/>
          </a:prstGeom>
          <a:noFill/>
        </p:spPr>
        <p:txBody>
          <a:bodyPr wrap="square">
            <a:spAutoFit/>
          </a:bodyPr>
          <a:lstStyle/>
          <a:p>
            <a:pPr algn="ctr"/>
            <a:r>
              <a:rPr sz="1400" b="1" i="0">
                <a:solidFill>
                  <a:srgbClr val="FFFFFF"/>
                </a:solidFill>
              </a:rPr>
              <a:t>16</a:t>
            </a:r>
          </a:p>
        </p:txBody>
      </p:sp>
      <p:sp>
        <p:nvSpPr>
          <p:cNvPr id="17" name="TextBox 16"/>
          <p:cNvSpPr txBox="1"/>
          <p:nvPr/>
        </p:nvSpPr>
        <p:spPr>
          <a:xfrm>
            <a:off x="777240" y="1618488"/>
            <a:ext cx="3474720" cy="274320"/>
          </a:xfrm>
          <a:prstGeom prst="rect">
            <a:avLst/>
          </a:prstGeom>
          <a:noFill/>
        </p:spPr>
        <p:txBody>
          <a:bodyPr wrap="square">
            <a:spAutoFit/>
          </a:bodyPr>
          <a:lstStyle/>
          <a:p>
            <a:pPr algn="l"/>
            <a:r>
              <a:rPr sz="1000" b="1" i="0">
                <a:solidFill>
                  <a:srgbClr val="0D2B55"/>
                </a:solidFill>
              </a:rPr>
              <a:t>Lopez-Rojas &amp; Axelsson (2014)</a:t>
            </a:r>
          </a:p>
        </p:txBody>
      </p:sp>
      <p:sp>
        <p:nvSpPr>
          <p:cNvPr id="18" name="TextBox 17"/>
          <p:cNvSpPr txBox="1"/>
          <p:nvPr/>
        </p:nvSpPr>
        <p:spPr>
          <a:xfrm>
            <a:off x="777240" y="1892807"/>
            <a:ext cx="5303520" cy="292608"/>
          </a:xfrm>
          <a:prstGeom prst="rect">
            <a:avLst/>
          </a:prstGeom>
          <a:noFill/>
        </p:spPr>
        <p:txBody>
          <a:bodyPr wrap="square">
            <a:spAutoFit/>
          </a:bodyPr>
          <a:lstStyle/>
          <a:p>
            <a:pPr algn="l"/>
            <a:r>
              <a:rPr sz="1000" b="0" i="1">
                <a:solidFill>
                  <a:srgbClr val="333333"/>
                </a:solidFill>
              </a:rPr>
              <a:t>Money Laundering Detection Using Synthetic Data</a:t>
            </a:r>
          </a:p>
        </p:txBody>
      </p:sp>
      <p:sp>
        <p:nvSpPr>
          <p:cNvPr id="19" name="Rectangle 18"/>
          <p:cNvSpPr/>
          <p:nvPr/>
        </p:nvSpPr>
        <p:spPr>
          <a:xfrm>
            <a:off x="6263640" y="1600200"/>
            <a:ext cx="45720" cy="640080"/>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55080" y="1645920"/>
            <a:ext cx="5577840" cy="566928"/>
          </a:xfrm>
          <a:prstGeom prst="rect">
            <a:avLst/>
          </a:prstGeom>
          <a:noFill/>
        </p:spPr>
        <p:txBody>
          <a:bodyPr wrap="square">
            <a:spAutoFit/>
          </a:bodyPr>
          <a:lstStyle/>
          <a:p>
            <a:pPr algn="l"/>
            <a:r>
              <a:rPr sz="1050" b="0" i="0">
                <a:solidFill>
                  <a:srgbClr val="333333"/>
                </a:solidFill>
              </a:rPr>
              <a:t>Introduced PaySim synthetic financial dataset methodology; demonstrated viability of simulation for AML model training.</a:t>
            </a:r>
          </a:p>
        </p:txBody>
      </p:sp>
      <p:sp>
        <p:nvSpPr>
          <p:cNvPr id="21" name="Rectangle 20"/>
          <p:cNvSpPr/>
          <p:nvPr/>
        </p:nvSpPr>
        <p:spPr>
          <a:xfrm>
            <a:off x="228600" y="2258568"/>
            <a:ext cx="1170432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28600" y="2258568"/>
            <a:ext cx="475488" cy="64008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28600" y="2395727"/>
            <a:ext cx="475488" cy="384048"/>
          </a:xfrm>
          <a:prstGeom prst="rect">
            <a:avLst/>
          </a:prstGeom>
          <a:noFill/>
        </p:spPr>
        <p:txBody>
          <a:bodyPr wrap="square">
            <a:spAutoFit/>
          </a:bodyPr>
          <a:lstStyle/>
          <a:p>
            <a:pPr algn="ctr"/>
            <a:r>
              <a:rPr sz="1400" b="1" i="0">
                <a:solidFill>
                  <a:srgbClr val="FFFFFF"/>
                </a:solidFill>
              </a:rPr>
              <a:t>17</a:t>
            </a:r>
          </a:p>
        </p:txBody>
      </p:sp>
      <p:sp>
        <p:nvSpPr>
          <p:cNvPr id="24" name="TextBox 23"/>
          <p:cNvSpPr txBox="1"/>
          <p:nvPr/>
        </p:nvSpPr>
        <p:spPr>
          <a:xfrm>
            <a:off x="777240" y="2276856"/>
            <a:ext cx="3474720" cy="274320"/>
          </a:xfrm>
          <a:prstGeom prst="rect">
            <a:avLst/>
          </a:prstGeom>
          <a:noFill/>
        </p:spPr>
        <p:txBody>
          <a:bodyPr wrap="square">
            <a:spAutoFit/>
          </a:bodyPr>
          <a:lstStyle/>
          <a:p>
            <a:pPr algn="l"/>
            <a:r>
              <a:rPr sz="1000" b="1" i="0">
                <a:solidFill>
                  <a:srgbClr val="0D2B55"/>
                </a:solidFill>
              </a:rPr>
              <a:t>Weber et al. (2019)</a:t>
            </a:r>
          </a:p>
        </p:txBody>
      </p:sp>
      <p:sp>
        <p:nvSpPr>
          <p:cNvPr id="25" name="TextBox 24"/>
          <p:cNvSpPr txBox="1"/>
          <p:nvPr/>
        </p:nvSpPr>
        <p:spPr>
          <a:xfrm>
            <a:off x="777240" y="2551175"/>
            <a:ext cx="5303520" cy="292608"/>
          </a:xfrm>
          <a:prstGeom prst="rect">
            <a:avLst/>
          </a:prstGeom>
          <a:noFill/>
        </p:spPr>
        <p:txBody>
          <a:bodyPr wrap="square">
            <a:spAutoFit/>
          </a:bodyPr>
          <a:lstStyle/>
          <a:p>
            <a:pPr algn="l"/>
            <a:r>
              <a:rPr sz="1000" b="0" i="1">
                <a:solidFill>
                  <a:srgbClr val="333333"/>
                </a:solidFill>
              </a:rPr>
              <a:t>Anti-Money Laundering in Bitcoin: Experimenting with GNNs</a:t>
            </a:r>
          </a:p>
        </p:txBody>
      </p:sp>
      <p:sp>
        <p:nvSpPr>
          <p:cNvPr id="26" name="Rectangle 25"/>
          <p:cNvSpPr/>
          <p:nvPr/>
        </p:nvSpPr>
        <p:spPr>
          <a:xfrm>
            <a:off x="6263640" y="2258568"/>
            <a:ext cx="45720" cy="640080"/>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55080" y="2304287"/>
            <a:ext cx="5577840" cy="566928"/>
          </a:xfrm>
          <a:prstGeom prst="rect">
            <a:avLst/>
          </a:prstGeom>
          <a:noFill/>
        </p:spPr>
        <p:txBody>
          <a:bodyPr wrap="square">
            <a:spAutoFit/>
          </a:bodyPr>
          <a:lstStyle/>
          <a:p>
            <a:pPr algn="l"/>
            <a:r>
              <a:rPr sz="1050" b="0" i="0">
                <a:solidFill>
                  <a:srgbClr val="333333"/>
                </a:solidFill>
              </a:rPr>
              <a:t>Established GNNs (Elliptic dataset) as state-of-the-art for transaction graph classification in financial crime.</a:t>
            </a:r>
          </a:p>
        </p:txBody>
      </p:sp>
      <p:sp>
        <p:nvSpPr>
          <p:cNvPr id="28" name="Rectangle 27"/>
          <p:cNvSpPr/>
          <p:nvPr/>
        </p:nvSpPr>
        <p:spPr>
          <a:xfrm>
            <a:off x="228600" y="2916935"/>
            <a:ext cx="11704320" cy="640080"/>
          </a:xfrm>
          <a:prstGeom prst="rect">
            <a:avLst/>
          </a:prstGeom>
          <a:solidFill>
            <a:srgbClr val="E8F0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28600" y="2916935"/>
            <a:ext cx="475488" cy="64008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28600" y="3054095"/>
            <a:ext cx="475488" cy="384048"/>
          </a:xfrm>
          <a:prstGeom prst="rect">
            <a:avLst/>
          </a:prstGeom>
          <a:noFill/>
        </p:spPr>
        <p:txBody>
          <a:bodyPr wrap="square">
            <a:spAutoFit/>
          </a:bodyPr>
          <a:lstStyle/>
          <a:p>
            <a:pPr algn="ctr"/>
            <a:r>
              <a:rPr sz="1400" b="1" i="0">
                <a:solidFill>
                  <a:srgbClr val="FFFFFF"/>
                </a:solidFill>
              </a:rPr>
              <a:t>18</a:t>
            </a:r>
          </a:p>
        </p:txBody>
      </p:sp>
      <p:sp>
        <p:nvSpPr>
          <p:cNvPr id="31" name="TextBox 30"/>
          <p:cNvSpPr txBox="1"/>
          <p:nvPr/>
        </p:nvSpPr>
        <p:spPr>
          <a:xfrm>
            <a:off x="777240" y="2935223"/>
            <a:ext cx="3474720" cy="274320"/>
          </a:xfrm>
          <a:prstGeom prst="rect">
            <a:avLst/>
          </a:prstGeom>
          <a:noFill/>
        </p:spPr>
        <p:txBody>
          <a:bodyPr wrap="square">
            <a:spAutoFit/>
          </a:bodyPr>
          <a:lstStyle/>
          <a:p>
            <a:pPr algn="l"/>
            <a:r>
              <a:rPr sz="1000" b="1" i="0">
                <a:solidFill>
                  <a:srgbClr val="0D2B55"/>
                </a:solidFill>
              </a:rPr>
              <a:t>Liu et al. (2021)</a:t>
            </a:r>
          </a:p>
        </p:txBody>
      </p:sp>
      <p:sp>
        <p:nvSpPr>
          <p:cNvPr id="32" name="TextBox 31"/>
          <p:cNvSpPr txBox="1"/>
          <p:nvPr/>
        </p:nvSpPr>
        <p:spPr>
          <a:xfrm>
            <a:off x="777240" y="3209543"/>
            <a:ext cx="5303520" cy="292608"/>
          </a:xfrm>
          <a:prstGeom prst="rect">
            <a:avLst/>
          </a:prstGeom>
          <a:noFill/>
        </p:spPr>
        <p:txBody>
          <a:bodyPr wrap="square">
            <a:spAutoFit/>
          </a:bodyPr>
          <a:lstStyle/>
          <a:p>
            <a:pPr algn="l"/>
            <a:r>
              <a:rPr sz="1000" b="0" i="1">
                <a:solidFill>
                  <a:srgbClr val="333333"/>
                </a:solidFill>
              </a:rPr>
              <a:t>Pick and Choose: A GNN-Based Imbalanced Learning Approach for AML</a:t>
            </a:r>
          </a:p>
        </p:txBody>
      </p:sp>
      <p:sp>
        <p:nvSpPr>
          <p:cNvPr id="33" name="Rectangle 32"/>
          <p:cNvSpPr/>
          <p:nvPr/>
        </p:nvSpPr>
        <p:spPr>
          <a:xfrm>
            <a:off x="6263640" y="2916935"/>
            <a:ext cx="45720" cy="640080"/>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55080" y="2962655"/>
            <a:ext cx="5577840" cy="566928"/>
          </a:xfrm>
          <a:prstGeom prst="rect">
            <a:avLst/>
          </a:prstGeom>
          <a:noFill/>
        </p:spPr>
        <p:txBody>
          <a:bodyPr wrap="square">
            <a:spAutoFit/>
          </a:bodyPr>
          <a:lstStyle/>
          <a:p>
            <a:pPr algn="l"/>
            <a:r>
              <a:rPr sz="1050" b="0" i="0">
                <a:solidFill>
                  <a:srgbClr val="333333"/>
                </a:solidFill>
              </a:rPr>
              <a:t>Addressed class imbalance in AML datasets using graph-attention sampling; improved minority-class F1 by 18%.</a:t>
            </a:r>
          </a:p>
        </p:txBody>
      </p:sp>
      <p:sp>
        <p:nvSpPr>
          <p:cNvPr id="35" name="Rectangle 34"/>
          <p:cNvSpPr/>
          <p:nvPr/>
        </p:nvSpPr>
        <p:spPr>
          <a:xfrm>
            <a:off x="228600" y="3575303"/>
            <a:ext cx="1170432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228600" y="3575303"/>
            <a:ext cx="475488" cy="64008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28600" y="3712463"/>
            <a:ext cx="475488" cy="384048"/>
          </a:xfrm>
          <a:prstGeom prst="rect">
            <a:avLst/>
          </a:prstGeom>
          <a:noFill/>
        </p:spPr>
        <p:txBody>
          <a:bodyPr wrap="square">
            <a:spAutoFit/>
          </a:bodyPr>
          <a:lstStyle/>
          <a:p>
            <a:pPr algn="ctr"/>
            <a:r>
              <a:rPr sz="1400" b="1" i="0">
                <a:solidFill>
                  <a:srgbClr val="FFFFFF"/>
                </a:solidFill>
              </a:rPr>
              <a:t>19</a:t>
            </a:r>
          </a:p>
        </p:txBody>
      </p:sp>
      <p:sp>
        <p:nvSpPr>
          <p:cNvPr id="38" name="TextBox 37"/>
          <p:cNvSpPr txBox="1"/>
          <p:nvPr/>
        </p:nvSpPr>
        <p:spPr>
          <a:xfrm>
            <a:off x="777240" y="3593591"/>
            <a:ext cx="3474720" cy="274320"/>
          </a:xfrm>
          <a:prstGeom prst="rect">
            <a:avLst/>
          </a:prstGeom>
          <a:noFill/>
        </p:spPr>
        <p:txBody>
          <a:bodyPr wrap="square">
            <a:spAutoFit/>
          </a:bodyPr>
          <a:lstStyle/>
          <a:p>
            <a:pPr algn="l"/>
            <a:r>
              <a:rPr sz="1000" b="1" i="0">
                <a:solidFill>
                  <a:srgbClr val="0D2B55"/>
                </a:solidFill>
              </a:rPr>
              <a:t>Pareja et al. (2020)</a:t>
            </a:r>
          </a:p>
        </p:txBody>
      </p:sp>
      <p:sp>
        <p:nvSpPr>
          <p:cNvPr id="39" name="TextBox 38"/>
          <p:cNvSpPr txBox="1"/>
          <p:nvPr/>
        </p:nvSpPr>
        <p:spPr>
          <a:xfrm>
            <a:off x="777240" y="3867911"/>
            <a:ext cx="5303520" cy="292608"/>
          </a:xfrm>
          <a:prstGeom prst="rect">
            <a:avLst/>
          </a:prstGeom>
          <a:noFill/>
        </p:spPr>
        <p:txBody>
          <a:bodyPr wrap="square">
            <a:spAutoFit/>
          </a:bodyPr>
          <a:lstStyle/>
          <a:p>
            <a:pPr algn="l"/>
            <a:r>
              <a:rPr sz="1000" b="0" i="1">
                <a:solidFill>
                  <a:srgbClr val="333333"/>
                </a:solidFill>
              </a:rPr>
              <a:t>EvolveGCN: Evolving Graph Convolutional Networks for Dynamic Graphs</a:t>
            </a:r>
          </a:p>
        </p:txBody>
      </p:sp>
      <p:sp>
        <p:nvSpPr>
          <p:cNvPr id="40" name="Rectangle 39"/>
          <p:cNvSpPr/>
          <p:nvPr/>
        </p:nvSpPr>
        <p:spPr>
          <a:xfrm>
            <a:off x="6263640" y="3575303"/>
            <a:ext cx="45720" cy="640080"/>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55080" y="3621023"/>
            <a:ext cx="5577840" cy="566928"/>
          </a:xfrm>
          <a:prstGeom prst="rect">
            <a:avLst/>
          </a:prstGeom>
          <a:noFill/>
        </p:spPr>
        <p:txBody>
          <a:bodyPr wrap="square">
            <a:spAutoFit/>
          </a:bodyPr>
          <a:lstStyle/>
          <a:p>
            <a:pPr algn="l"/>
            <a:r>
              <a:rPr sz="1050" b="0" i="0">
                <a:solidFill>
                  <a:srgbClr val="333333"/>
                </a:solidFill>
              </a:rPr>
              <a:t>Dynamic GCN adapts to evolving transaction networks — critical for detecting time-dependent laundering patterns.</a:t>
            </a:r>
          </a:p>
        </p:txBody>
      </p:sp>
      <p:sp>
        <p:nvSpPr>
          <p:cNvPr id="42" name="Rectangle 41"/>
          <p:cNvSpPr/>
          <p:nvPr/>
        </p:nvSpPr>
        <p:spPr>
          <a:xfrm>
            <a:off x="228600" y="4233671"/>
            <a:ext cx="11704320" cy="640080"/>
          </a:xfrm>
          <a:prstGeom prst="rect">
            <a:avLst/>
          </a:prstGeom>
          <a:solidFill>
            <a:srgbClr val="E8F0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228600" y="4233671"/>
            <a:ext cx="475488" cy="64008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28600" y="4370831"/>
            <a:ext cx="475488" cy="384048"/>
          </a:xfrm>
          <a:prstGeom prst="rect">
            <a:avLst/>
          </a:prstGeom>
          <a:noFill/>
        </p:spPr>
        <p:txBody>
          <a:bodyPr wrap="square">
            <a:spAutoFit/>
          </a:bodyPr>
          <a:lstStyle/>
          <a:p>
            <a:pPr algn="ctr"/>
            <a:r>
              <a:rPr sz="1400" b="1" i="0">
                <a:solidFill>
                  <a:srgbClr val="FFFFFF"/>
                </a:solidFill>
              </a:rPr>
              <a:t>20</a:t>
            </a:r>
          </a:p>
        </p:txBody>
      </p:sp>
      <p:sp>
        <p:nvSpPr>
          <p:cNvPr id="45" name="TextBox 44"/>
          <p:cNvSpPr txBox="1"/>
          <p:nvPr/>
        </p:nvSpPr>
        <p:spPr>
          <a:xfrm>
            <a:off x="777240" y="4251959"/>
            <a:ext cx="3474720" cy="274320"/>
          </a:xfrm>
          <a:prstGeom prst="rect">
            <a:avLst/>
          </a:prstGeom>
          <a:noFill/>
        </p:spPr>
        <p:txBody>
          <a:bodyPr wrap="square">
            <a:spAutoFit/>
          </a:bodyPr>
          <a:lstStyle/>
          <a:p>
            <a:pPr algn="l"/>
            <a:r>
              <a:rPr sz="1000" b="1" i="0">
                <a:solidFill>
                  <a:srgbClr val="0D2B55"/>
                </a:solidFill>
              </a:rPr>
              <a:t>Cao et al. (2020)</a:t>
            </a:r>
          </a:p>
        </p:txBody>
      </p:sp>
      <p:sp>
        <p:nvSpPr>
          <p:cNvPr id="46" name="TextBox 45"/>
          <p:cNvSpPr txBox="1"/>
          <p:nvPr/>
        </p:nvSpPr>
        <p:spPr>
          <a:xfrm>
            <a:off x="777240" y="4526279"/>
            <a:ext cx="5303520" cy="292608"/>
          </a:xfrm>
          <a:prstGeom prst="rect">
            <a:avLst/>
          </a:prstGeom>
          <a:noFill/>
        </p:spPr>
        <p:txBody>
          <a:bodyPr wrap="square">
            <a:spAutoFit/>
          </a:bodyPr>
          <a:lstStyle/>
          <a:p>
            <a:pPr algn="l"/>
            <a:r>
              <a:rPr sz="1000" b="0" i="1">
                <a:solidFill>
                  <a:srgbClr val="333333"/>
                </a:solidFill>
              </a:rPr>
              <a:t>Explainability in Graph Neural Networks: A Survey</a:t>
            </a:r>
          </a:p>
        </p:txBody>
      </p:sp>
      <p:sp>
        <p:nvSpPr>
          <p:cNvPr id="47" name="Rectangle 46"/>
          <p:cNvSpPr/>
          <p:nvPr/>
        </p:nvSpPr>
        <p:spPr>
          <a:xfrm>
            <a:off x="6263640" y="4233671"/>
            <a:ext cx="45720" cy="640080"/>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355080" y="4279391"/>
            <a:ext cx="5577840" cy="566928"/>
          </a:xfrm>
          <a:prstGeom prst="rect">
            <a:avLst/>
          </a:prstGeom>
          <a:noFill/>
        </p:spPr>
        <p:txBody>
          <a:bodyPr wrap="square">
            <a:spAutoFit/>
          </a:bodyPr>
          <a:lstStyle/>
          <a:p>
            <a:pPr algn="l"/>
            <a:r>
              <a:rPr sz="1050" b="0" i="0">
                <a:solidFill>
                  <a:srgbClr val="333333"/>
                </a:solidFill>
              </a:rPr>
              <a:t>Reviewed XAI methods for GNNs; GNNExplainer and attention mechanisms enable investigator-interpretable fraud alerts.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97280"/>
            <a:ext cx="12188952" cy="64008"/>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61288"/>
            <a:ext cx="12188952" cy="5696712"/>
          </a:xfrm>
          <a:prstGeom prst="rect">
            <a:avLst/>
          </a:prstGeom>
          <a:solidFill>
            <a:srgbClr val="F2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91440"/>
            <a:ext cx="11430000" cy="914400"/>
          </a:xfrm>
          <a:prstGeom prst="rect">
            <a:avLst/>
          </a:prstGeom>
          <a:noFill/>
        </p:spPr>
        <p:txBody>
          <a:bodyPr wrap="square">
            <a:spAutoFit/>
          </a:bodyPr>
          <a:lstStyle/>
          <a:p>
            <a:pPr algn="l"/>
            <a:r>
              <a:rPr sz="2800" b="1" i="0">
                <a:solidFill>
                  <a:srgbClr val="FFFFFF"/>
                </a:solidFill>
              </a:rPr>
              <a:t>Literature Review — Part 5</a:t>
            </a:r>
          </a:p>
        </p:txBody>
      </p:sp>
      <p:sp>
        <p:nvSpPr>
          <p:cNvPr id="6" name="TextBox 5"/>
          <p:cNvSpPr txBox="1"/>
          <p:nvPr/>
        </p:nvSpPr>
        <p:spPr>
          <a:xfrm>
            <a:off x="274320" y="685800"/>
            <a:ext cx="11430000" cy="411480"/>
          </a:xfrm>
          <a:prstGeom prst="rect">
            <a:avLst/>
          </a:prstGeom>
          <a:noFill/>
        </p:spPr>
        <p:txBody>
          <a:bodyPr wrap="square">
            <a:spAutoFit/>
          </a:bodyPr>
          <a:lstStyle/>
          <a:p>
            <a:pPr algn="l"/>
            <a:r>
              <a:rPr sz="1400" b="0" i="0">
                <a:solidFill>
                  <a:srgbClr val="F0A500"/>
                </a:solidFill>
              </a:rPr>
              <a:t>Papers 21–25: Explainability, Compliance Technology &amp; Systems</a:t>
            </a:r>
          </a:p>
        </p:txBody>
      </p:sp>
      <p:sp>
        <p:nvSpPr>
          <p:cNvPr id="7" name="Rectangle 6"/>
          <p:cNvSpPr/>
          <p:nvPr/>
        </p:nvSpPr>
        <p:spPr>
          <a:xfrm>
            <a:off x="0" y="1161288"/>
            <a:ext cx="12188952" cy="5696712"/>
          </a:xfrm>
          <a:prstGeom prst="rect">
            <a:avLst/>
          </a:prstGeom>
          <a:solidFill>
            <a:srgbClr val="F2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28600" y="1234440"/>
            <a:ext cx="475488" cy="32004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28600" y="1234440"/>
            <a:ext cx="475488" cy="320040"/>
          </a:xfrm>
          <a:prstGeom prst="rect">
            <a:avLst/>
          </a:prstGeom>
          <a:noFill/>
        </p:spPr>
        <p:txBody>
          <a:bodyPr wrap="square">
            <a:spAutoFit/>
          </a:bodyPr>
          <a:lstStyle/>
          <a:p>
            <a:pPr algn="ctr"/>
            <a:r>
              <a:rPr sz="1100" b="1" i="0">
                <a:solidFill>
                  <a:srgbClr val="FFFFFF"/>
                </a:solidFill>
              </a:rPr>
              <a:t>#</a:t>
            </a:r>
          </a:p>
        </p:txBody>
      </p:sp>
      <p:sp>
        <p:nvSpPr>
          <p:cNvPr id="10" name="Rectangle 9"/>
          <p:cNvSpPr/>
          <p:nvPr/>
        </p:nvSpPr>
        <p:spPr>
          <a:xfrm>
            <a:off x="777240" y="1234440"/>
            <a:ext cx="5303520" cy="32004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1234440"/>
            <a:ext cx="5120640" cy="320040"/>
          </a:xfrm>
          <a:prstGeom prst="rect">
            <a:avLst/>
          </a:prstGeom>
          <a:noFill/>
        </p:spPr>
        <p:txBody>
          <a:bodyPr wrap="square">
            <a:spAutoFit/>
          </a:bodyPr>
          <a:lstStyle/>
          <a:p>
            <a:pPr algn="l"/>
            <a:r>
              <a:rPr sz="1100" b="1" i="0">
                <a:solidFill>
                  <a:srgbClr val="FFFFFF"/>
                </a:solidFill>
              </a:rPr>
              <a:t>Reference / Title</a:t>
            </a:r>
          </a:p>
        </p:txBody>
      </p:sp>
      <p:sp>
        <p:nvSpPr>
          <p:cNvPr id="12" name="Rectangle 11"/>
          <p:cNvSpPr/>
          <p:nvPr/>
        </p:nvSpPr>
        <p:spPr>
          <a:xfrm>
            <a:off x="6263640" y="1234440"/>
            <a:ext cx="5669280" cy="32004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1234440"/>
            <a:ext cx="5486400" cy="320040"/>
          </a:xfrm>
          <a:prstGeom prst="rect">
            <a:avLst/>
          </a:prstGeom>
          <a:noFill/>
        </p:spPr>
        <p:txBody>
          <a:bodyPr wrap="square">
            <a:spAutoFit/>
          </a:bodyPr>
          <a:lstStyle/>
          <a:p>
            <a:pPr algn="l"/>
            <a:r>
              <a:rPr sz="1100" b="1" i="0">
                <a:solidFill>
                  <a:srgbClr val="FFFFFF"/>
                </a:solidFill>
              </a:rPr>
              <a:t>Key Finding / Contribution</a:t>
            </a:r>
          </a:p>
        </p:txBody>
      </p:sp>
      <p:sp>
        <p:nvSpPr>
          <p:cNvPr id="14" name="Rectangle 13"/>
          <p:cNvSpPr/>
          <p:nvPr/>
        </p:nvSpPr>
        <p:spPr>
          <a:xfrm>
            <a:off x="228600" y="1600200"/>
            <a:ext cx="1170432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28600" y="1600200"/>
            <a:ext cx="475488" cy="64008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28600" y="1737360"/>
            <a:ext cx="475488" cy="384048"/>
          </a:xfrm>
          <a:prstGeom prst="rect">
            <a:avLst/>
          </a:prstGeom>
          <a:noFill/>
        </p:spPr>
        <p:txBody>
          <a:bodyPr wrap="square">
            <a:spAutoFit/>
          </a:bodyPr>
          <a:lstStyle/>
          <a:p>
            <a:pPr algn="ctr"/>
            <a:r>
              <a:rPr sz="1400" b="1" i="0">
                <a:solidFill>
                  <a:srgbClr val="FFFFFF"/>
                </a:solidFill>
              </a:rPr>
              <a:t>21</a:t>
            </a:r>
          </a:p>
        </p:txBody>
      </p:sp>
      <p:sp>
        <p:nvSpPr>
          <p:cNvPr id="17" name="TextBox 16"/>
          <p:cNvSpPr txBox="1"/>
          <p:nvPr/>
        </p:nvSpPr>
        <p:spPr>
          <a:xfrm>
            <a:off x="777240" y="1618488"/>
            <a:ext cx="3474720" cy="274320"/>
          </a:xfrm>
          <a:prstGeom prst="rect">
            <a:avLst/>
          </a:prstGeom>
          <a:noFill/>
        </p:spPr>
        <p:txBody>
          <a:bodyPr wrap="square">
            <a:spAutoFit/>
          </a:bodyPr>
          <a:lstStyle/>
          <a:p>
            <a:pPr algn="l"/>
            <a:r>
              <a:rPr sz="1000" b="1" i="0">
                <a:solidFill>
                  <a:srgbClr val="0D2B55"/>
                </a:solidFill>
              </a:rPr>
              <a:t>Lundberg &amp; Lee (2017)</a:t>
            </a:r>
          </a:p>
        </p:txBody>
      </p:sp>
      <p:sp>
        <p:nvSpPr>
          <p:cNvPr id="18" name="TextBox 17"/>
          <p:cNvSpPr txBox="1"/>
          <p:nvPr/>
        </p:nvSpPr>
        <p:spPr>
          <a:xfrm>
            <a:off x="777240" y="1892807"/>
            <a:ext cx="5303520" cy="292608"/>
          </a:xfrm>
          <a:prstGeom prst="rect">
            <a:avLst/>
          </a:prstGeom>
          <a:noFill/>
        </p:spPr>
        <p:txBody>
          <a:bodyPr wrap="square">
            <a:spAutoFit/>
          </a:bodyPr>
          <a:lstStyle/>
          <a:p>
            <a:pPr algn="l"/>
            <a:r>
              <a:rPr sz="1000" b="0" i="1">
                <a:solidFill>
                  <a:srgbClr val="333333"/>
                </a:solidFill>
              </a:rPr>
              <a:t>A Unified Approach to Interpreting Model Predictions (SHAP)</a:t>
            </a:r>
          </a:p>
        </p:txBody>
      </p:sp>
      <p:sp>
        <p:nvSpPr>
          <p:cNvPr id="19" name="Rectangle 18"/>
          <p:cNvSpPr/>
          <p:nvPr/>
        </p:nvSpPr>
        <p:spPr>
          <a:xfrm>
            <a:off x="6263640" y="1600200"/>
            <a:ext cx="45720" cy="640080"/>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55080" y="1645920"/>
            <a:ext cx="5577840" cy="566928"/>
          </a:xfrm>
          <a:prstGeom prst="rect">
            <a:avLst/>
          </a:prstGeom>
          <a:noFill/>
        </p:spPr>
        <p:txBody>
          <a:bodyPr wrap="square">
            <a:spAutoFit/>
          </a:bodyPr>
          <a:lstStyle/>
          <a:p>
            <a:pPr algn="l"/>
            <a:r>
              <a:rPr sz="1050" b="0" i="0">
                <a:solidFill>
                  <a:srgbClr val="333333"/>
                </a:solidFill>
              </a:rPr>
              <a:t>Introduced SHAP values; enables consistent, model-agnostic feature attribution — widely adopted in regulatory ML contexts.</a:t>
            </a:r>
          </a:p>
        </p:txBody>
      </p:sp>
      <p:sp>
        <p:nvSpPr>
          <p:cNvPr id="21" name="Rectangle 20"/>
          <p:cNvSpPr/>
          <p:nvPr/>
        </p:nvSpPr>
        <p:spPr>
          <a:xfrm>
            <a:off x="228600" y="2258568"/>
            <a:ext cx="11704320" cy="640080"/>
          </a:xfrm>
          <a:prstGeom prst="rect">
            <a:avLst/>
          </a:prstGeom>
          <a:solidFill>
            <a:srgbClr val="E8F0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28600" y="2258568"/>
            <a:ext cx="475488" cy="64008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28600" y="2395727"/>
            <a:ext cx="475488" cy="384048"/>
          </a:xfrm>
          <a:prstGeom prst="rect">
            <a:avLst/>
          </a:prstGeom>
          <a:noFill/>
        </p:spPr>
        <p:txBody>
          <a:bodyPr wrap="square">
            <a:spAutoFit/>
          </a:bodyPr>
          <a:lstStyle/>
          <a:p>
            <a:pPr algn="ctr"/>
            <a:r>
              <a:rPr sz="1400" b="1" i="0">
                <a:solidFill>
                  <a:srgbClr val="FFFFFF"/>
                </a:solidFill>
              </a:rPr>
              <a:t>22</a:t>
            </a:r>
          </a:p>
        </p:txBody>
      </p:sp>
      <p:sp>
        <p:nvSpPr>
          <p:cNvPr id="24" name="TextBox 23"/>
          <p:cNvSpPr txBox="1"/>
          <p:nvPr/>
        </p:nvSpPr>
        <p:spPr>
          <a:xfrm>
            <a:off x="777240" y="2276856"/>
            <a:ext cx="3474720" cy="274320"/>
          </a:xfrm>
          <a:prstGeom prst="rect">
            <a:avLst/>
          </a:prstGeom>
          <a:noFill/>
        </p:spPr>
        <p:txBody>
          <a:bodyPr wrap="square">
            <a:spAutoFit/>
          </a:bodyPr>
          <a:lstStyle/>
          <a:p>
            <a:pPr algn="l"/>
            <a:r>
              <a:rPr sz="1000" b="1" i="0">
                <a:solidFill>
                  <a:srgbClr val="0D2B55"/>
                </a:solidFill>
              </a:rPr>
              <a:t>KPMG (2019)</a:t>
            </a:r>
          </a:p>
        </p:txBody>
      </p:sp>
      <p:sp>
        <p:nvSpPr>
          <p:cNvPr id="25" name="TextBox 24"/>
          <p:cNvSpPr txBox="1"/>
          <p:nvPr/>
        </p:nvSpPr>
        <p:spPr>
          <a:xfrm>
            <a:off x="777240" y="2551175"/>
            <a:ext cx="5303520" cy="292608"/>
          </a:xfrm>
          <a:prstGeom prst="rect">
            <a:avLst/>
          </a:prstGeom>
          <a:noFill/>
        </p:spPr>
        <p:txBody>
          <a:bodyPr wrap="square">
            <a:spAutoFit/>
          </a:bodyPr>
          <a:lstStyle/>
          <a:p>
            <a:pPr algn="l"/>
            <a:r>
              <a:rPr sz="1000" b="0" i="1">
                <a:solidFill>
                  <a:srgbClr val="333333"/>
                </a:solidFill>
              </a:rPr>
              <a:t>Global AML Survey: Compliance Technology and False Positive Rates</a:t>
            </a:r>
          </a:p>
        </p:txBody>
      </p:sp>
      <p:sp>
        <p:nvSpPr>
          <p:cNvPr id="26" name="Rectangle 25"/>
          <p:cNvSpPr/>
          <p:nvPr/>
        </p:nvSpPr>
        <p:spPr>
          <a:xfrm>
            <a:off x="6263640" y="2258568"/>
            <a:ext cx="45720" cy="640080"/>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55080" y="2304287"/>
            <a:ext cx="5577840" cy="566928"/>
          </a:xfrm>
          <a:prstGeom prst="rect">
            <a:avLst/>
          </a:prstGeom>
          <a:noFill/>
        </p:spPr>
        <p:txBody>
          <a:bodyPr wrap="square">
            <a:spAutoFit/>
          </a:bodyPr>
          <a:lstStyle/>
          <a:p>
            <a:pPr algn="l"/>
            <a:r>
              <a:rPr sz="1050" b="0" i="0">
                <a:solidFill>
                  <a:srgbClr val="333333"/>
                </a:solidFill>
              </a:rPr>
              <a:t>Found 90–95% false positive rates in rule-based AML tools; highlighted need for AI/ML augmentation in compliance.</a:t>
            </a:r>
          </a:p>
        </p:txBody>
      </p:sp>
      <p:sp>
        <p:nvSpPr>
          <p:cNvPr id="28" name="Rectangle 27"/>
          <p:cNvSpPr/>
          <p:nvPr/>
        </p:nvSpPr>
        <p:spPr>
          <a:xfrm>
            <a:off x="228600" y="2916935"/>
            <a:ext cx="1170432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28600" y="2916935"/>
            <a:ext cx="475488" cy="64008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28600" y="3054095"/>
            <a:ext cx="475488" cy="384048"/>
          </a:xfrm>
          <a:prstGeom prst="rect">
            <a:avLst/>
          </a:prstGeom>
          <a:noFill/>
        </p:spPr>
        <p:txBody>
          <a:bodyPr wrap="square">
            <a:spAutoFit/>
          </a:bodyPr>
          <a:lstStyle/>
          <a:p>
            <a:pPr algn="ctr"/>
            <a:r>
              <a:rPr sz="1400" b="1" i="0">
                <a:solidFill>
                  <a:srgbClr val="FFFFFF"/>
                </a:solidFill>
              </a:rPr>
              <a:t>23</a:t>
            </a:r>
          </a:p>
        </p:txBody>
      </p:sp>
      <p:sp>
        <p:nvSpPr>
          <p:cNvPr id="31" name="TextBox 30"/>
          <p:cNvSpPr txBox="1"/>
          <p:nvPr/>
        </p:nvSpPr>
        <p:spPr>
          <a:xfrm>
            <a:off x="777240" y="2935223"/>
            <a:ext cx="3474720" cy="274320"/>
          </a:xfrm>
          <a:prstGeom prst="rect">
            <a:avLst/>
          </a:prstGeom>
          <a:noFill/>
        </p:spPr>
        <p:txBody>
          <a:bodyPr wrap="square">
            <a:spAutoFit/>
          </a:bodyPr>
          <a:lstStyle/>
          <a:p>
            <a:pPr algn="l"/>
            <a:r>
              <a:rPr sz="1000" b="1" i="0">
                <a:solidFill>
                  <a:srgbClr val="0D2B55"/>
                </a:solidFill>
              </a:rPr>
              <a:t>Demetis, D.S. (2018)</a:t>
            </a:r>
          </a:p>
        </p:txBody>
      </p:sp>
      <p:sp>
        <p:nvSpPr>
          <p:cNvPr id="32" name="TextBox 31"/>
          <p:cNvSpPr txBox="1"/>
          <p:nvPr/>
        </p:nvSpPr>
        <p:spPr>
          <a:xfrm>
            <a:off x="777240" y="3209543"/>
            <a:ext cx="5303520" cy="292608"/>
          </a:xfrm>
          <a:prstGeom prst="rect">
            <a:avLst/>
          </a:prstGeom>
          <a:noFill/>
        </p:spPr>
        <p:txBody>
          <a:bodyPr wrap="square">
            <a:spAutoFit/>
          </a:bodyPr>
          <a:lstStyle/>
          <a:p>
            <a:pPr algn="l"/>
            <a:r>
              <a:rPr sz="1000" b="0" i="1">
                <a:solidFill>
                  <a:srgbClr val="333333"/>
                </a:solidFill>
              </a:rPr>
              <a:t>Technology and Anti-Money Laundering: A Systems Theory and Risk-Based Approach</a:t>
            </a:r>
          </a:p>
        </p:txBody>
      </p:sp>
      <p:sp>
        <p:nvSpPr>
          <p:cNvPr id="33" name="Rectangle 32"/>
          <p:cNvSpPr/>
          <p:nvPr/>
        </p:nvSpPr>
        <p:spPr>
          <a:xfrm>
            <a:off x="6263640" y="2916935"/>
            <a:ext cx="45720" cy="640080"/>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55080" y="2962655"/>
            <a:ext cx="5577840" cy="566928"/>
          </a:xfrm>
          <a:prstGeom prst="rect">
            <a:avLst/>
          </a:prstGeom>
          <a:noFill/>
        </p:spPr>
        <p:txBody>
          <a:bodyPr wrap="square">
            <a:spAutoFit/>
          </a:bodyPr>
          <a:lstStyle/>
          <a:p>
            <a:pPr algn="l"/>
            <a:r>
              <a:rPr sz="1050" b="0" i="0">
                <a:solidFill>
                  <a:srgbClr val="333333"/>
                </a:solidFill>
              </a:rPr>
              <a:t>Systems-theory critique of AML technology; argued for adaptive, risk-based ML frameworks over static rule sets.</a:t>
            </a:r>
          </a:p>
        </p:txBody>
      </p:sp>
      <p:sp>
        <p:nvSpPr>
          <p:cNvPr id="35" name="Rectangle 34"/>
          <p:cNvSpPr/>
          <p:nvPr/>
        </p:nvSpPr>
        <p:spPr>
          <a:xfrm>
            <a:off x="228600" y="3575303"/>
            <a:ext cx="11704320" cy="640080"/>
          </a:xfrm>
          <a:prstGeom prst="rect">
            <a:avLst/>
          </a:prstGeom>
          <a:solidFill>
            <a:srgbClr val="E8F0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228600" y="3575303"/>
            <a:ext cx="475488" cy="64008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28600" y="3712463"/>
            <a:ext cx="475488" cy="384048"/>
          </a:xfrm>
          <a:prstGeom prst="rect">
            <a:avLst/>
          </a:prstGeom>
          <a:noFill/>
        </p:spPr>
        <p:txBody>
          <a:bodyPr wrap="square">
            <a:spAutoFit/>
          </a:bodyPr>
          <a:lstStyle/>
          <a:p>
            <a:pPr algn="ctr"/>
            <a:r>
              <a:rPr sz="1400" b="1" i="0">
                <a:solidFill>
                  <a:srgbClr val="FFFFFF"/>
                </a:solidFill>
              </a:rPr>
              <a:t>24</a:t>
            </a:r>
          </a:p>
        </p:txBody>
      </p:sp>
      <p:sp>
        <p:nvSpPr>
          <p:cNvPr id="38" name="TextBox 37"/>
          <p:cNvSpPr txBox="1"/>
          <p:nvPr/>
        </p:nvSpPr>
        <p:spPr>
          <a:xfrm>
            <a:off x="777240" y="3593591"/>
            <a:ext cx="3474720" cy="274320"/>
          </a:xfrm>
          <a:prstGeom prst="rect">
            <a:avLst/>
          </a:prstGeom>
          <a:noFill/>
        </p:spPr>
        <p:txBody>
          <a:bodyPr wrap="square">
            <a:spAutoFit/>
          </a:bodyPr>
          <a:lstStyle/>
          <a:p>
            <a:pPr algn="l"/>
            <a:r>
              <a:rPr sz="1000" b="1" i="0">
                <a:solidFill>
                  <a:srgbClr val="0D2B55"/>
                </a:solidFill>
              </a:rPr>
              <a:t>Armour &amp; Sako (2020)</a:t>
            </a:r>
          </a:p>
        </p:txBody>
      </p:sp>
      <p:sp>
        <p:nvSpPr>
          <p:cNvPr id="39" name="TextBox 38"/>
          <p:cNvSpPr txBox="1"/>
          <p:nvPr/>
        </p:nvSpPr>
        <p:spPr>
          <a:xfrm>
            <a:off x="777240" y="3867911"/>
            <a:ext cx="5303520" cy="292608"/>
          </a:xfrm>
          <a:prstGeom prst="rect">
            <a:avLst/>
          </a:prstGeom>
          <a:noFill/>
        </p:spPr>
        <p:txBody>
          <a:bodyPr wrap="square">
            <a:spAutoFit/>
          </a:bodyPr>
          <a:lstStyle/>
          <a:p>
            <a:pPr algn="l"/>
            <a:r>
              <a:rPr sz="1000" b="0" i="1">
                <a:solidFill>
                  <a:srgbClr val="333333"/>
                </a:solidFill>
              </a:rPr>
              <a:t>AI-Enabled Business Models in Legal Services and Compliance</a:t>
            </a:r>
          </a:p>
        </p:txBody>
      </p:sp>
      <p:sp>
        <p:nvSpPr>
          <p:cNvPr id="40" name="Rectangle 39"/>
          <p:cNvSpPr/>
          <p:nvPr/>
        </p:nvSpPr>
        <p:spPr>
          <a:xfrm>
            <a:off x="6263640" y="3575303"/>
            <a:ext cx="45720" cy="640080"/>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355080" y="3621023"/>
            <a:ext cx="5577840" cy="566928"/>
          </a:xfrm>
          <a:prstGeom prst="rect">
            <a:avLst/>
          </a:prstGeom>
          <a:noFill/>
        </p:spPr>
        <p:txBody>
          <a:bodyPr wrap="square">
            <a:spAutoFit/>
          </a:bodyPr>
          <a:lstStyle/>
          <a:p>
            <a:pPr algn="l"/>
            <a:r>
              <a:rPr sz="1050" b="0" i="0">
                <a:solidFill>
                  <a:srgbClr val="333333"/>
                </a:solidFill>
              </a:rPr>
              <a:t>Examined AI adoption in compliance functions; identified automated reporting (SAR automation) as key ROI driver.</a:t>
            </a:r>
          </a:p>
        </p:txBody>
      </p:sp>
      <p:sp>
        <p:nvSpPr>
          <p:cNvPr id="42" name="Rectangle 41"/>
          <p:cNvSpPr/>
          <p:nvPr/>
        </p:nvSpPr>
        <p:spPr>
          <a:xfrm>
            <a:off x="228600" y="4233671"/>
            <a:ext cx="11704320" cy="6400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228600" y="4233671"/>
            <a:ext cx="475488" cy="64008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28600" y="4370831"/>
            <a:ext cx="475488" cy="384048"/>
          </a:xfrm>
          <a:prstGeom prst="rect">
            <a:avLst/>
          </a:prstGeom>
          <a:noFill/>
        </p:spPr>
        <p:txBody>
          <a:bodyPr wrap="square">
            <a:spAutoFit/>
          </a:bodyPr>
          <a:lstStyle/>
          <a:p>
            <a:pPr algn="ctr"/>
            <a:r>
              <a:rPr sz="1400" b="1" i="0">
                <a:solidFill>
                  <a:srgbClr val="FFFFFF"/>
                </a:solidFill>
              </a:rPr>
              <a:t>25</a:t>
            </a:r>
          </a:p>
        </p:txBody>
      </p:sp>
      <p:sp>
        <p:nvSpPr>
          <p:cNvPr id="45" name="TextBox 44"/>
          <p:cNvSpPr txBox="1"/>
          <p:nvPr/>
        </p:nvSpPr>
        <p:spPr>
          <a:xfrm>
            <a:off x="777240" y="4251959"/>
            <a:ext cx="3474720" cy="274320"/>
          </a:xfrm>
          <a:prstGeom prst="rect">
            <a:avLst/>
          </a:prstGeom>
          <a:noFill/>
        </p:spPr>
        <p:txBody>
          <a:bodyPr wrap="square">
            <a:spAutoFit/>
          </a:bodyPr>
          <a:lstStyle/>
          <a:p>
            <a:pPr algn="l"/>
            <a:r>
              <a:rPr sz="1000" b="1" i="0">
                <a:solidFill>
                  <a:srgbClr val="0D2B55"/>
                </a:solidFill>
              </a:rPr>
              <a:t>Cheng et al. (2023)</a:t>
            </a:r>
          </a:p>
        </p:txBody>
      </p:sp>
      <p:sp>
        <p:nvSpPr>
          <p:cNvPr id="46" name="TextBox 45"/>
          <p:cNvSpPr txBox="1"/>
          <p:nvPr/>
        </p:nvSpPr>
        <p:spPr>
          <a:xfrm>
            <a:off x="777240" y="4526279"/>
            <a:ext cx="5303520" cy="292608"/>
          </a:xfrm>
          <a:prstGeom prst="rect">
            <a:avLst/>
          </a:prstGeom>
          <a:noFill/>
        </p:spPr>
        <p:txBody>
          <a:bodyPr wrap="square">
            <a:spAutoFit/>
          </a:bodyPr>
          <a:lstStyle/>
          <a:p>
            <a:pPr algn="l"/>
            <a:r>
              <a:rPr sz="1000" b="0" i="1">
                <a:solidFill>
                  <a:srgbClr val="333333"/>
                </a:solidFill>
              </a:rPr>
              <a:t>Federated Learning for Privacy-Preserving Financial Fraud Detection</a:t>
            </a:r>
          </a:p>
        </p:txBody>
      </p:sp>
      <p:sp>
        <p:nvSpPr>
          <p:cNvPr id="47" name="Rectangle 46"/>
          <p:cNvSpPr/>
          <p:nvPr/>
        </p:nvSpPr>
        <p:spPr>
          <a:xfrm>
            <a:off x="6263640" y="4233671"/>
            <a:ext cx="45720" cy="640080"/>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355080" y="4279391"/>
            <a:ext cx="5577840" cy="566928"/>
          </a:xfrm>
          <a:prstGeom prst="rect">
            <a:avLst/>
          </a:prstGeom>
          <a:noFill/>
        </p:spPr>
        <p:txBody>
          <a:bodyPr wrap="square">
            <a:spAutoFit/>
          </a:bodyPr>
          <a:lstStyle/>
          <a:p>
            <a:pPr algn="l"/>
            <a:r>
              <a:rPr sz="1050" b="0" i="0">
                <a:solidFill>
                  <a:srgbClr val="333333"/>
                </a:solidFill>
              </a:rPr>
              <a:t>Demonstrated federated learning enables cross-institution AML model training without sharing raw customer data.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97280"/>
            <a:ext cx="12188952" cy="64008"/>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61288"/>
            <a:ext cx="12188952" cy="5696712"/>
          </a:xfrm>
          <a:prstGeom prst="rect">
            <a:avLst/>
          </a:prstGeom>
          <a:solidFill>
            <a:srgbClr val="F2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91440"/>
            <a:ext cx="11430000" cy="914400"/>
          </a:xfrm>
          <a:prstGeom prst="rect">
            <a:avLst/>
          </a:prstGeom>
          <a:noFill/>
        </p:spPr>
        <p:txBody>
          <a:bodyPr wrap="square">
            <a:spAutoFit/>
          </a:bodyPr>
          <a:lstStyle/>
          <a:p>
            <a:pPr algn="l"/>
            <a:r>
              <a:rPr sz="2800" b="1" i="0">
                <a:solidFill>
                  <a:srgbClr val="FFFFFF"/>
                </a:solidFill>
              </a:rPr>
              <a:t>Literature Review — Synthesis &amp; Research Gaps</a:t>
            </a:r>
          </a:p>
        </p:txBody>
      </p:sp>
      <p:sp>
        <p:nvSpPr>
          <p:cNvPr id="6" name="TextBox 5"/>
          <p:cNvSpPr txBox="1"/>
          <p:nvPr/>
        </p:nvSpPr>
        <p:spPr>
          <a:xfrm>
            <a:off x="274320" y="685800"/>
            <a:ext cx="11430000" cy="411480"/>
          </a:xfrm>
          <a:prstGeom prst="rect">
            <a:avLst/>
          </a:prstGeom>
          <a:noFill/>
        </p:spPr>
        <p:txBody>
          <a:bodyPr wrap="square">
            <a:spAutoFit/>
          </a:bodyPr>
          <a:lstStyle/>
          <a:p>
            <a:pPr algn="l"/>
            <a:r>
              <a:rPr sz="1400" b="0" i="0">
                <a:solidFill>
                  <a:srgbClr val="F0A500"/>
                </a:solidFill>
              </a:rPr>
              <a:t>What 25 Papers Tell Us — And What Is Missing</a:t>
            </a:r>
          </a:p>
        </p:txBody>
      </p:sp>
      <p:sp>
        <p:nvSpPr>
          <p:cNvPr id="7" name="Rectangle 6"/>
          <p:cNvSpPr/>
          <p:nvPr/>
        </p:nvSpPr>
        <p:spPr>
          <a:xfrm>
            <a:off x="228600" y="1371600"/>
            <a:ext cx="2560320" cy="82296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74320" y="1481328"/>
            <a:ext cx="2468880" cy="640080"/>
          </a:xfrm>
          <a:prstGeom prst="rect">
            <a:avLst/>
          </a:prstGeom>
          <a:noFill/>
        </p:spPr>
        <p:txBody>
          <a:bodyPr wrap="square">
            <a:spAutoFit/>
          </a:bodyPr>
          <a:lstStyle/>
          <a:p>
            <a:pPr algn="ctr"/>
            <a:r>
              <a:rPr sz="1200" b="1" i="0">
                <a:solidFill>
                  <a:srgbClr val="FFFFFF"/>
                </a:solidFill>
              </a:rPr>
              <a:t>AML Fundamentals
(Papers 1–5)</a:t>
            </a:r>
          </a:p>
        </p:txBody>
      </p:sp>
      <p:sp>
        <p:nvSpPr>
          <p:cNvPr id="9" name="Rectangle 8"/>
          <p:cNvSpPr/>
          <p:nvPr/>
        </p:nvSpPr>
        <p:spPr>
          <a:xfrm>
            <a:off x="2834640" y="1371600"/>
            <a:ext cx="9006840" cy="822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834640" y="1371600"/>
            <a:ext cx="73152" cy="822960"/>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71800" y="1554480"/>
            <a:ext cx="8686800" cy="502920"/>
          </a:xfrm>
          <a:prstGeom prst="rect">
            <a:avLst/>
          </a:prstGeom>
          <a:noFill/>
        </p:spPr>
        <p:txBody>
          <a:bodyPr wrap="square">
            <a:spAutoFit/>
          </a:bodyPr>
          <a:lstStyle/>
          <a:p>
            <a:pPr algn="l"/>
            <a:r>
              <a:rPr sz="1300" b="0" i="0">
                <a:solidFill>
                  <a:srgbClr val="333333"/>
                </a:solidFill>
              </a:rPr>
              <a:t>Risk-Based Approach established; insurance recognised as high-risk vector</a:t>
            </a:r>
          </a:p>
        </p:txBody>
      </p:sp>
      <p:sp>
        <p:nvSpPr>
          <p:cNvPr id="12" name="Rectangle 11"/>
          <p:cNvSpPr/>
          <p:nvPr/>
        </p:nvSpPr>
        <p:spPr>
          <a:xfrm>
            <a:off x="228600" y="2286000"/>
            <a:ext cx="2560320" cy="82296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2395728"/>
            <a:ext cx="2468880" cy="640080"/>
          </a:xfrm>
          <a:prstGeom prst="rect">
            <a:avLst/>
          </a:prstGeom>
          <a:noFill/>
        </p:spPr>
        <p:txBody>
          <a:bodyPr wrap="square">
            <a:spAutoFit/>
          </a:bodyPr>
          <a:lstStyle/>
          <a:p>
            <a:pPr algn="ctr"/>
            <a:r>
              <a:rPr sz="1200" b="1" i="0">
                <a:solidFill>
                  <a:srgbClr val="FFFFFF"/>
                </a:solidFill>
              </a:rPr>
              <a:t>Insurance Typologies
(Papers 6–10)</a:t>
            </a:r>
          </a:p>
        </p:txBody>
      </p:sp>
      <p:sp>
        <p:nvSpPr>
          <p:cNvPr id="14" name="Rectangle 13"/>
          <p:cNvSpPr/>
          <p:nvPr/>
        </p:nvSpPr>
        <p:spPr>
          <a:xfrm>
            <a:off x="2834640" y="2286000"/>
            <a:ext cx="9006840" cy="822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286000"/>
            <a:ext cx="73152" cy="822960"/>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71800" y="2468880"/>
            <a:ext cx="8686800" cy="502920"/>
          </a:xfrm>
          <a:prstGeom prst="rect">
            <a:avLst/>
          </a:prstGeom>
          <a:noFill/>
        </p:spPr>
        <p:txBody>
          <a:bodyPr wrap="square">
            <a:spAutoFit/>
          </a:bodyPr>
          <a:lstStyle/>
          <a:p>
            <a:pPr algn="l"/>
            <a:r>
              <a:rPr sz="1300" b="0" i="0">
                <a:solidFill>
                  <a:srgbClr val="333333"/>
                </a:solidFill>
              </a:rPr>
              <a:t>14+ laundering methods identified; broker networks a key blind spot</a:t>
            </a:r>
          </a:p>
        </p:txBody>
      </p:sp>
      <p:sp>
        <p:nvSpPr>
          <p:cNvPr id="17" name="Rectangle 16"/>
          <p:cNvSpPr/>
          <p:nvPr/>
        </p:nvSpPr>
        <p:spPr>
          <a:xfrm>
            <a:off x="228600" y="3200400"/>
            <a:ext cx="2560320" cy="82296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4320" y="3310128"/>
            <a:ext cx="2468880" cy="640080"/>
          </a:xfrm>
          <a:prstGeom prst="rect">
            <a:avLst/>
          </a:prstGeom>
          <a:noFill/>
        </p:spPr>
        <p:txBody>
          <a:bodyPr wrap="square">
            <a:spAutoFit/>
          </a:bodyPr>
          <a:lstStyle/>
          <a:p>
            <a:pPr algn="ctr"/>
            <a:r>
              <a:rPr sz="1200" b="1" i="0">
                <a:solidFill>
                  <a:srgbClr val="FFFFFF"/>
                </a:solidFill>
              </a:rPr>
              <a:t>ML Detection
(Papers 11–16)</a:t>
            </a:r>
          </a:p>
        </p:txBody>
      </p:sp>
      <p:sp>
        <p:nvSpPr>
          <p:cNvPr id="19" name="Rectangle 18"/>
          <p:cNvSpPr/>
          <p:nvPr/>
        </p:nvSpPr>
        <p:spPr>
          <a:xfrm>
            <a:off x="2834640" y="3200400"/>
            <a:ext cx="9006840" cy="822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834640" y="3200400"/>
            <a:ext cx="73152" cy="822960"/>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971800" y="3383280"/>
            <a:ext cx="8686800" cy="502920"/>
          </a:xfrm>
          <a:prstGeom prst="rect">
            <a:avLst/>
          </a:prstGeom>
          <a:noFill/>
        </p:spPr>
        <p:txBody>
          <a:bodyPr wrap="square">
            <a:spAutoFit/>
          </a:bodyPr>
          <a:lstStyle/>
          <a:p>
            <a:pPr algn="l"/>
            <a:r>
              <a:rPr sz="1300" b="0" i="0">
                <a:solidFill>
                  <a:srgbClr val="333333"/>
                </a:solidFill>
              </a:rPr>
              <a:t>Ensemble/deep methods outperform rules; hybrid approach recommended</a:t>
            </a:r>
          </a:p>
        </p:txBody>
      </p:sp>
      <p:sp>
        <p:nvSpPr>
          <p:cNvPr id="22" name="Rectangle 21"/>
          <p:cNvSpPr/>
          <p:nvPr/>
        </p:nvSpPr>
        <p:spPr>
          <a:xfrm>
            <a:off x="228600" y="4114800"/>
            <a:ext cx="2560320" cy="82296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74320" y="4224528"/>
            <a:ext cx="2468880" cy="640080"/>
          </a:xfrm>
          <a:prstGeom prst="rect">
            <a:avLst/>
          </a:prstGeom>
          <a:noFill/>
        </p:spPr>
        <p:txBody>
          <a:bodyPr wrap="square">
            <a:spAutoFit/>
          </a:bodyPr>
          <a:lstStyle/>
          <a:p>
            <a:pPr algn="ctr"/>
            <a:r>
              <a:rPr sz="1200" b="1" i="0">
                <a:solidFill>
                  <a:srgbClr val="FFFFFF"/>
                </a:solidFill>
              </a:rPr>
              <a:t>Graph Analytics
(Papers 17–20)</a:t>
            </a:r>
          </a:p>
        </p:txBody>
      </p:sp>
      <p:sp>
        <p:nvSpPr>
          <p:cNvPr id="24" name="Rectangle 23"/>
          <p:cNvSpPr/>
          <p:nvPr/>
        </p:nvSpPr>
        <p:spPr>
          <a:xfrm>
            <a:off x="2834640" y="4114800"/>
            <a:ext cx="9006840" cy="822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834640" y="4114800"/>
            <a:ext cx="73152" cy="822960"/>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971800" y="4297680"/>
            <a:ext cx="8686800" cy="502920"/>
          </a:xfrm>
          <a:prstGeom prst="rect">
            <a:avLst/>
          </a:prstGeom>
          <a:noFill/>
        </p:spPr>
        <p:txBody>
          <a:bodyPr wrap="square">
            <a:spAutoFit/>
          </a:bodyPr>
          <a:lstStyle/>
          <a:p>
            <a:pPr algn="l"/>
            <a:r>
              <a:rPr sz="1300" b="0" i="0">
                <a:solidFill>
                  <a:srgbClr val="333333"/>
                </a:solidFill>
              </a:rPr>
              <a:t>GNNs achieve SOTA on transaction graphs; dynamic graphs needed</a:t>
            </a:r>
          </a:p>
        </p:txBody>
      </p:sp>
      <p:sp>
        <p:nvSpPr>
          <p:cNvPr id="27" name="Rectangle 26"/>
          <p:cNvSpPr/>
          <p:nvPr/>
        </p:nvSpPr>
        <p:spPr>
          <a:xfrm>
            <a:off x="228600" y="5029200"/>
            <a:ext cx="2560320" cy="82296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74320" y="5138928"/>
            <a:ext cx="2468880" cy="640080"/>
          </a:xfrm>
          <a:prstGeom prst="rect">
            <a:avLst/>
          </a:prstGeom>
          <a:noFill/>
        </p:spPr>
        <p:txBody>
          <a:bodyPr wrap="square">
            <a:spAutoFit/>
          </a:bodyPr>
          <a:lstStyle/>
          <a:p>
            <a:pPr algn="ctr"/>
            <a:r>
              <a:rPr sz="1200" b="1" i="0">
                <a:solidFill>
                  <a:srgbClr val="FFFFFF"/>
                </a:solidFill>
              </a:rPr>
              <a:t>XAI &amp; Compliance
(Papers 21–25)</a:t>
            </a:r>
          </a:p>
        </p:txBody>
      </p:sp>
      <p:sp>
        <p:nvSpPr>
          <p:cNvPr id="29" name="Rectangle 28"/>
          <p:cNvSpPr/>
          <p:nvPr/>
        </p:nvSpPr>
        <p:spPr>
          <a:xfrm>
            <a:off x="2834640" y="5029200"/>
            <a:ext cx="9006840" cy="822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2834640" y="5029200"/>
            <a:ext cx="73152" cy="822960"/>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971800" y="5212080"/>
            <a:ext cx="8686800" cy="502920"/>
          </a:xfrm>
          <a:prstGeom prst="rect">
            <a:avLst/>
          </a:prstGeom>
          <a:noFill/>
        </p:spPr>
        <p:txBody>
          <a:bodyPr wrap="square">
            <a:spAutoFit/>
          </a:bodyPr>
          <a:lstStyle/>
          <a:p>
            <a:pPr algn="l"/>
            <a:r>
              <a:rPr sz="1300" b="0" i="0">
                <a:solidFill>
                  <a:srgbClr val="333333"/>
                </a:solidFill>
              </a:rPr>
              <a:t>SHAP adopted for regulatory ML; federated learning emerging</a:t>
            </a:r>
          </a:p>
        </p:txBody>
      </p:sp>
      <p:sp>
        <p:nvSpPr>
          <p:cNvPr id="32" name="Rectangle 31"/>
          <p:cNvSpPr/>
          <p:nvPr/>
        </p:nvSpPr>
        <p:spPr>
          <a:xfrm>
            <a:off x="228600" y="5989320"/>
            <a:ext cx="11704320" cy="5486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65760" y="6035040"/>
            <a:ext cx="11430000" cy="457200"/>
          </a:xfrm>
          <a:prstGeom prst="rect">
            <a:avLst/>
          </a:prstGeom>
          <a:noFill/>
        </p:spPr>
        <p:txBody>
          <a:bodyPr wrap="square">
            <a:spAutoFit/>
          </a:bodyPr>
          <a:lstStyle/>
          <a:p>
            <a:pPr algn="ctr"/>
            <a:r>
              <a:rPr sz="1200" b="1" i="0">
                <a:solidFill>
                  <a:srgbClr val="FFFFFF"/>
                </a:solidFill>
              </a:rPr>
              <a:t>Research Gaps: No unified ML+GNN+SAR framework exists for insurance AML · Explainability largely absent · Reinsurance AML understudied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97280"/>
            <a:ext cx="12188952" cy="64008"/>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61288"/>
            <a:ext cx="12188952" cy="5696712"/>
          </a:xfrm>
          <a:prstGeom prst="rect">
            <a:avLst/>
          </a:prstGeom>
          <a:solidFill>
            <a:srgbClr val="F2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91440"/>
            <a:ext cx="11430000" cy="914400"/>
          </a:xfrm>
          <a:prstGeom prst="rect">
            <a:avLst/>
          </a:prstGeom>
          <a:noFill/>
        </p:spPr>
        <p:txBody>
          <a:bodyPr wrap="square">
            <a:spAutoFit/>
          </a:bodyPr>
          <a:lstStyle/>
          <a:p>
            <a:pPr algn="l"/>
            <a:r>
              <a:rPr sz="2800" b="1" i="0">
                <a:solidFill>
                  <a:srgbClr val="FFFFFF"/>
                </a:solidFill>
              </a:rPr>
              <a:t>Novelty Justification</a:t>
            </a:r>
          </a:p>
        </p:txBody>
      </p:sp>
      <p:sp>
        <p:nvSpPr>
          <p:cNvPr id="6" name="TextBox 5"/>
          <p:cNvSpPr txBox="1"/>
          <p:nvPr/>
        </p:nvSpPr>
        <p:spPr>
          <a:xfrm>
            <a:off x="274320" y="685800"/>
            <a:ext cx="11430000" cy="411480"/>
          </a:xfrm>
          <a:prstGeom prst="rect">
            <a:avLst/>
          </a:prstGeom>
          <a:noFill/>
        </p:spPr>
        <p:txBody>
          <a:bodyPr wrap="square">
            <a:spAutoFit/>
          </a:bodyPr>
          <a:lstStyle/>
          <a:p>
            <a:pPr algn="l"/>
            <a:r>
              <a:rPr sz="1400" b="0" i="0">
                <a:solidFill>
                  <a:srgbClr val="F0A500"/>
                </a:solidFill>
              </a:rPr>
              <a:t>Six Original Contributions of This Research</a:t>
            </a:r>
          </a:p>
        </p:txBody>
      </p:sp>
      <p:sp>
        <p:nvSpPr>
          <p:cNvPr id="7" name="Rectangle 6"/>
          <p:cNvSpPr/>
          <p:nvPr/>
        </p:nvSpPr>
        <p:spPr>
          <a:xfrm>
            <a:off x="182880" y="1325880"/>
            <a:ext cx="914400" cy="128016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2880" y="1645919"/>
            <a:ext cx="914400" cy="548640"/>
          </a:xfrm>
          <a:prstGeom prst="rect">
            <a:avLst/>
          </a:prstGeom>
          <a:noFill/>
        </p:spPr>
        <p:txBody>
          <a:bodyPr wrap="square">
            <a:spAutoFit/>
          </a:bodyPr>
          <a:lstStyle/>
          <a:p>
            <a:pPr algn="ctr"/>
            <a:r>
              <a:rPr sz="1600" b="1" i="0">
                <a:solidFill>
                  <a:srgbClr val="FFFFFF"/>
                </a:solidFill>
              </a:rPr>
              <a:t>#1</a:t>
            </a:r>
          </a:p>
        </p:txBody>
      </p:sp>
      <p:sp>
        <p:nvSpPr>
          <p:cNvPr id="9" name="Rectangle 8"/>
          <p:cNvSpPr/>
          <p:nvPr/>
        </p:nvSpPr>
        <p:spPr>
          <a:xfrm>
            <a:off x="1143000" y="1325880"/>
            <a:ext cx="4572000" cy="1280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80160" y="1417320"/>
            <a:ext cx="4389120" cy="411480"/>
          </a:xfrm>
          <a:prstGeom prst="rect">
            <a:avLst/>
          </a:prstGeom>
          <a:noFill/>
        </p:spPr>
        <p:txBody>
          <a:bodyPr wrap="square">
            <a:spAutoFit/>
          </a:bodyPr>
          <a:lstStyle/>
          <a:p>
            <a:pPr algn="l"/>
            <a:r>
              <a:rPr sz="1300" b="1" i="0">
                <a:solidFill>
                  <a:srgbClr val="0D2B55"/>
                </a:solidFill>
              </a:rPr>
              <a:t>Insurance-Specific Feature Engineering</a:t>
            </a:r>
          </a:p>
        </p:txBody>
      </p:sp>
      <p:sp>
        <p:nvSpPr>
          <p:cNvPr id="11" name="TextBox 10"/>
          <p:cNvSpPr txBox="1"/>
          <p:nvPr/>
        </p:nvSpPr>
        <p:spPr>
          <a:xfrm>
            <a:off x="1280160" y="1828800"/>
            <a:ext cx="4389120" cy="685800"/>
          </a:xfrm>
          <a:prstGeom prst="rect">
            <a:avLst/>
          </a:prstGeom>
          <a:noFill/>
        </p:spPr>
        <p:txBody>
          <a:bodyPr wrap="square">
            <a:spAutoFit/>
          </a:bodyPr>
          <a:lstStyle/>
          <a:p>
            <a:pPr algn="l"/>
            <a:r>
              <a:rPr sz="1200" b="0" i="0">
                <a:solidFill>
                  <a:srgbClr val="333333"/>
                </a:solidFill>
              </a:rPr>
              <a:t>40+ domain features: surrender timing, beneficiary change frequency, premium-to-income deviation</a:t>
            </a:r>
          </a:p>
        </p:txBody>
      </p:sp>
      <p:sp>
        <p:nvSpPr>
          <p:cNvPr id="12" name="Rectangle 11"/>
          <p:cNvSpPr/>
          <p:nvPr/>
        </p:nvSpPr>
        <p:spPr>
          <a:xfrm>
            <a:off x="6309360" y="1325880"/>
            <a:ext cx="914400" cy="128016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1645919"/>
            <a:ext cx="914400" cy="548640"/>
          </a:xfrm>
          <a:prstGeom prst="rect">
            <a:avLst/>
          </a:prstGeom>
          <a:noFill/>
        </p:spPr>
        <p:txBody>
          <a:bodyPr wrap="square">
            <a:spAutoFit/>
          </a:bodyPr>
          <a:lstStyle/>
          <a:p>
            <a:pPr algn="ctr"/>
            <a:r>
              <a:rPr sz="1600" b="1" i="0">
                <a:solidFill>
                  <a:srgbClr val="FFFFFF"/>
                </a:solidFill>
              </a:rPr>
              <a:t>#2</a:t>
            </a:r>
          </a:p>
        </p:txBody>
      </p:sp>
      <p:sp>
        <p:nvSpPr>
          <p:cNvPr id="14" name="Rectangle 13"/>
          <p:cNvSpPr/>
          <p:nvPr/>
        </p:nvSpPr>
        <p:spPr>
          <a:xfrm>
            <a:off x="7269480" y="1325880"/>
            <a:ext cx="4572000" cy="1280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0" y="1417320"/>
            <a:ext cx="4389120" cy="411480"/>
          </a:xfrm>
          <a:prstGeom prst="rect">
            <a:avLst/>
          </a:prstGeom>
          <a:noFill/>
        </p:spPr>
        <p:txBody>
          <a:bodyPr wrap="square">
            <a:spAutoFit/>
          </a:bodyPr>
          <a:lstStyle/>
          <a:p>
            <a:pPr algn="l"/>
            <a:r>
              <a:rPr sz="1300" b="1" i="0">
                <a:solidFill>
                  <a:srgbClr val="0D2B55"/>
                </a:solidFill>
              </a:rPr>
              <a:t>Multi-Layer Hybrid Architecture</a:t>
            </a:r>
          </a:p>
        </p:txBody>
      </p:sp>
      <p:sp>
        <p:nvSpPr>
          <p:cNvPr id="16" name="TextBox 15"/>
          <p:cNvSpPr txBox="1"/>
          <p:nvPr/>
        </p:nvSpPr>
        <p:spPr>
          <a:xfrm>
            <a:off x="7406640" y="1828800"/>
            <a:ext cx="4389120" cy="685800"/>
          </a:xfrm>
          <a:prstGeom prst="rect">
            <a:avLst/>
          </a:prstGeom>
          <a:noFill/>
        </p:spPr>
        <p:txBody>
          <a:bodyPr wrap="square">
            <a:spAutoFit/>
          </a:bodyPr>
          <a:lstStyle/>
          <a:p>
            <a:pPr algn="l"/>
            <a:r>
              <a:rPr sz="1200" b="0" i="0">
                <a:solidFill>
                  <a:srgbClr val="333333"/>
                </a:solidFill>
              </a:rPr>
              <a:t>Fuses supervised, unsupervised &amp; graph analytics in a unified pipeline</a:t>
            </a:r>
          </a:p>
        </p:txBody>
      </p:sp>
      <p:sp>
        <p:nvSpPr>
          <p:cNvPr id="17" name="Rectangle 16"/>
          <p:cNvSpPr/>
          <p:nvPr/>
        </p:nvSpPr>
        <p:spPr>
          <a:xfrm>
            <a:off x="182880" y="2880360"/>
            <a:ext cx="914400" cy="128016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2880" y="3200400"/>
            <a:ext cx="914400" cy="548640"/>
          </a:xfrm>
          <a:prstGeom prst="rect">
            <a:avLst/>
          </a:prstGeom>
          <a:noFill/>
        </p:spPr>
        <p:txBody>
          <a:bodyPr wrap="square">
            <a:spAutoFit/>
          </a:bodyPr>
          <a:lstStyle/>
          <a:p>
            <a:pPr algn="ctr"/>
            <a:r>
              <a:rPr sz="1600" b="1" i="0">
                <a:solidFill>
                  <a:srgbClr val="FFFFFF"/>
                </a:solidFill>
              </a:rPr>
              <a:t>#3</a:t>
            </a:r>
          </a:p>
        </p:txBody>
      </p:sp>
      <p:sp>
        <p:nvSpPr>
          <p:cNvPr id="19" name="Rectangle 18"/>
          <p:cNvSpPr/>
          <p:nvPr/>
        </p:nvSpPr>
        <p:spPr>
          <a:xfrm>
            <a:off x="1143000" y="2880360"/>
            <a:ext cx="4572000" cy="1280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280160" y="2971800"/>
            <a:ext cx="4389120" cy="411480"/>
          </a:xfrm>
          <a:prstGeom prst="rect">
            <a:avLst/>
          </a:prstGeom>
          <a:noFill/>
        </p:spPr>
        <p:txBody>
          <a:bodyPr wrap="square">
            <a:spAutoFit/>
          </a:bodyPr>
          <a:lstStyle/>
          <a:p>
            <a:pPr algn="l"/>
            <a:r>
              <a:rPr sz="1300" b="1" i="0">
                <a:solidFill>
                  <a:srgbClr val="0D2B55"/>
                </a:solidFill>
              </a:rPr>
              <a:t>Intermediary Network GNN</a:t>
            </a:r>
          </a:p>
        </p:txBody>
      </p:sp>
      <p:sp>
        <p:nvSpPr>
          <p:cNvPr id="21" name="TextBox 20"/>
          <p:cNvSpPr txBox="1"/>
          <p:nvPr/>
        </p:nvSpPr>
        <p:spPr>
          <a:xfrm>
            <a:off x="1280160" y="3383280"/>
            <a:ext cx="4389120" cy="685800"/>
          </a:xfrm>
          <a:prstGeom prst="rect">
            <a:avLst/>
          </a:prstGeom>
          <a:noFill/>
        </p:spPr>
        <p:txBody>
          <a:bodyPr wrap="square">
            <a:spAutoFit/>
          </a:bodyPr>
          <a:lstStyle/>
          <a:p>
            <a:pPr algn="l"/>
            <a:r>
              <a:rPr sz="1200" b="0" i="0">
                <a:solidFill>
                  <a:srgbClr val="333333"/>
                </a:solidFill>
              </a:rPr>
              <a:t>Models broker/agent networks to detect collusion — rarely done in existing research</a:t>
            </a:r>
          </a:p>
        </p:txBody>
      </p:sp>
      <p:sp>
        <p:nvSpPr>
          <p:cNvPr id="22" name="Rectangle 21"/>
          <p:cNvSpPr/>
          <p:nvPr/>
        </p:nvSpPr>
        <p:spPr>
          <a:xfrm>
            <a:off x="6309360" y="2880360"/>
            <a:ext cx="914400" cy="128016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09360" y="3200400"/>
            <a:ext cx="914400" cy="548640"/>
          </a:xfrm>
          <a:prstGeom prst="rect">
            <a:avLst/>
          </a:prstGeom>
          <a:noFill/>
        </p:spPr>
        <p:txBody>
          <a:bodyPr wrap="square">
            <a:spAutoFit/>
          </a:bodyPr>
          <a:lstStyle/>
          <a:p>
            <a:pPr algn="ctr"/>
            <a:r>
              <a:rPr sz="1600" b="1" i="0">
                <a:solidFill>
                  <a:srgbClr val="FFFFFF"/>
                </a:solidFill>
              </a:rPr>
              <a:t>#4</a:t>
            </a:r>
          </a:p>
        </p:txBody>
      </p:sp>
      <p:sp>
        <p:nvSpPr>
          <p:cNvPr id="24" name="Rectangle 23"/>
          <p:cNvSpPr/>
          <p:nvPr/>
        </p:nvSpPr>
        <p:spPr>
          <a:xfrm>
            <a:off x="7269480" y="2880360"/>
            <a:ext cx="4572000" cy="1280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06640" y="2971800"/>
            <a:ext cx="4389120" cy="411480"/>
          </a:xfrm>
          <a:prstGeom prst="rect">
            <a:avLst/>
          </a:prstGeom>
          <a:noFill/>
        </p:spPr>
        <p:txBody>
          <a:bodyPr wrap="square">
            <a:spAutoFit/>
          </a:bodyPr>
          <a:lstStyle/>
          <a:p>
            <a:pPr algn="l"/>
            <a:r>
              <a:rPr sz="1300" b="1" i="0">
                <a:solidFill>
                  <a:srgbClr val="0D2B55"/>
                </a:solidFill>
              </a:rPr>
              <a:t>Automated SAR Generation</a:t>
            </a:r>
          </a:p>
        </p:txBody>
      </p:sp>
      <p:sp>
        <p:nvSpPr>
          <p:cNvPr id="26" name="TextBox 25"/>
          <p:cNvSpPr txBox="1"/>
          <p:nvPr/>
        </p:nvSpPr>
        <p:spPr>
          <a:xfrm>
            <a:off x="7406640" y="3383280"/>
            <a:ext cx="4389120" cy="685800"/>
          </a:xfrm>
          <a:prstGeom prst="rect">
            <a:avLst/>
          </a:prstGeom>
          <a:noFill/>
        </p:spPr>
        <p:txBody>
          <a:bodyPr wrap="square">
            <a:spAutoFit/>
          </a:bodyPr>
          <a:lstStyle/>
          <a:p>
            <a:pPr algn="l"/>
            <a:r>
              <a:rPr sz="1200" b="0" i="0">
                <a:solidFill>
                  <a:srgbClr val="333333"/>
                </a:solidFill>
              </a:rPr>
              <a:t>End-to-end regulatory reporting aligned with FinCEN/FCA templates</a:t>
            </a:r>
          </a:p>
        </p:txBody>
      </p:sp>
      <p:sp>
        <p:nvSpPr>
          <p:cNvPr id="27" name="Rectangle 26"/>
          <p:cNvSpPr/>
          <p:nvPr/>
        </p:nvSpPr>
        <p:spPr>
          <a:xfrm>
            <a:off x="182880" y="4434840"/>
            <a:ext cx="914400" cy="128016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82880" y="4754879"/>
            <a:ext cx="914400" cy="548640"/>
          </a:xfrm>
          <a:prstGeom prst="rect">
            <a:avLst/>
          </a:prstGeom>
          <a:noFill/>
        </p:spPr>
        <p:txBody>
          <a:bodyPr wrap="square">
            <a:spAutoFit/>
          </a:bodyPr>
          <a:lstStyle/>
          <a:p>
            <a:pPr algn="ctr"/>
            <a:r>
              <a:rPr sz="1600" b="1" i="0">
                <a:solidFill>
                  <a:srgbClr val="FFFFFF"/>
                </a:solidFill>
              </a:rPr>
              <a:t>#5</a:t>
            </a:r>
          </a:p>
        </p:txBody>
      </p:sp>
      <p:sp>
        <p:nvSpPr>
          <p:cNvPr id="29" name="Rectangle 28"/>
          <p:cNvSpPr/>
          <p:nvPr/>
        </p:nvSpPr>
        <p:spPr>
          <a:xfrm>
            <a:off x="1143000" y="4434840"/>
            <a:ext cx="4572000" cy="1280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80160" y="4526279"/>
            <a:ext cx="4389120" cy="411480"/>
          </a:xfrm>
          <a:prstGeom prst="rect">
            <a:avLst/>
          </a:prstGeom>
          <a:noFill/>
        </p:spPr>
        <p:txBody>
          <a:bodyPr wrap="square">
            <a:spAutoFit/>
          </a:bodyPr>
          <a:lstStyle/>
          <a:p>
            <a:pPr algn="l"/>
            <a:r>
              <a:rPr sz="1300" b="1" i="0">
                <a:solidFill>
                  <a:srgbClr val="0D2B55"/>
                </a:solidFill>
              </a:rPr>
              <a:t>SHAP Explainability</a:t>
            </a:r>
          </a:p>
        </p:txBody>
      </p:sp>
      <p:sp>
        <p:nvSpPr>
          <p:cNvPr id="31" name="TextBox 30"/>
          <p:cNvSpPr txBox="1"/>
          <p:nvPr/>
        </p:nvSpPr>
        <p:spPr>
          <a:xfrm>
            <a:off x="1280160" y="4937759"/>
            <a:ext cx="4389120" cy="685800"/>
          </a:xfrm>
          <a:prstGeom prst="rect">
            <a:avLst/>
          </a:prstGeom>
          <a:noFill/>
        </p:spPr>
        <p:txBody>
          <a:bodyPr wrap="square">
            <a:spAutoFit/>
          </a:bodyPr>
          <a:lstStyle/>
          <a:p>
            <a:pPr algn="l"/>
            <a:r>
              <a:rPr sz="1200" b="0" i="0">
                <a:solidFill>
                  <a:srgbClr val="333333"/>
                </a:solidFill>
              </a:rPr>
              <a:t>Investigator-interpretable risk rationales — satisfies regulatory acceptance requirements</a:t>
            </a:r>
          </a:p>
        </p:txBody>
      </p:sp>
      <p:sp>
        <p:nvSpPr>
          <p:cNvPr id="32" name="Rectangle 31"/>
          <p:cNvSpPr/>
          <p:nvPr/>
        </p:nvSpPr>
        <p:spPr>
          <a:xfrm>
            <a:off x="6309360" y="4434840"/>
            <a:ext cx="914400" cy="128016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09360" y="4754879"/>
            <a:ext cx="914400" cy="548640"/>
          </a:xfrm>
          <a:prstGeom prst="rect">
            <a:avLst/>
          </a:prstGeom>
          <a:noFill/>
        </p:spPr>
        <p:txBody>
          <a:bodyPr wrap="square">
            <a:spAutoFit/>
          </a:bodyPr>
          <a:lstStyle/>
          <a:p>
            <a:pPr algn="ctr"/>
            <a:r>
              <a:rPr sz="1600" b="1" i="0">
                <a:solidFill>
                  <a:srgbClr val="FFFFFF"/>
                </a:solidFill>
              </a:rPr>
              <a:t>#6</a:t>
            </a:r>
          </a:p>
        </p:txBody>
      </p:sp>
      <p:sp>
        <p:nvSpPr>
          <p:cNvPr id="34" name="Rectangle 33"/>
          <p:cNvSpPr/>
          <p:nvPr/>
        </p:nvSpPr>
        <p:spPr>
          <a:xfrm>
            <a:off x="7269480" y="4434840"/>
            <a:ext cx="4572000" cy="1280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06640" y="4526279"/>
            <a:ext cx="4389120" cy="411480"/>
          </a:xfrm>
          <a:prstGeom prst="rect">
            <a:avLst/>
          </a:prstGeom>
          <a:noFill/>
        </p:spPr>
        <p:txBody>
          <a:bodyPr wrap="square">
            <a:spAutoFit/>
          </a:bodyPr>
          <a:lstStyle/>
          <a:p>
            <a:pPr algn="l"/>
            <a:r>
              <a:rPr sz="1300" b="1" i="0">
                <a:solidFill>
                  <a:srgbClr val="0D2B55"/>
                </a:solidFill>
              </a:rPr>
              <a:t>Dynamic Risk Scoring</a:t>
            </a:r>
          </a:p>
        </p:txBody>
      </p:sp>
      <p:sp>
        <p:nvSpPr>
          <p:cNvPr id="36" name="TextBox 35"/>
          <p:cNvSpPr txBox="1"/>
          <p:nvPr/>
        </p:nvSpPr>
        <p:spPr>
          <a:xfrm>
            <a:off x="7406640" y="4937759"/>
            <a:ext cx="4389120" cy="685800"/>
          </a:xfrm>
          <a:prstGeom prst="rect">
            <a:avLst/>
          </a:prstGeom>
          <a:noFill/>
        </p:spPr>
        <p:txBody>
          <a:bodyPr wrap="square">
            <a:spAutoFit/>
          </a:bodyPr>
          <a:lstStyle/>
          <a:p>
            <a:pPr algn="l"/>
            <a:r>
              <a:rPr sz="1200" b="0" i="0">
                <a:solidFill>
                  <a:srgbClr val="333333"/>
                </a:solidFill>
              </a:rPr>
              <a:t>Continuous real-time scores updated per transaction event; proactive vs. retrospective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97280"/>
            <a:ext cx="12188952" cy="64008"/>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61288"/>
            <a:ext cx="12188952" cy="5696712"/>
          </a:xfrm>
          <a:prstGeom prst="rect">
            <a:avLst/>
          </a:prstGeom>
          <a:solidFill>
            <a:srgbClr val="F2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91440"/>
            <a:ext cx="11430000" cy="914400"/>
          </a:xfrm>
          <a:prstGeom prst="rect">
            <a:avLst/>
          </a:prstGeom>
          <a:noFill/>
        </p:spPr>
        <p:txBody>
          <a:bodyPr wrap="square">
            <a:spAutoFit/>
          </a:bodyPr>
          <a:lstStyle/>
          <a:p>
            <a:pPr algn="l"/>
            <a:r>
              <a:rPr sz="2800" b="1" i="0">
                <a:solidFill>
                  <a:srgbClr val="FFFFFF"/>
                </a:solidFill>
              </a:rPr>
              <a:t>Proposed System Architecture</a:t>
            </a:r>
          </a:p>
        </p:txBody>
      </p:sp>
      <p:sp>
        <p:nvSpPr>
          <p:cNvPr id="6" name="TextBox 5"/>
          <p:cNvSpPr txBox="1"/>
          <p:nvPr/>
        </p:nvSpPr>
        <p:spPr>
          <a:xfrm>
            <a:off x="274320" y="685800"/>
            <a:ext cx="11430000" cy="411480"/>
          </a:xfrm>
          <a:prstGeom prst="rect">
            <a:avLst/>
          </a:prstGeom>
          <a:noFill/>
        </p:spPr>
        <p:txBody>
          <a:bodyPr wrap="square">
            <a:spAutoFit/>
          </a:bodyPr>
          <a:lstStyle/>
          <a:p>
            <a:pPr algn="l"/>
            <a:r>
              <a:rPr sz="1400" b="0" i="0">
                <a:solidFill>
                  <a:srgbClr val="F0A500"/>
                </a:solidFill>
              </a:rPr>
              <a:t>Multi-Layer AML Detection Framework</a:t>
            </a:r>
          </a:p>
        </p:txBody>
      </p:sp>
      <p:sp>
        <p:nvSpPr>
          <p:cNvPr id="7" name="Rectangle 6"/>
          <p:cNvSpPr/>
          <p:nvPr/>
        </p:nvSpPr>
        <p:spPr>
          <a:xfrm>
            <a:off x="274320" y="1325880"/>
            <a:ext cx="11612880" cy="749808"/>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362456"/>
            <a:ext cx="3200400" cy="365760"/>
          </a:xfrm>
          <a:prstGeom prst="rect">
            <a:avLst/>
          </a:prstGeom>
          <a:noFill/>
        </p:spPr>
        <p:txBody>
          <a:bodyPr wrap="square">
            <a:spAutoFit/>
          </a:bodyPr>
          <a:lstStyle/>
          <a:p>
            <a:pPr algn="l"/>
            <a:r>
              <a:rPr sz="1300" b="1" i="0">
                <a:solidFill>
                  <a:srgbClr val="FFFFFF"/>
                </a:solidFill>
              </a:rPr>
              <a:t>DATA INGESTION LAYER</a:t>
            </a:r>
          </a:p>
        </p:txBody>
      </p:sp>
      <p:sp>
        <p:nvSpPr>
          <p:cNvPr id="9" name="TextBox 8"/>
          <p:cNvSpPr txBox="1"/>
          <p:nvPr/>
        </p:nvSpPr>
        <p:spPr>
          <a:xfrm>
            <a:off x="3566160" y="1490472"/>
            <a:ext cx="8229600" cy="457200"/>
          </a:xfrm>
          <a:prstGeom prst="rect">
            <a:avLst/>
          </a:prstGeom>
          <a:noFill/>
        </p:spPr>
        <p:txBody>
          <a:bodyPr wrap="square">
            <a:spAutoFit/>
          </a:bodyPr>
          <a:lstStyle/>
          <a:p>
            <a:pPr algn="l"/>
            <a:r>
              <a:rPr sz="1200" b="0" i="0">
                <a:solidFill>
                  <a:srgbClr val="CCDDFF"/>
                </a:solidFill>
              </a:rPr>
              <a:t>Policy DB · Claims DB · KYC/CRM · Sanctions/PEP Lists · Broker Registry · Transaction Ledger</a:t>
            </a:r>
          </a:p>
        </p:txBody>
      </p:sp>
      <p:sp>
        <p:nvSpPr>
          <p:cNvPr id="10" name="Rectangle 9"/>
          <p:cNvSpPr/>
          <p:nvPr/>
        </p:nvSpPr>
        <p:spPr>
          <a:xfrm>
            <a:off x="5943600" y="2075688"/>
            <a:ext cx="274320" cy="182880"/>
          </a:xfrm>
          <a:prstGeom prst="rect">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74320" y="2258568"/>
            <a:ext cx="11612880" cy="749808"/>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 y="2295144"/>
            <a:ext cx="3200400" cy="365760"/>
          </a:xfrm>
          <a:prstGeom prst="rect">
            <a:avLst/>
          </a:prstGeom>
          <a:noFill/>
        </p:spPr>
        <p:txBody>
          <a:bodyPr wrap="square">
            <a:spAutoFit/>
          </a:bodyPr>
          <a:lstStyle/>
          <a:p>
            <a:pPr algn="l"/>
            <a:r>
              <a:rPr sz="1300" b="1" i="0">
                <a:solidFill>
                  <a:srgbClr val="FFFFFF"/>
                </a:solidFill>
              </a:rPr>
              <a:t>PRE-PROCESSING LAYER</a:t>
            </a:r>
          </a:p>
        </p:txBody>
      </p:sp>
      <p:sp>
        <p:nvSpPr>
          <p:cNvPr id="13" name="TextBox 12"/>
          <p:cNvSpPr txBox="1"/>
          <p:nvPr/>
        </p:nvSpPr>
        <p:spPr>
          <a:xfrm>
            <a:off x="3566160" y="2423160"/>
            <a:ext cx="8229600" cy="457200"/>
          </a:xfrm>
          <a:prstGeom prst="rect">
            <a:avLst/>
          </a:prstGeom>
          <a:noFill/>
        </p:spPr>
        <p:txBody>
          <a:bodyPr wrap="square">
            <a:spAutoFit/>
          </a:bodyPr>
          <a:lstStyle/>
          <a:p>
            <a:pPr algn="l"/>
            <a:r>
              <a:rPr sz="1200" b="0" i="0">
                <a:solidFill>
                  <a:srgbClr val="CCDDFF"/>
                </a:solidFill>
              </a:rPr>
              <a:t>Cleaning &amp; Normalization · Feature Engineering · Entity Resolution · Graph Construction</a:t>
            </a:r>
          </a:p>
        </p:txBody>
      </p:sp>
      <p:sp>
        <p:nvSpPr>
          <p:cNvPr id="14" name="Rectangle 13"/>
          <p:cNvSpPr/>
          <p:nvPr/>
        </p:nvSpPr>
        <p:spPr>
          <a:xfrm>
            <a:off x="5943600" y="3008376"/>
            <a:ext cx="274320" cy="182880"/>
          </a:xfrm>
          <a:prstGeom prst="rect">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74320" y="3191256"/>
            <a:ext cx="11612880" cy="749808"/>
          </a:xfrm>
          <a:prstGeom prst="rect">
            <a:avLst/>
          </a:prstGeom>
          <a:solidFill>
            <a:srgbClr val="1E6B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227832"/>
            <a:ext cx="3200400" cy="365760"/>
          </a:xfrm>
          <a:prstGeom prst="rect">
            <a:avLst/>
          </a:prstGeom>
          <a:noFill/>
        </p:spPr>
        <p:txBody>
          <a:bodyPr wrap="square">
            <a:spAutoFit/>
          </a:bodyPr>
          <a:lstStyle/>
          <a:p>
            <a:pPr algn="l"/>
            <a:r>
              <a:rPr sz="1300" b="1" i="0">
                <a:solidFill>
                  <a:srgbClr val="FFFFFF"/>
                </a:solidFill>
              </a:rPr>
              <a:t>DETECTION LAYER</a:t>
            </a:r>
          </a:p>
        </p:txBody>
      </p:sp>
      <p:sp>
        <p:nvSpPr>
          <p:cNvPr id="17" name="TextBox 16"/>
          <p:cNvSpPr txBox="1"/>
          <p:nvPr/>
        </p:nvSpPr>
        <p:spPr>
          <a:xfrm>
            <a:off x="3566160" y="3355848"/>
            <a:ext cx="8229600" cy="457200"/>
          </a:xfrm>
          <a:prstGeom prst="rect">
            <a:avLst/>
          </a:prstGeom>
          <a:noFill/>
        </p:spPr>
        <p:txBody>
          <a:bodyPr wrap="square">
            <a:spAutoFit/>
          </a:bodyPr>
          <a:lstStyle/>
          <a:p>
            <a:pPr algn="l"/>
            <a:r>
              <a:rPr sz="1200" b="0" i="0">
                <a:solidFill>
                  <a:srgbClr val="CCDDFF"/>
                </a:solidFill>
              </a:rPr>
              <a:t>Supervised (XGBoost/RF)  |  Unsupervised (Autoencoder/Isolation Forest)  |  GNN Graph Analytics</a:t>
            </a:r>
          </a:p>
        </p:txBody>
      </p:sp>
      <p:sp>
        <p:nvSpPr>
          <p:cNvPr id="18" name="Rectangle 17"/>
          <p:cNvSpPr/>
          <p:nvPr/>
        </p:nvSpPr>
        <p:spPr>
          <a:xfrm>
            <a:off x="5943600" y="3941064"/>
            <a:ext cx="274320" cy="182880"/>
          </a:xfrm>
          <a:prstGeom prst="rect">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74320" y="4123944"/>
            <a:ext cx="11612880" cy="749808"/>
          </a:xfrm>
          <a:prstGeom prst="rect">
            <a:avLst/>
          </a:prstGeom>
          <a:solidFill>
            <a:srgbClr val="1453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4160520"/>
            <a:ext cx="3200400" cy="365760"/>
          </a:xfrm>
          <a:prstGeom prst="rect">
            <a:avLst/>
          </a:prstGeom>
          <a:noFill/>
        </p:spPr>
        <p:txBody>
          <a:bodyPr wrap="square">
            <a:spAutoFit/>
          </a:bodyPr>
          <a:lstStyle/>
          <a:p>
            <a:pPr algn="l"/>
            <a:r>
              <a:rPr sz="1300" b="1" i="0">
                <a:solidFill>
                  <a:srgbClr val="FFFFFF"/>
                </a:solidFill>
              </a:rPr>
              <a:t>RISK FUSION ENGINE</a:t>
            </a:r>
          </a:p>
        </p:txBody>
      </p:sp>
      <p:sp>
        <p:nvSpPr>
          <p:cNvPr id="21" name="TextBox 20"/>
          <p:cNvSpPr txBox="1"/>
          <p:nvPr/>
        </p:nvSpPr>
        <p:spPr>
          <a:xfrm>
            <a:off x="3566160" y="4288536"/>
            <a:ext cx="8229600" cy="457200"/>
          </a:xfrm>
          <a:prstGeom prst="rect">
            <a:avLst/>
          </a:prstGeom>
          <a:noFill/>
        </p:spPr>
        <p:txBody>
          <a:bodyPr wrap="square">
            <a:spAutoFit/>
          </a:bodyPr>
          <a:lstStyle/>
          <a:p>
            <a:pPr algn="l"/>
            <a:r>
              <a:rPr sz="1200" b="0" i="0">
                <a:solidFill>
                  <a:srgbClr val="CCDDFF"/>
                </a:solidFill>
              </a:rPr>
              <a:t>Ensemble Score Aggregation · Dynamic Risk Score (0–100) · SHAP Explainability</a:t>
            </a:r>
          </a:p>
        </p:txBody>
      </p:sp>
      <p:sp>
        <p:nvSpPr>
          <p:cNvPr id="22" name="Rectangle 21"/>
          <p:cNvSpPr/>
          <p:nvPr/>
        </p:nvSpPr>
        <p:spPr>
          <a:xfrm>
            <a:off x="5943600" y="4873752"/>
            <a:ext cx="274320" cy="182880"/>
          </a:xfrm>
          <a:prstGeom prst="rect">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74320" y="5056632"/>
            <a:ext cx="11612880" cy="749808"/>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5093208"/>
            <a:ext cx="3200400" cy="365760"/>
          </a:xfrm>
          <a:prstGeom prst="rect">
            <a:avLst/>
          </a:prstGeom>
          <a:noFill/>
        </p:spPr>
        <p:txBody>
          <a:bodyPr wrap="square">
            <a:spAutoFit/>
          </a:bodyPr>
          <a:lstStyle/>
          <a:p>
            <a:pPr algn="l"/>
            <a:r>
              <a:rPr sz="1300" b="1" i="0">
                <a:solidFill>
                  <a:srgbClr val="0D2B55"/>
                </a:solidFill>
              </a:rPr>
              <a:t>OUTPUT LAYER</a:t>
            </a:r>
          </a:p>
        </p:txBody>
      </p:sp>
      <p:sp>
        <p:nvSpPr>
          <p:cNvPr id="25" name="TextBox 24"/>
          <p:cNvSpPr txBox="1"/>
          <p:nvPr/>
        </p:nvSpPr>
        <p:spPr>
          <a:xfrm>
            <a:off x="3566160" y="5221224"/>
            <a:ext cx="8229600" cy="457200"/>
          </a:xfrm>
          <a:prstGeom prst="rect">
            <a:avLst/>
          </a:prstGeom>
          <a:noFill/>
        </p:spPr>
        <p:txBody>
          <a:bodyPr wrap="square">
            <a:spAutoFit/>
          </a:bodyPr>
          <a:lstStyle/>
          <a:p>
            <a:pPr algn="l"/>
            <a:r>
              <a:rPr sz="1200" b="0" i="0">
                <a:solidFill>
                  <a:srgbClr val="0D2B55"/>
                </a:solidFill>
              </a:rPr>
              <a:t>Case Management Dashboard  |  Automated SAR Generation  |  Regulatory Submission Gateway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97280"/>
            <a:ext cx="12188952" cy="64008"/>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61288"/>
            <a:ext cx="12188952" cy="5696712"/>
          </a:xfrm>
          <a:prstGeom prst="rect">
            <a:avLst/>
          </a:prstGeom>
          <a:solidFill>
            <a:srgbClr val="F2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91440"/>
            <a:ext cx="11430000" cy="914400"/>
          </a:xfrm>
          <a:prstGeom prst="rect">
            <a:avLst/>
          </a:prstGeom>
          <a:noFill/>
        </p:spPr>
        <p:txBody>
          <a:bodyPr wrap="square">
            <a:spAutoFit/>
          </a:bodyPr>
          <a:lstStyle/>
          <a:p>
            <a:pPr algn="l"/>
            <a:r>
              <a:rPr sz="2800" b="1" i="0">
                <a:solidFill>
                  <a:srgbClr val="FFFFFF"/>
                </a:solidFill>
              </a:rPr>
              <a:t>Architecture — Component Details</a:t>
            </a:r>
          </a:p>
        </p:txBody>
      </p:sp>
      <p:sp>
        <p:nvSpPr>
          <p:cNvPr id="6" name="TextBox 5"/>
          <p:cNvSpPr txBox="1"/>
          <p:nvPr/>
        </p:nvSpPr>
        <p:spPr>
          <a:xfrm>
            <a:off x="274320" y="685800"/>
            <a:ext cx="11430000" cy="411480"/>
          </a:xfrm>
          <a:prstGeom prst="rect">
            <a:avLst/>
          </a:prstGeom>
          <a:noFill/>
        </p:spPr>
        <p:txBody>
          <a:bodyPr wrap="square">
            <a:spAutoFit/>
          </a:bodyPr>
          <a:lstStyle/>
          <a:p>
            <a:pPr algn="l"/>
            <a:r>
              <a:rPr sz="1400" b="0" i="0">
                <a:solidFill>
                  <a:srgbClr val="F0A500"/>
                </a:solidFill>
              </a:rPr>
              <a:t>Key Modules of the Proposed System</a:t>
            </a:r>
          </a:p>
        </p:txBody>
      </p:sp>
      <p:sp>
        <p:nvSpPr>
          <p:cNvPr id="7" name="Rectangle 6"/>
          <p:cNvSpPr/>
          <p:nvPr/>
        </p:nvSpPr>
        <p:spPr>
          <a:xfrm>
            <a:off x="182880" y="1325880"/>
            <a:ext cx="5394960" cy="1051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 y="1325880"/>
            <a:ext cx="73152" cy="105156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472" y="1389888"/>
            <a:ext cx="5029200" cy="347472"/>
          </a:xfrm>
          <a:prstGeom prst="rect">
            <a:avLst/>
          </a:prstGeom>
          <a:noFill/>
        </p:spPr>
        <p:txBody>
          <a:bodyPr wrap="square">
            <a:spAutoFit/>
          </a:bodyPr>
          <a:lstStyle/>
          <a:p>
            <a:pPr algn="l"/>
            <a:r>
              <a:rPr sz="1300" b="1" i="0">
                <a:solidFill>
                  <a:srgbClr val="0D2B55"/>
                </a:solidFill>
              </a:rPr>
              <a:t>A. Data Ingestion</a:t>
            </a:r>
          </a:p>
        </p:txBody>
      </p:sp>
      <p:sp>
        <p:nvSpPr>
          <p:cNvPr id="10" name="TextBox 9"/>
          <p:cNvSpPr txBox="1"/>
          <p:nvPr/>
        </p:nvSpPr>
        <p:spPr>
          <a:xfrm>
            <a:off x="347472" y="1755648"/>
            <a:ext cx="5029200" cy="548640"/>
          </a:xfrm>
          <a:prstGeom prst="rect">
            <a:avLst/>
          </a:prstGeom>
          <a:noFill/>
        </p:spPr>
        <p:txBody>
          <a:bodyPr wrap="square">
            <a:spAutoFit/>
          </a:bodyPr>
          <a:lstStyle/>
          <a:p>
            <a:pPr algn="l"/>
            <a:r>
              <a:rPr sz="1150" b="0" i="0">
                <a:solidFill>
                  <a:srgbClr val="333333"/>
                </a:solidFill>
              </a:rPr>
              <a:t>APIs &amp; ETL pipelines from core insurance systems, global watchlists (OFAC, UN, EU)</a:t>
            </a:r>
          </a:p>
        </p:txBody>
      </p:sp>
      <p:sp>
        <p:nvSpPr>
          <p:cNvPr id="11" name="Rectangle 10"/>
          <p:cNvSpPr/>
          <p:nvPr/>
        </p:nvSpPr>
        <p:spPr>
          <a:xfrm>
            <a:off x="6309360" y="1325880"/>
            <a:ext cx="5394960" cy="1051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325880"/>
            <a:ext cx="73152" cy="105156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73952" y="1389888"/>
            <a:ext cx="5029200" cy="347472"/>
          </a:xfrm>
          <a:prstGeom prst="rect">
            <a:avLst/>
          </a:prstGeom>
          <a:noFill/>
        </p:spPr>
        <p:txBody>
          <a:bodyPr wrap="square">
            <a:spAutoFit/>
          </a:bodyPr>
          <a:lstStyle/>
          <a:p>
            <a:pPr algn="l"/>
            <a:r>
              <a:rPr sz="1300" b="1" i="0">
                <a:solidFill>
                  <a:srgbClr val="0D2B55"/>
                </a:solidFill>
              </a:rPr>
              <a:t>B. Feature Engineering</a:t>
            </a:r>
          </a:p>
        </p:txBody>
      </p:sp>
      <p:sp>
        <p:nvSpPr>
          <p:cNvPr id="14" name="TextBox 13"/>
          <p:cNvSpPr txBox="1"/>
          <p:nvPr/>
        </p:nvSpPr>
        <p:spPr>
          <a:xfrm>
            <a:off x="6473952" y="1755648"/>
            <a:ext cx="5029200" cy="548640"/>
          </a:xfrm>
          <a:prstGeom prst="rect">
            <a:avLst/>
          </a:prstGeom>
          <a:noFill/>
        </p:spPr>
        <p:txBody>
          <a:bodyPr wrap="square">
            <a:spAutoFit/>
          </a:bodyPr>
          <a:lstStyle/>
          <a:p>
            <a:pPr algn="l"/>
            <a:r>
              <a:rPr sz="1150" b="0" i="0">
                <a:solidFill>
                  <a:srgbClr val="333333"/>
                </a:solidFill>
              </a:rPr>
              <a:t>40+ features: premium-to-income ratio, surrender timing, beneficiary change frequency, cross-border flags</a:t>
            </a:r>
          </a:p>
        </p:txBody>
      </p:sp>
      <p:sp>
        <p:nvSpPr>
          <p:cNvPr id="15" name="Rectangle 14"/>
          <p:cNvSpPr/>
          <p:nvPr/>
        </p:nvSpPr>
        <p:spPr>
          <a:xfrm>
            <a:off x="182880" y="2514600"/>
            <a:ext cx="5394960" cy="1051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82880" y="2514600"/>
            <a:ext cx="73152" cy="105156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7472" y="2578608"/>
            <a:ext cx="5029200" cy="347472"/>
          </a:xfrm>
          <a:prstGeom prst="rect">
            <a:avLst/>
          </a:prstGeom>
          <a:noFill/>
        </p:spPr>
        <p:txBody>
          <a:bodyPr wrap="square">
            <a:spAutoFit/>
          </a:bodyPr>
          <a:lstStyle/>
          <a:p>
            <a:pPr algn="l"/>
            <a:r>
              <a:rPr sz="1300" b="1" i="0">
                <a:solidFill>
                  <a:srgbClr val="0D2B55"/>
                </a:solidFill>
              </a:rPr>
              <a:t>C. Supervised Detection</a:t>
            </a:r>
          </a:p>
        </p:txBody>
      </p:sp>
      <p:sp>
        <p:nvSpPr>
          <p:cNvPr id="18" name="TextBox 17"/>
          <p:cNvSpPr txBox="1"/>
          <p:nvPr/>
        </p:nvSpPr>
        <p:spPr>
          <a:xfrm>
            <a:off x="347472" y="2944368"/>
            <a:ext cx="5029200" cy="548640"/>
          </a:xfrm>
          <a:prstGeom prst="rect">
            <a:avLst/>
          </a:prstGeom>
          <a:noFill/>
        </p:spPr>
        <p:txBody>
          <a:bodyPr wrap="square">
            <a:spAutoFit/>
          </a:bodyPr>
          <a:lstStyle/>
          <a:p>
            <a:pPr algn="l"/>
            <a:r>
              <a:rPr sz="1150" b="0" i="0">
                <a:solidFill>
                  <a:srgbClr val="333333"/>
                </a:solidFill>
              </a:rPr>
              <a:t>XGBoost &amp; Random Forest trained on historical SAR-labeled datasets</a:t>
            </a:r>
          </a:p>
        </p:txBody>
      </p:sp>
      <p:sp>
        <p:nvSpPr>
          <p:cNvPr id="19" name="Rectangle 18"/>
          <p:cNvSpPr/>
          <p:nvPr/>
        </p:nvSpPr>
        <p:spPr>
          <a:xfrm>
            <a:off x="6309360" y="2514600"/>
            <a:ext cx="5394960" cy="1051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514600"/>
            <a:ext cx="73152" cy="105156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73952" y="2578608"/>
            <a:ext cx="5029200" cy="347472"/>
          </a:xfrm>
          <a:prstGeom prst="rect">
            <a:avLst/>
          </a:prstGeom>
          <a:noFill/>
        </p:spPr>
        <p:txBody>
          <a:bodyPr wrap="square">
            <a:spAutoFit/>
          </a:bodyPr>
          <a:lstStyle/>
          <a:p>
            <a:pPr algn="l"/>
            <a:r>
              <a:rPr sz="1300" b="1" i="0">
                <a:solidFill>
                  <a:srgbClr val="0D2B55"/>
                </a:solidFill>
              </a:rPr>
              <a:t>D. Unsupervised Detection</a:t>
            </a:r>
          </a:p>
        </p:txBody>
      </p:sp>
      <p:sp>
        <p:nvSpPr>
          <p:cNvPr id="22" name="TextBox 21"/>
          <p:cNvSpPr txBox="1"/>
          <p:nvPr/>
        </p:nvSpPr>
        <p:spPr>
          <a:xfrm>
            <a:off x="6473952" y="2944368"/>
            <a:ext cx="5029200" cy="548640"/>
          </a:xfrm>
          <a:prstGeom prst="rect">
            <a:avLst/>
          </a:prstGeom>
          <a:noFill/>
        </p:spPr>
        <p:txBody>
          <a:bodyPr wrap="square">
            <a:spAutoFit/>
          </a:bodyPr>
          <a:lstStyle/>
          <a:p>
            <a:pPr algn="l"/>
            <a:r>
              <a:rPr sz="1150" b="0" i="0">
                <a:solidFill>
                  <a:srgbClr val="333333"/>
                </a:solidFill>
              </a:rPr>
              <a:t>Isolation Forest, LSTM Autoencoder, One-Class SVM — detects novel/zero-day typologies</a:t>
            </a:r>
          </a:p>
        </p:txBody>
      </p:sp>
      <p:sp>
        <p:nvSpPr>
          <p:cNvPr id="23" name="Rectangle 22"/>
          <p:cNvSpPr/>
          <p:nvPr/>
        </p:nvSpPr>
        <p:spPr>
          <a:xfrm>
            <a:off x="182880" y="3703320"/>
            <a:ext cx="5394960" cy="1051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82880" y="3703320"/>
            <a:ext cx="73152" cy="105156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47472" y="3767328"/>
            <a:ext cx="5029200" cy="347472"/>
          </a:xfrm>
          <a:prstGeom prst="rect">
            <a:avLst/>
          </a:prstGeom>
          <a:noFill/>
        </p:spPr>
        <p:txBody>
          <a:bodyPr wrap="square">
            <a:spAutoFit/>
          </a:bodyPr>
          <a:lstStyle/>
          <a:p>
            <a:pPr algn="l"/>
            <a:r>
              <a:rPr sz="1300" b="1" i="0">
                <a:solidFill>
                  <a:srgbClr val="0D2B55"/>
                </a:solidFill>
              </a:rPr>
              <a:t>E. GNN Module</a:t>
            </a:r>
          </a:p>
        </p:txBody>
      </p:sp>
      <p:sp>
        <p:nvSpPr>
          <p:cNvPr id="26" name="TextBox 25"/>
          <p:cNvSpPr txBox="1"/>
          <p:nvPr/>
        </p:nvSpPr>
        <p:spPr>
          <a:xfrm>
            <a:off x="347472" y="4133087"/>
            <a:ext cx="5029200" cy="548640"/>
          </a:xfrm>
          <a:prstGeom prst="rect">
            <a:avLst/>
          </a:prstGeom>
          <a:noFill/>
        </p:spPr>
        <p:txBody>
          <a:bodyPr wrap="square">
            <a:spAutoFit/>
          </a:bodyPr>
          <a:lstStyle/>
          <a:p>
            <a:pPr algn="l"/>
            <a:r>
              <a:rPr sz="1150" b="0" i="0">
                <a:solidFill>
                  <a:srgbClr val="333333"/>
                </a:solidFill>
              </a:rPr>
              <a:t>GraphSAGE + Louvain community detection + Betweenness centrality + Temporal edge analysis</a:t>
            </a:r>
          </a:p>
        </p:txBody>
      </p:sp>
      <p:sp>
        <p:nvSpPr>
          <p:cNvPr id="27" name="Rectangle 26"/>
          <p:cNvSpPr/>
          <p:nvPr/>
        </p:nvSpPr>
        <p:spPr>
          <a:xfrm>
            <a:off x="6309360" y="3703320"/>
            <a:ext cx="5394960" cy="1051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3703320"/>
            <a:ext cx="73152" cy="105156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73952" y="3767328"/>
            <a:ext cx="5029200" cy="347472"/>
          </a:xfrm>
          <a:prstGeom prst="rect">
            <a:avLst/>
          </a:prstGeom>
          <a:noFill/>
        </p:spPr>
        <p:txBody>
          <a:bodyPr wrap="square">
            <a:spAutoFit/>
          </a:bodyPr>
          <a:lstStyle/>
          <a:p>
            <a:pPr algn="l"/>
            <a:r>
              <a:rPr sz="1300" b="1" i="0">
                <a:solidFill>
                  <a:srgbClr val="0D2B55"/>
                </a:solidFill>
              </a:rPr>
              <a:t>F. Risk Fusion &amp; SHAP</a:t>
            </a:r>
          </a:p>
        </p:txBody>
      </p:sp>
      <p:sp>
        <p:nvSpPr>
          <p:cNvPr id="30" name="TextBox 29"/>
          <p:cNvSpPr txBox="1"/>
          <p:nvPr/>
        </p:nvSpPr>
        <p:spPr>
          <a:xfrm>
            <a:off x="6473952" y="4133087"/>
            <a:ext cx="5029200" cy="548640"/>
          </a:xfrm>
          <a:prstGeom prst="rect">
            <a:avLst/>
          </a:prstGeom>
          <a:noFill/>
        </p:spPr>
        <p:txBody>
          <a:bodyPr wrap="square">
            <a:spAutoFit/>
          </a:bodyPr>
          <a:lstStyle/>
          <a:p>
            <a:pPr algn="l"/>
            <a:r>
              <a:rPr sz="1150" b="0" i="0">
                <a:solidFill>
                  <a:srgbClr val="333333"/>
                </a:solidFill>
              </a:rPr>
              <a:t>Weighted ensemble voting → Dynamic Risk Score → SHAP rationale for every alert</a:t>
            </a:r>
          </a:p>
        </p:txBody>
      </p:sp>
      <p:sp>
        <p:nvSpPr>
          <p:cNvPr id="31" name="Rectangle 30"/>
          <p:cNvSpPr/>
          <p:nvPr/>
        </p:nvSpPr>
        <p:spPr>
          <a:xfrm>
            <a:off x="182880" y="4892040"/>
            <a:ext cx="5394960" cy="1051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82880" y="4892040"/>
            <a:ext cx="73152" cy="105156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7472" y="4956048"/>
            <a:ext cx="5029200" cy="347472"/>
          </a:xfrm>
          <a:prstGeom prst="rect">
            <a:avLst/>
          </a:prstGeom>
          <a:noFill/>
        </p:spPr>
        <p:txBody>
          <a:bodyPr wrap="square">
            <a:spAutoFit/>
          </a:bodyPr>
          <a:lstStyle/>
          <a:p>
            <a:pPr algn="l"/>
            <a:r>
              <a:rPr sz="1300" b="1" i="0">
                <a:solidFill>
                  <a:srgbClr val="0D2B55"/>
                </a:solidFill>
              </a:rPr>
              <a:t>G. SAR Automation</a:t>
            </a:r>
          </a:p>
        </p:txBody>
      </p:sp>
      <p:sp>
        <p:nvSpPr>
          <p:cNvPr id="34" name="TextBox 33"/>
          <p:cNvSpPr txBox="1"/>
          <p:nvPr/>
        </p:nvSpPr>
        <p:spPr>
          <a:xfrm>
            <a:off x="347472" y="5321808"/>
            <a:ext cx="5029200" cy="548640"/>
          </a:xfrm>
          <a:prstGeom prst="rect">
            <a:avLst/>
          </a:prstGeom>
          <a:noFill/>
        </p:spPr>
        <p:txBody>
          <a:bodyPr wrap="square">
            <a:spAutoFit/>
          </a:bodyPr>
          <a:lstStyle/>
          <a:p>
            <a:pPr algn="l"/>
            <a:r>
              <a:rPr sz="1150" b="0" i="0">
                <a:solidFill>
                  <a:srgbClr val="333333"/>
                </a:solidFill>
              </a:rPr>
              <a:t>Pre-populates FinCEN/FCA templates; reduces report prep from 4 hours to 15 minutes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97280"/>
            <a:ext cx="12188952" cy="64008"/>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61288"/>
            <a:ext cx="12188952" cy="5696712"/>
          </a:xfrm>
          <a:prstGeom prst="rect">
            <a:avLst/>
          </a:prstGeom>
          <a:solidFill>
            <a:srgbClr val="F2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91440"/>
            <a:ext cx="11430000" cy="914400"/>
          </a:xfrm>
          <a:prstGeom prst="rect">
            <a:avLst/>
          </a:prstGeom>
          <a:noFill/>
        </p:spPr>
        <p:txBody>
          <a:bodyPr wrap="square">
            <a:spAutoFit/>
          </a:bodyPr>
          <a:lstStyle/>
          <a:p>
            <a:pPr algn="l"/>
            <a:r>
              <a:rPr sz="2800" b="1" i="0">
                <a:solidFill>
                  <a:srgbClr val="FFFFFF"/>
                </a:solidFill>
              </a:rPr>
              <a:t>Expected Outcomes</a:t>
            </a:r>
          </a:p>
        </p:txBody>
      </p:sp>
      <p:sp>
        <p:nvSpPr>
          <p:cNvPr id="6" name="TextBox 5"/>
          <p:cNvSpPr txBox="1"/>
          <p:nvPr/>
        </p:nvSpPr>
        <p:spPr>
          <a:xfrm>
            <a:off x="274320" y="685800"/>
            <a:ext cx="11430000" cy="411480"/>
          </a:xfrm>
          <a:prstGeom prst="rect">
            <a:avLst/>
          </a:prstGeom>
          <a:noFill/>
        </p:spPr>
        <p:txBody>
          <a:bodyPr wrap="square">
            <a:spAutoFit/>
          </a:bodyPr>
          <a:lstStyle/>
          <a:p>
            <a:pPr algn="l"/>
            <a:r>
              <a:rPr sz="1400" b="0" i="0">
                <a:solidFill>
                  <a:srgbClr val="F0A500"/>
                </a:solidFill>
              </a:rPr>
              <a:t>Target Performance Metrics</a:t>
            </a:r>
          </a:p>
        </p:txBody>
      </p:sp>
      <p:sp>
        <p:nvSpPr>
          <p:cNvPr id="7" name="Rectangle 6"/>
          <p:cNvSpPr/>
          <p:nvPr/>
        </p:nvSpPr>
        <p:spPr>
          <a:xfrm>
            <a:off x="274320" y="1371600"/>
            <a:ext cx="3657600" cy="1280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371600"/>
            <a:ext cx="3657600" cy="73152"/>
          </a:xfrm>
          <a:prstGeom prst="rect">
            <a:avLst/>
          </a:prstGeom>
          <a:solidFill>
            <a:srgbClr val="1E8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481328"/>
            <a:ext cx="3474720" cy="502920"/>
          </a:xfrm>
          <a:prstGeom prst="rect">
            <a:avLst/>
          </a:prstGeom>
          <a:noFill/>
        </p:spPr>
        <p:txBody>
          <a:bodyPr wrap="square">
            <a:spAutoFit/>
          </a:bodyPr>
          <a:lstStyle/>
          <a:p>
            <a:pPr algn="ctr"/>
            <a:r>
              <a:rPr sz="2200" b="1" i="0">
                <a:solidFill>
                  <a:srgbClr val="1E8A44"/>
                </a:solidFill>
              </a:rPr>
              <a:t>≥ 85%</a:t>
            </a:r>
          </a:p>
        </p:txBody>
      </p:sp>
      <p:sp>
        <p:nvSpPr>
          <p:cNvPr id="10" name="Rectangle 9"/>
          <p:cNvSpPr/>
          <p:nvPr/>
        </p:nvSpPr>
        <p:spPr>
          <a:xfrm>
            <a:off x="365760" y="1965960"/>
            <a:ext cx="3474720" cy="18288"/>
          </a:xfrm>
          <a:prstGeom prst="rect">
            <a:avLst/>
          </a:prstGeom>
          <a:solidFill>
            <a:srgbClr val="F2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2029967"/>
            <a:ext cx="3474720" cy="502920"/>
          </a:xfrm>
          <a:prstGeom prst="rect">
            <a:avLst/>
          </a:prstGeom>
          <a:noFill/>
        </p:spPr>
        <p:txBody>
          <a:bodyPr wrap="square">
            <a:spAutoFit/>
          </a:bodyPr>
          <a:lstStyle/>
          <a:p>
            <a:pPr algn="ctr"/>
            <a:r>
              <a:rPr sz="1200" b="0" i="0">
                <a:solidFill>
                  <a:srgbClr val="333333"/>
                </a:solidFill>
              </a:rPr>
              <a:t>Detection Rate (Recall)</a:t>
            </a:r>
          </a:p>
        </p:txBody>
      </p:sp>
      <p:sp>
        <p:nvSpPr>
          <p:cNvPr id="12" name="Rectangle 11"/>
          <p:cNvSpPr/>
          <p:nvPr/>
        </p:nvSpPr>
        <p:spPr>
          <a:xfrm>
            <a:off x="4206240" y="1371600"/>
            <a:ext cx="3657600" cy="1280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06240" y="1371600"/>
            <a:ext cx="3657600" cy="73152"/>
          </a:xfrm>
          <a:prstGeom prst="rect">
            <a:avLst/>
          </a:prstGeom>
          <a:solidFill>
            <a:srgbClr val="1E8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79" y="1481328"/>
            <a:ext cx="3474720" cy="502920"/>
          </a:xfrm>
          <a:prstGeom prst="rect">
            <a:avLst/>
          </a:prstGeom>
          <a:noFill/>
        </p:spPr>
        <p:txBody>
          <a:bodyPr wrap="square">
            <a:spAutoFit/>
          </a:bodyPr>
          <a:lstStyle/>
          <a:p>
            <a:pPr algn="ctr"/>
            <a:r>
              <a:rPr sz="2200" b="1" i="0">
                <a:solidFill>
                  <a:srgbClr val="1E8A44"/>
                </a:solidFill>
              </a:rPr>
              <a:t>40–60%</a:t>
            </a:r>
          </a:p>
        </p:txBody>
      </p:sp>
      <p:sp>
        <p:nvSpPr>
          <p:cNvPr id="15" name="Rectangle 14"/>
          <p:cNvSpPr/>
          <p:nvPr/>
        </p:nvSpPr>
        <p:spPr>
          <a:xfrm>
            <a:off x="4297679" y="1965960"/>
            <a:ext cx="3474720" cy="18288"/>
          </a:xfrm>
          <a:prstGeom prst="rect">
            <a:avLst/>
          </a:prstGeom>
          <a:solidFill>
            <a:srgbClr val="F2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97679" y="2029967"/>
            <a:ext cx="3474720" cy="502920"/>
          </a:xfrm>
          <a:prstGeom prst="rect">
            <a:avLst/>
          </a:prstGeom>
          <a:noFill/>
        </p:spPr>
        <p:txBody>
          <a:bodyPr wrap="square">
            <a:spAutoFit/>
          </a:bodyPr>
          <a:lstStyle/>
          <a:p>
            <a:pPr algn="ctr"/>
            <a:r>
              <a:rPr sz="1200" b="0" i="0">
                <a:solidFill>
                  <a:srgbClr val="333333"/>
                </a:solidFill>
              </a:rPr>
              <a:t>False Positive Reduction</a:t>
            </a:r>
          </a:p>
        </p:txBody>
      </p:sp>
      <p:sp>
        <p:nvSpPr>
          <p:cNvPr id="17" name="Rectangle 16"/>
          <p:cNvSpPr/>
          <p:nvPr/>
        </p:nvSpPr>
        <p:spPr>
          <a:xfrm>
            <a:off x="8138160" y="1371600"/>
            <a:ext cx="3657600" cy="1280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38160" y="1371600"/>
            <a:ext cx="3657600" cy="73152"/>
          </a:xfrm>
          <a:prstGeom prst="rect">
            <a:avLst/>
          </a:prstGeom>
          <a:solidFill>
            <a:srgbClr val="1E8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0" y="1481328"/>
            <a:ext cx="3474720" cy="502920"/>
          </a:xfrm>
          <a:prstGeom prst="rect">
            <a:avLst/>
          </a:prstGeom>
          <a:noFill/>
        </p:spPr>
        <p:txBody>
          <a:bodyPr wrap="square">
            <a:spAutoFit/>
          </a:bodyPr>
          <a:lstStyle/>
          <a:p>
            <a:pPr algn="ctr"/>
            <a:r>
              <a:rPr sz="2200" b="1" i="0">
                <a:solidFill>
                  <a:srgbClr val="1E8A44"/>
                </a:solidFill>
              </a:rPr>
              <a:t>4 hrs → 15 min</a:t>
            </a:r>
          </a:p>
        </p:txBody>
      </p:sp>
      <p:sp>
        <p:nvSpPr>
          <p:cNvPr id="20" name="Rectangle 19"/>
          <p:cNvSpPr/>
          <p:nvPr/>
        </p:nvSpPr>
        <p:spPr>
          <a:xfrm>
            <a:off x="8229600" y="1965960"/>
            <a:ext cx="3474720" cy="18288"/>
          </a:xfrm>
          <a:prstGeom prst="rect">
            <a:avLst/>
          </a:prstGeom>
          <a:solidFill>
            <a:srgbClr val="F2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0" y="2029967"/>
            <a:ext cx="3474720" cy="502920"/>
          </a:xfrm>
          <a:prstGeom prst="rect">
            <a:avLst/>
          </a:prstGeom>
          <a:noFill/>
        </p:spPr>
        <p:txBody>
          <a:bodyPr wrap="square">
            <a:spAutoFit/>
          </a:bodyPr>
          <a:lstStyle/>
          <a:p>
            <a:pPr algn="ctr"/>
            <a:r>
              <a:rPr sz="1200" b="0" i="0">
                <a:solidFill>
                  <a:srgbClr val="333333"/>
                </a:solidFill>
              </a:rPr>
              <a:t>SAR Preparation Time</a:t>
            </a:r>
          </a:p>
        </p:txBody>
      </p:sp>
      <p:sp>
        <p:nvSpPr>
          <p:cNvPr id="22" name="Rectangle 21"/>
          <p:cNvSpPr/>
          <p:nvPr/>
        </p:nvSpPr>
        <p:spPr>
          <a:xfrm>
            <a:off x="274320" y="2834640"/>
            <a:ext cx="3657600" cy="1280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74320" y="2834640"/>
            <a:ext cx="3657600" cy="73152"/>
          </a:xfrm>
          <a:prstGeom prst="rect">
            <a:avLst/>
          </a:prstGeom>
          <a:solidFill>
            <a:srgbClr val="1E8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5760" y="2944368"/>
            <a:ext cx="3474720" cy="502920"/>
          </a:xfrm>
          <a:prstGeom prst="rect">
            <a:avLst/>
          </a:prstGeom>
          <a:noFill/>
        </p:spPr>
        <p:txBody>
          <a:bodyPr wrap="square">
            <a:spAutoFit/>
          </a:bodyPr>
          <a:lstStyle/>
          <a:p>
            <a:pPr algn="ctr"/>
            <a:r>
              <a:rPr sz="2200" b="1" i="0">
                <a:solidFill>
                  <a:srgbClr val="1E8A44"/>
                </a:solidFill>
              </a:rPr>
              <a:t>≥ 70%</a:t>
            </a:r>
          </a:p>
        </p:txBody>
      </p:sp>
      <p:sp>
        <p:nvSpPr>
          <p:cNvPr id="25" name="Rectangle 24"/>
          <p:cNvSpPr/>
          <p:nvPr/>
        </p:nvSpPr>
        <p:spPr>
          <a:xfrm>
            <a:off x="365760" y="3429000"/>
            <a:ext cx="3474720" cy="18288"/>
          </a:xfrm>
          <a:prstGeom prst="rect">
            <a:avLst/>
          </a:prstGeom>
          <a:solidFill>
            <a:srgbClr val="F2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5760" y="3493008"/>
            <a:ext cx="3474720" cy="502920"/>
          </a:xfrm>
          <a:prstGeom prst="rect">
            <a:avLst/>
          </a:prstGeom>
          <a:noFill/>
        </p:spPr>
        <p:txBody>
          <a:bodyPr wrap="square">
            <a:spAutoFit/>
          </a:bodyPr>
          <a:lstStyle/>
          <a:p>
            <a:pPr algn="ctr"/>
            <a:r>
              <a:rPr sz="1200" b="0" i="0">
                <a:solidFill>
                  <a:srgbClr val="333333"/>
                </a:solidFill>
              </a:rPr>
              <a:t>Novel Typology Precision</a:t>
            </a:r>
          </a:p>
        </p:txBody>
      </p:sp>
      <p:sp>
        <p:nvSpPr>
          <p:cNvPr id="27" name="Rectangle 26"/>
          <p:cNvSpPr/>
          <p:nvPr/>
        </p:nvSpPr>
        <p:spPr>
          <a:xfrm>
            <a:off x="4206240" y="2834640"/>
            <a:ext cx="3657600" cy="1280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06240" y="2834640"/>
            <a:ext cx="3657600" cy="73152"/>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297679" y="2944368"/>
            <a:ext cx="3474720" cy="502920"/>
          </a:xfrm>
          <a:prstGeom prst="rect">
            <a:avLst/>
          </a:prstGeom>
          <a:noFill/>
        </p:spPr>
        <p:txBody>
          <a:bodyPr wrap="square">
            <a:spAutoFit/>
          </a:bodyPr>
          <a:lstStyle/>
          <a:p>
            <a:pPr algn="ctr"/>
            <a:r>
              <a:rPr sz="2200" b="1" i="0">
                <a:solidFill>
                  <a:srgbClr val="1A538B"/>
                </a:solidFill>
              </a:rPr>
              <a:t>FATF · AMLD6 · FinCEN</a:t>
            </a:r>
          </a:p>
        </p:txBody>
      </p:sp>
      <p:sp>
        <p:nvSpPr>
          <p:cNvPr id="30" name="Rectangle 29"/>
          <p:cNvSpPr/>
          <p:nvPr/>
        </p:nvSpPr>
        <p:spPr>
          <a:xfrm>
            <a:off x="4297679" y="3429000"/>
            <a:ext cx="3474720" cy="18288"/>
          </a:xfrm>
          <a:prstGeom prst="rect">
            <a:avLst/>
          </a:prstGeom>
          <a:solidFill>
            <a:srgbClr val="F2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97679" y="3493008"/>
            <a:ext cx="3474720" cy="502920"/>
          </a:xfrm>
          <a:prstGeom prst="rect">
            <a:avLst/>
          </a:prstGeom>
          <a:noFill/>
        </p:spPr>
        <p:txBody>
          <a:bodyPr wrap="square">
            <a:spAutoFit/>
          </a:bodyPr>
          <a:lstStyle/>
          <a:p>
            <a:pPr algn="ctr"/>
            <a:r>
              <a:rPr sz="1200" b="0" i="0">
                <a:solidFill>
                  <a:srgbClr val="333333"/>
                </a:solidFill>
              </a:rPr>
              <a:t>Regulatory Coverage</a:t>
            </a:r>
          </a:p>
        </p:txBody>
      </p:sp>
      <p:sp>
        <p:nvSpPr>
          <p:cNvPr id="32" name="Rectangle 31"/>
          <p:cNvSpPr/>
          <p:nvPr/>
        </p:nvSpPr>
        <p:spPr>
          <a:xfrm>
            <a:off x="8138160" y="2834640"/>
            <a:ext cx="3657600" cy="1280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138160" y="2834640"/>
            <a:ext cx="3657600" cy="73152"/>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29600" y="2944368"/>
            <a:ext cx="3474720" cy="502920"/>
          </a:xfrm>
          <a:prstGeom prst="rect">
            <a:avLst/>
          </a:prstGeom>
          <a:noFill/>
        </p:spPr>
        <p:txBody>
          <a:bodyPr wrap="square">
            <a:spAutoFit/>
          </a:bodyPr>
          <a:lstStyle/>
          <a:p>
            <a:pPr algn="ctr"/>
            <a:r>
              <a:rPr sz="2200" b="1" i="0">
                <a:solidFill>
                  <a:srgbClr val="1A538B"/>
                </a:solidFill>
              </a:rPr>
              <a:t>100% alerts with SHAP</a:t>
            </a:r>
          </a:p>
        </p:txBody>
      </p:sp>
      <p:sp>
        <p:nvSpPr>
          <p:cNvPr id="35" name="Rectangle 34"/>
          <p:cNvSpPr/>
          <p:nvPr/>
        </p:nvSpPr>
        <p:spPr>
          <a:xfrm>
            <a:off x="8229600" y="3429000"/>
            <a:ext cx="3474720" cy="18288"/>
          </a:xfrm>
          <a:prstGeom prst="rect">
            <a:avLst/>
          </a:prstGeom>
          <a:solidFill>
            <a:srgbClr val="F2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29600" y="3493008"/>
            <a:ext cx="3474720" cy="502920"/>
          </a:xfrm>
          <a:prstGeom prst="rect">
            <a:avLst/>
          </a:prstGeom>
          <a:noFill/>
        </p:spPr>
        <p:txBody>
          <a:bodyPr wrap="square">
            <a:spAutoFit/>
          </a:bodyPr>
          <a:lstStyle/>
          <a:p>
            <a:pPr algn="ctr"/>
            <a:r>
              <a:rPr sz="1200" b="0" i="0">
                <a:solidFill>
                  <a:srgbClr val="333333"/>
                </a:solidFill>
              </a:rPr>
              <a:t>Explainability</a:t>
            </a:r>
          </a:p>
        </p:txBody>
      </p:sp>
      <p:sp>
        <p:nvSpPr>
          <p:cNvPr id="37" name="Rectangle 36"/>
          <p:cNvSpPr/>
          <p:nvPr/>
        </p:nvSpPr>
        <p:spPr>
          <a:xfrm>
            <a:off x="274320" y="4297680"/>
            <a:ext cx="3657600" cy="1280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274320" y="4297680"/>
            <a:ext cx="3657600" cy="73152"/>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65760" y="4407408"/>
            <a:ext cx="3474720" cy="502920"/>
          </a:xfrm>
          <a:prstGeom prst="rect">
            <a:avLst/>
          </a:prstGeom>
          <a:noFill/>
        </p:spPr>
        <p:txBody>
          <a:bodyPr wrap="square">
            <a:spAutoFit/>
          </a:bodyPr>
          <a:lstStyle/>
          <a:p>
            <a:pPr algn="ctr"/>
            <a:r>
              <a:rPr sz="2200" b="1" i="0">
                <a:solidFill>
                  <a:srgbClr val="1A538B"/>
                </a:solidFill>
              </a:rPr>
              <a:t>1M+ txn/day · &lt;2s</a:t>
            </a:r>
          </a:p>
        </p:txBody>
      </p:sp>
      <p:sp>
        <p:nvSpPr>
          <p:cNvPr id="40" name="Rectangle 39"/>
          <p:cNvSpPr/>
          <p:nvPr/>
        </p:nvSpPr>
        <p:spPr>
          <a:xfrm>
            <a:off x="365760" y="4892040"/>
            <a:ext cx="3474720" cy="18288"/>
          </a:xfrm>
          <a:prstGeom prst="rect">
            <a:avLst/>
          </a:prstGeom>
          <a:solidFill>
            <a:srgbClr val="F2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5760" y="4956048"/>
            <a:ext cx="3474720" cy="502920"/>
          </a:xfrm>
          <a:prstGeom prst="rect">
            <a:avLst/>
          </a:prstGeom>
          <a:noFill/>
        </p:spPr>
        <p:txBody>
          <a:bodyPr wrap="square">
            <a:spAutoFit/>
          </a:bodyPr>
          <a:lstStyle/>
          <a:p>
            <a:pPr algn="ctr"/>
            <a:r>
              <a:rPr sz="1200" b="0" i="0">
                <a:solidFill>
                  <a:srgbClr val="333333"/>
                </a:solidFill>
              </a:rPr>
              <a:t>System Throughput</a:t>
            </a:r>
          </a:p>
        </p:txBody>
      </p:sp>
      <p:sp>
        <p:nvSpPr>
          <p:cNvPr id="42" name="Rectangle 41"/>
          <p:cNvSpPr/>
          <p:nvPr/>
        </p:nvSpPr>
        <p:spPr>
          <a:xfrm>
            <a:off x="4206240" y="4297680"/>
            <a:ext cx="3657600" cy="1280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4206240" y="4297680"/>
            <a:ext cx="3657600" cy="73152"/>
          </a:xfrm>
          <a:prstGeom prst="rect">
            <a:avLst/>
          </a:prstGeom>
          <a:solidFill>
            <a:srgbClr val="1E8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297679" y="4407408"/>
            <a:ext cx="3474720" cy="502920"/>
          </a:xfrm>
          <a:prstGeom prst="rect">
            <a:avLst/>
          </a:prstGeom>
          <a:noFill/>
        </p:spPr>
        <p:txBody>
          <a:bodyPr wrap="square">
            <a:spAutoFit/>
          </a:bodyPr>
          <a:lstStyle/>
          <a:p>
            <a:pPr algn="ctr"/>
            <a:r>
              <a:rPr sz="2200" b="1" i="0">
                <a:solidFill>
                  <a:srgbClr val="1E8A44"/>
                </a:solidFill>
              </a:rPr>
              <a:t>≥ 80%</a:t>
            </a:r>
          </a:p>
        </p:txBody>
      </p:sp>
      <p:sp>
        <p:nvSpPr>
          <p:cNvPr id="45" name="Rectangle 44"/>
          <p:cNvSpPr/>
          <p:nvPr/>
        </p:nvSpPr>
        <p:spPr>
          <a:xfrm>
            <a:off x="4297679" y="4892040"/>
            <a:ext cx="3474720" cy="18288"/>
          </a:xfrm>
          <a:prstGeom prst="rect">
            <a:avLst/>
          </a:prstGeom>
          <a:solidFill>
            <a:srgbClr val="F2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297679" y="4956048"/>
            <a:ext cx="3474720" cy="502920"/>
          </a:xfrm>
          <a:prstGeom prst="rect">
            <a:avLst/>
          </a:prstGeom>
          <a:noFill/>
        </p:spPr>
        <p:txBody>
          <a:bodyPr wrap="square">
            <a:spAutoFit/>
          </a:bodyPr>
          <a:lstStyle/>
          <a:p>
            <a:pPr algn="ctr"/>
            <a:r>
              <a:rPr sz="1200" b="0" i="0">
                <a:solidFill>
                  <a:srgbClr val="333333"/>
                </a:solidFill>
              </a:rPr>
              <a:t>GNN Detection Accuracy</a:t>
            </a:r>
          </a:p>
        </p:txBody>
      </p:sp>
      <p:sp>
        <p:nvSpPr>
          <p:cNvPr id="47" name="Rectangle 46"/>
          <p:cNvSpPr/>
          <p:nvPr/>
        </p:nvSpPr>
        <p:spPr>
          <a:xfrm>
            <a:off x="8138160" y="4297680"/>
            <a:ext cx="3657600" cy="1280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8138160" y="4297680"/>
            <a:ext cx="3657600" cy="73152"/>
          </a:xfrm>
          <a:prstGeom prst="rect">
            <a:avLst/>
          </a:prstGeom>
          <a:solidFill>
            <a:srgbClr val="1E8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229600" y="4407408"/>
            <a:ext cx="3474720" cy="502920"/>
          </a:xfrm>
          <a:prstGeom prst="rect">
            <a:avLst/>
          </a:prstGeom>
          <a:noFill/>
        </p:spPr>
        <p:txBody>
          <a:bodyPr wrap="square">
            <a:spAutoFit/>
          </a:bodyPr>
          <a:lstStyle/>
          <a:p>
            <a:pPr algn="ctr"/>
            <a:r>
              <a:rPr sz="2200" b="1" i="0">
                <a:solidFill>
                  <a:srgbClr val="1E8A44"/>
                </a:solidFill>
              </a:rPr>
              <a:t>~30% effort saved</a:t>
            </a:r>
          </a:p>
        </p:txBody>
      </p:sp>
      <p:sp>
        <p:nvSpPr>
          <p:cNvPr id="50" name="Rectangle 49"/>
          <p:cNvSpPr/>
          <p:nvPr/>
        </p:nvSpPr>
        <p:spPr>
          <a:xfrm>
            <a:off x="8229600" y="4892040"/>
            <a:ext cx="3474720" cy="18288"/>
          </a:xfrm>
          <a:prstGeom prst="rect">
            <a:avLst/>
          </a:prstGeom>
          <a:solidFill>
            <a:srgbClr val="F2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229600" y="4956048"/>
            <a:ext cx="3474720" cy="502920"/>
          </a:xfrm>
          <a:prstGeom prst="rect">
            <a:avLst/>
          </a:prstGeom>
          <a:noFill/>
        </p:spPr>
        <p:txBody>
          <a:bodyPr wrap="square">
            <a:spAutoFit/>
          </a:bodyPr>
          <a:lstStyle/>
          <a:p>
            <a:pPr algn="ctr"/>
            <a:r>
              <a:rPr sz="1200" b="0" i="0">
                <a:solidFill>
                  <a:srgbClr val="333333"/>
                </a:solidFill>
              </a:rPr>
              <a:t>Compliance Cost Reduction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97280"/>
            <a:ext cx="12188952" cy="64008"/>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61288"/>
            <a:ext cx="12188952" cy="5696712"/>
          </a:xfrm>
          <a:prstGeom prst="rect">
            <a:avLst/>
          </a:prstGeom>
          <a:solidFill>
            <a:srgbClr val="F2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91440"/>
            <a:ext cx="11430000" cy="914400"/>
          </a:xfrm>
          <a:prstGeom prst="rect">
            <a:avLst/>
          </a:prstGeom>
          <a:noFill/>
        </p:spPr>
        <p:txBody>
          <a:bodyPr wrap="square">
            <a:spAutoFit/>
          </a:bodyPr>
          <a:lstStyle/>
          <a:p>
            <a:pPr algn="l"/>
            <a:r>
              <a:rPr sz="2800" b="1" i="0">
                <a:solidFill>
                  <a:srgbClr val="FFFFFF"/>
                </a:solidFill>
              </a:rPr>
              <a:t>Project Timeline</a:t>
            </a:r>
          </a:p>
        </p:txBody>
      </p:sp>
      <p:sp>
        <p:nvSpPr>
          <p:cNvPr id="6" name="TextBox 5"/>
          <p:cNvSpPr txBox="1"/>
          <p:nvPr/>
        </p:nvSpPr>
        <p:spPr>
          <a:xfrm>
            <a:off x="274320" y="685800"/>
            <a:ext cx="11430000" cy="411480"/>
          </a:xfrm>
          <a:prstGeom prst="rect">
            <a:avLst/>
          </a:prstGeom>
          <a:noFill/>
        </p:spPr>
        <p:txBody>
          <a:bodyPr wrap="square">
            <a:spAutoFit/>
          </a:bodyPr>
          <a:lstStyle/>
          <a:p>
            <a:pPr algn="l"/>
            <a:r>
              <a:rPr sz="1400" b="0" i="0">
                <a:solidFill>
                  <a:srgbClr val="F0A500"/>
                </a:solidFill>
              </a:rPr>
              <a:t>15-Month Research Roadmap</a:t>
            </a:r>
          </a:p>
        </p:txBody>
      </p:sp>
      <p:sp>
        <p:nvSpPr>
          <p:cNvPr id="7" name="Rectangle 6"/>
          <p:cNvSpPr/>
          <p:nvPr/>
        </p:nvSpPr>
        <p:spPr>
          <a:xfrm>
            <a:off x="3474720" y="1371600"/>
            <a:ext cx="18288" cy="50292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83279" y="1371600"/>
            <a:ext cx="365760" cy="274320"/>
          </a:xfrm>
          <a:prstGeom prst="rect">
            <a:avLst/>
          </a:prstGeom>
          <a:noFill/>
        </p:spPr>
        <p:txBody>
          <a:bodyPr wrap="square">
            <a:spAutoFit/>
          </a:bodyPr>
          <a:lstStyle/>
          <a:p>
            <a:pPr algn="ctr"/>
            <a:r>
              <a:rPr sz="1000" b="0" i="0">
                <a:solidFill>
                  <a:srgbClr val="333333"/>
                </a:solidFill>
              </a:rPr>
              <a:t>1</a:t>
            </a:r>
          </a:p>
        </p:txBody>
      </p:sp>
      <p:sp>
        <p:nvSpPr>
          <p:cNvPr id="9" name="Rectangle 8"/>
          <p:cNvSpPr/>
          <p:nvPr/>
        </p:nvSpPr>
        <p:spPr>
          <a:xfrm>
            <a:off x="4023359" y="1371600"/>
            <a:ext cx="18288" cy="50292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931920" y="1371600"/>
            <a:ext cx="365760" cy="274320"/>
          </a:xfrm>
          <a:prstGeom prst="rect">
            <a:avLst/>
          </a:prstGeom>
          <a:noFill/>
        </p:spPr>
        <p:txBody>
          <a:bodyPr wrap="square">
            <a:spAutoFit/>
          </a:bodyPr>
          <a:lstStyle/>
          <a:p>
            <a:pPr algn="ctr"/>
            <a:r>
              <a:rPr sz="1000" b="0" i="0">
                <a:solidFill>
                  <a:srgbClr val="333333"/>
                </a:solidFill>
              </a:rPr>
              <a:t>2</a:t>
            </a:r>
          </a:p>
        </p:txBody>
      </p:sp>
      <p:sp>
        <p:nvSpPr>
          <p:cNvPr id="11" name="Rectangle 10"/>
          <p:cNvSpPr/>
          <p:nvPr/>
        </p:nvSpPr>
        <p:spPr>
          <a:xfrm>
            <a:off x="4572000" y="1371600"/>
            <a:ext cx="18288" cy="50292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80560" y="1371600"/>
            <a:ext cx="365760" cy="274320"/>
          </a:xfrm>
          <a:prstGeom prst="rect">
            <a:avLst/>
          </a:prstGeom>
          <a:noFill/>
        </p:spPr>
        <p:txBody>
          <a:bodyPr wrap="square">
            <a:spAutoFit/>
          </a:bodyPr>
          <a:lstStyle/>
          <a:p>
            <a:pPr algn="ctr"/>
            <a:r>
              <a:rPr sz="1000" b="0" i="0">
                <a:solidFill>
                  <a:srgbClr val="333333"/>
                </a:solidFill>
              </a:rPr>
              <a:t>3</a:t>
            </a:r>
          </a:p>
        </p:txBody>
      </p:sp>
      <p:sp>
        <p:nvSpPr>
          <p:cNvPr id="13" name="Rectangle 12"/>
          <p:cNvSpPr/>
          <p:nvPr/>
        </p:nvSpPr>
        <p:spPr>
          <a:xfrm>
            <a:off x="5120640" y="1371600"/>
            <a:ext cx="18288" cy="50292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0" y="1371600"/>
            <a:ext cx="365760" cy="274320"/>
          </a:xfrm>
          <a:prstGeom prst="rect">
            <a:avLst/>
          </a:prstGeom>
          <a:noFill/>
        </p:spPr>
        <p:txBody>
          <a:bodyPr wrap="square">
            <a:spAutoFit/>
          </a:bodyPr>
          <a:lstStyle/>
          <a:p>
            <a:pPr algn="ctr"/>
            <a:r>
              <a:rPr sz="1000" b="0" i="0">
                <a:solidFill>
                  <a:srgbClr val="333333"/>
                </a:solidFill>
              </a:rPr>
              <a:t>4</a:t>
            </a:r>
          </a:p>
        </p:txBody>
      </p:sp>
      <p:sp>
        <p:nvSpPr>
          <p:cNvPr id="15" name="Rectangle 14"/>
          <p:cNvSpPr/>
          <p:nvPr/>
        </p:nvSpPr>
        <p:spPr>
          <a:xfrm>
            <a:off x="5669279" y="1371600"/>
            <a:ext cx="18288" cy="50292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577840" y="1371600"/>
            <a:ext cx="365760" cy="274320"/>
          </a:xfrm>
          <a:prstGeom prst="rect">
            <a:avLst/>
          </a:prstGeom>
          <a:noFill/>
        </p:spPr>
        <p:txBody>
          <a:bodyPr wrap="square">
            <a:spAutoFit/>
          </a:bodyPr>
          <a:lstStyle/>
          <a:p>
            <a:pPr algn="ctr"/>
            <a:r>
              <a:rPr sz="1000" b="0" i="0">
                <a:solidFill>
                  <a:srgbClr val="333333"/>
                </a:solidFill>
              </a:rPr>
              <a:t>5</a:t>
            </a:r>
          </a:p>
        </p:txBody>
      </p:sp>
      <p:sp>
        <p:nvSpPr>
          <p:cNvPr id="17" name="Rectangle 16"/>
          <p:cNvSpPr/>
          <p:nvPr/>
        </p:nvSpPr>
        <p:spPr>
          <a:xfrm>
            <a:off x="6217920" y="1371600"/>
            <a:ext cx="18288" cy="50292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26480" y="1371600"/>
            <a:ext cx="365760" cy="274320"/>
          </a:xfrm>
          <a:prstGeom prst="rect">
            <a:avLst/>
          </a:prstGeom>
          <a:noFill/>
        </p:spPr>
        <p:txBody>
          <a:bodyPr wrap="square">
            <a:spAutoFit/>
          </a:bodyPr>
          <a:lstStyle/>
          <a:p>
            <a:pPr algn="ctr"/>
            <a:r>
              <a:rPr sz="1000" b="0" i="0">
                <a:solidFill>
                  <a:srgbClr val="333333"/>
                </a:solidFill>
              </a:rPr>
              <a:t>6</a:t>
            </a:r>
          </a:p>
        </p:txBody>
      </p:sp>
      <p:sp>
        <p:nvSpPr>
          <p:cNvPr id="19" name="Rectangle 18"/>
          <p:cNvSpPr/>
          <p:nvPr/>
        </p:nvSpPr>
        <p:spPr>
          <a:xfrm>
            <a:off x="6766559" y="1371600"/>
            <a:ext cx="18288" cy="50292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75120" y="1371600"/>
            <a:ext cx="365760" cy="274320"/>
          </a:xfrm>
          <a:prstGeom prst="rect">
            <a:avLst/>
          </a:prstGeom>
          <a:noFill/>
        </p:spPr>
        <p:txBody>
          <a:bodyPr wrap="square">
            <a:spAutoFit/>
          </a:bodyPr>
          <a:lstStyle/>
          <a:p>
            <a:pPr algn="ctr"/>
            <a:r>
              <a:rPr sz="1000" b="0" i="0">
                <a:solidFill>
                  <a:srgbClr val="333333"/>
                </a:solidFill>
              </a:rPr>
              <a:t>7</a:t>
            </a:r>
          </a:p>
        </p:txBody>
      </p:sp>
      <p:sp>
        <p:nvSpPr>
          <p:cNvPr id="21" name="Rectangle 20"/>
          <p:cNvSpPr/>
          <p:nvPr/>
        </p:nvSpPr>
        <p:spPr>
          <a:xfrm>
            <a:off x="7315200" y="1371600"/>
            <a:ext cx="18288" cy="50292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23760" y="1371600"/>
            <a:ext cx="365760" cy="274320"/>
          </a:xfrm>
          <a:prstGeom prst="rect">
            <a:avLst/>
          </a:prstGeom>
          <a:noFill/>
        </p:spPr>
        <p:txBody>
          <a:bodyPr wrap="square">
            <a:spAutoFit/>
          </a:bodyPr>
          <a:lstStyle/>
          <a:p>
            <a:pPr algn="ctr"/>
            <a:r>
              <a:rPr sz="1000" b="0" i="0">
                <a:solidFill>
                  <a:srgbClr val="333333"/>
                </a:solidFill>
              </a:rPr>
              <a:t>8</a:t>
            </a:r>
          </a:p>
        </p:txBody>
      </p:sp>
      <p:sp>
        <p:nvSpPr>
          <p:cNvPr id="23" name="Rectangle 22"/>
          <p:cNvSpPr/>
          <p:nvPr/>
        </p:nvSpPr>
        <p:spPr>
          <a:xfrm>
            <a:off x="7863840" y="1371600"/>
            <a:ext cx="18288" cy="50292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772400" y="1371600"/>
            <a:ext cx="365760" cy="274320"/>
          </a:xfrm>
          <a:prstGeom prst="rect">
            <a:avLst/>
          </a:prstGeom>
          <a:noFill/>
        </p:spPr>
        <p:txBody>
          <a:bodyPr wrap="square">
            <a:spAutoFit/>
          </a:bodyPr>
          <a:lstStyle/>
          <a:p>
            <a:pPr algn="ctr"/>
            <a:r>
              <a:rPr sz="1000" b="0" i="0">
                <a:solidFill>
                  <a:srgbClr val="333333"/>
                </a:solidFill>
              </a:rPr>
              <a:t>9</a:t>
            </a:r>
          </a:p>
        </p:txBody>
      </p:sp>
      <p:sp>
        <p:nvSpPr>
          <p:cNvPr id="25" name="Rectangle 24"/>
          <p:cNvSpPr/>
          <p:nvPr/>
        </p:nvSpPr>
        <p:spPr>
          <a:xfrm>
            <a:off x="8412480" y="1371600"/>
            <a:ext cx="18288" cy="50292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21040" y="1371600"/>
            <a:ext cx="365760" cy="274320"/>
          </a:xfrm>
          <a:prstGeom prst="rect">
            <a:avLst/>
          </a:prstGeom>
          <a:noFill/>
        </p:spPr>
        <p:txBody>
          <a:bodyPr wrap="square">
            <a:spAutoFit/>
          </a:bodyPr>
          <a:lstStyle/>
          <a:p>
            <a:pPr algn="ctr"/>
            <a:r>
              <a:rPr sz="1000" b="0" i="0">
                <a:solidFill>
                  <a:srgbClr val="333333"/>
                </a:solidFill>
              </a:rPr>
              <a:t>10</a:t>
            </a:r>
          </a:p>
        </p:txBody>
      </p:sp>
      <p:sp>
        <p:nvSpPr>
          <p:cNvPr id="27" name="Rectangle 26"/>
          <p:cNvSpPr/>
          <p:nvPr/>
        </p:nvSpPr>
        <p:spPr>
          <a:xfrm>
            <a:off x="8961120" y="1371600"/>
            <a:ext cx="18288" cy="50292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869680" y="1371600"/>
            <a:ext cx="365760" cy="274320"/>
          </a:xfrm>
          <a:prstGeom prst="rect">
            <a:avLst/>
          </a:prstGeom>
          <a:noFill/>
        </p:spPr>
        <p:txBody>
          <a:bodyPr wrap="square">
            <a:spAutoFit/>
          </a:bodyPr>
          <a:lstStyle/>
          <a:p>
            <a:pPr algn="ctr"/>
            <a:r>
              <a:rPr sz="1000" b="0" i="0">
                <a:solidFill>
                  <a:srgbClr val="333333"/>
                </a:solidFill>
              </a:rPr>
              <a:t>11</a:t>
            </a:r>
          </a:p>
        </p:txBody>
      </p:sp>
      <p:sp>
        <p:nvSpPr>
          <p:cNvPr id="29" name="Rectangle 28"/>
          <p:cNvSpPr/>
          <p:nvPr/>
        </p:nvSpPr>
        <p:spPr>
          <a:xfrm>
            <a:off x="9509759" y="1371600"/>
            <a:ext cx="18288" cy="50292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418319" y="1371600"/>
            <a:ext cx="365760" cy="274320"/>
          </a:xfrm>
          <a:prstGeom prst="rect">
            <a:avLst/>
          </a:prstGeom>
          <a:noFill/>
        </p:spPr>
        <p:txBody>
          <a:bodyPr wrap="square">
            <a:spAutoFit/>
          </a:bodyPr>
          <a:lstStyle/>
          <a:p>
            <a:pPr algn="ctr"/>
            <a:r>
              <a:rPr sz="1000" b="0" i="0">
                <a:solidFill>
                  <a:srgbClr val="333333"/>
                </a:solidFill>
              </a:rPr>
              <a:t>12</a:t>
            </a:r>
          </a:p>
        </p:txBody>
      </p:sp>
      <p:sp>
        <p:nvSpPr>
          <p:cNvPr id="31" name="Rectangle 30"/>
          <p:cNvSpPr/>
          <p:nvPr/>
        </p:nvSpPr>
        <p:spPr>
          <a:xfrm>
            <a:off x="10058400" y="1371600"/>
            <a:ext cx="18288" cy="50292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966960" y="1371600"/>
            <a:ext cx="365760" cy="274320"/>
          </a:xfrm>
          <a:prstGeom prst="rect">
            <a:avLst/>
          </a:prstGeom>
          <a:noFill/>
        </p:spPr>
        <p:txBody>
          <a:bodyPr wrap="square">
            <a:spAutoFit/>
          </a:bodyPr>
          <a:lstStyle/>
          <a:p>
            <a:pPr algn="ctr"/>
            <a:r>
              <a:rPr sz="1000" b="0" i="0">
                <a:solidFill>
                  <a:srgbClr val="333333"/>
                </a:solidFill>
              </a:rPr>
              <a:t>13</a:t>
            </a:r>
          </a:p>
        </p:txBody>
      </p:sp>
      <p:sp>
        <p:nvSpPr>
          <p:cNvPr id="33" name="Rectangle 32"/>
          <p:cNvSpPr/>
          <p:nvPr/>
        </p:nvSpPr>
        <p:spPr>
          <a:xfrm>
            <a:off x="10607040" y="1371600"/>
            <a:ext cx="18288" cy="50292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515600" y="1371600"/>
            <a:ext cx="365760" cy="274320"/>
          </a:xfrm>
          <a:prstGeom prst="rect">
            <a:avLst/>
          </a:prstGeom>
          <a:noFill/>
        </p:spPr>
        <p:txBody>
          <a:bodyPr wrap="square">
            <a:spAutoFit/>
          </a:bodyPr>
          <a:lstStyle/>
          <a:p>
            <a:pPr algn="ctr"/>
            <a:r>
              <a:rPr sz="1000" b="0" i="0">
                <a:solidFill>
                  <a:srgbClr val="333333"/>
                </a:solidFill>
              </a:rPr>
              <a:t>14</a:t>
            </a:r>
          </a:p>
        </p:txBody>
      </p:sp>
      <p:sp>
        <p:nvSpPr>
          <p:cNvPr id="35" name="Rectangle 34"/>
          <p:cNvSpPr/>
          <p:nvPr/>
        </p:nvSpPr>
        <p:spPr>
          <a:xfrm>
            <a:off x="11155680" y="1371600"/>
            <a:ext cx="18288" cy="5029200"/>
          </a:xfrm>
          <a:prstGeom prst="rect">
            <a:avLst/>
          </a:prstGeom>
          <a:solidFill>
            <a:srgbClr val="CCCC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1064240" y="1371600"/>
            <a:ext cx="365760" cy="274320"/>
          </a:xfrm>
          <a:prstGeom prst="rect">
            <a:avLst/>
          </a:prstGeom>
          <a:noFill/>
        </p:spPr>
        <p:txBody>
          <a:bodyPr wrap="square">
            <a:spAutoFit/>
          </a:bodyPr>
          <a:lstStyle/>
          <a:p>
            <a:pPr algn="ctr"/>
            <a:r>
              <a:rPr sz="1000" b="0" i="0">
                <a:solidFill>
                  <a:srgbClr val="333333"/>
                </a:solidFill>
              </a:rPr>
              <a:t>15</a:t>
            </a:r>
          </a:p>
        </p:txBody>
      </p:sp>
      <p:sp>
        <p:nvSpPr>
          <p:cNvPr id="37" name="TextBox 36"/>
          <p:cNvSpPr txBox="1"/>
          <p:nvPr/>
        </p:nvSpPr>
        <p:spPr>
          <a:xfrm>
            <a:off x="137160" y="1847088"/>
            <a:ext cx="1005840" cy="365760"/>
          </a:xfrm>
          <a:prstGeom prst="rect">
            <a:avLst/>
          </a:prstGeom>
          <a:noFill/>
        </p:spPr>
        <p:txBody>
          <a:bodyPr wrap="square">
            <a:spAutoFit/>
          </a:bodyPr>
          <a:lstStyle/>
          <a:p>
            <a:pPr algn="l"/>
            <a:r>
              <a:rPr sz="1100" b="1" i="0">
                <a:solidFill>
                  <a:srgbClr val="0D2B55"/>
                </a:solidFill>
              </a:rPr>
              <a:t>Phase 1</a:t>
            </a:r>
          </a:p>
        </p:txBody>
      </p:sp>
      <p:sp>
        <p:nvSpPr>
          <p:cNvPr id="38" name="TextBox 37"/>
          <p:cNvSpPr txBox="1"/>
          <p:nvPr/>
        </p:nvSpPr>
        <p:spPr>
          <a:xfrm>
            <a:off x="1188720" y="1847088"/>
            <a:ext cx="2103120" cy="365760"/>
          </a:xfrm>
          <a:prstGeom prst="rect">
            <a:avLst/>
          </a:prstGeom>
          <a:noFill/>
        </p:spPr>
        <p:txBody>
          <a:bodyPr wrap="square">
            <a:spAutoFit/>
          </a:bodyPr>
          <a:lstStyle/>
          <a:p>
            <a:pPr algn="l"/>
            <a:r>
              <a:rPr sz="1000" b="0" i="0">
                <a:solidFill>
                  <a:srgbClr val="333333"/>
                </a:solidFill>
              </a:rPr>
              <a:t>Months 1–2</a:t>
            </a:r>
          </a:p>
        </p:txBody>
      </p:sp>
      <p:sp>
        <p:nvSpPr>
          <p:cNvPr id="39" name="Rectangle 38"/>
          <p:cNvSpPr/>
          <p:nvPr/>
        </p:nvSpPr>
        <p:spPr>
          <a:xfrm>
            <a:off x="3474720" y="1810512"/>
            <a:ext cx="1051560" cy="41148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66160" y="1856231"/>
            <a:ext cx="868680" cy="347472"/>
          </a:xfrm>
          <a:prstGeom prst="rect">
            <a:avLst/>
          </a:prstGeom>
          <a:noFill/>
        </p:spPr>
        <p:txBody>
          <a:bodyPr wrap="square">
            <a:spAutoFit/>
          </a:bodyPr>
          <a:lstStyle/>
          <a:p>
            <a:pPr algn="l"/>
            <a:r>
              <a:rPr sz="1000" b="1" i="0">
                <a:solidFill>
                  <a:srgbClr val="FFFFFF"/>
                </a:solidFill>
              </a:rPr>
              <a:t>Requirements &amp; Literature Review</a:t>
            </a:r>
          </a:p>
        </p:txBody>
      </p:sp>
      <p:sp>
        <p:nvSpPr>
          <p:cNvPr id="41" name="TextBox 40"/>
          <p:cNvSpPr txBox="1"/>
          <p:nvPr/>
        </p:nvSpPr>
        <p:spPr>
          <a:xfrm>
            <a:off x="137160" y="2468880"/>
            <a:ext cx="1005840" cy="365760"/>
          </a:xfrm>
          <a:prstGeom prst="rect">
            <a:avLst/>
          </a:prstGeom>
          <a:noFill/>
        </p:spPr>
        <p:txBody>
          <a:bodyPr wrap="square">
            <a:spAutoFit/>
          </a:bodyPr>
          <a:lstStyle/>
          <a:p>
            <a:pPr algn="l"/>
            <a:r>
              <a:rPr sz="1100" b="1" i="0">
                <a:solidFill>
                  <a:srgbClr val="0D2B55"/>
                </a:solidFill>
              </a:rPr>
              <a:t>Phase 2</a:t>
            </a:r>
          </a:p>
        </p:txBody>
      </p:sp>
      <p:sp>
        <p:nvSpPr>
          <p:cNvPr id="42" name="TextBox 41"/>
          <p:cNvSpPr txBox="1"/>
          <p:nvPr/>
        </p:nvSpPr>
        <p:spPr>
          <a:xfrm>
            <a:off x="1188720" y="2468880"/>
            <a:ext cx="2103120" cy="365760"/>
          </a:xfrm>
          <a:prstGeom prst="rect">
            <a:avLst/>
          </a:prstGeom>
          <a:noFill/>
        </p:spPr>
        <p:txBody>
          <a:bodyPr wrap="square">
            <a:spAutoFit/>
          </a:bodyPr>
          <a:lstStyle/>
          <a:p>
            <a:pPr algn="l"/>
            <a:r>
              <a:rPr sz="1000" b="0" i="0">
                <a:solidFill>
                  <a:srgbClr val="333333"/>
                </a:solidFill>
              </a:rPr>
              <a:t>Months 2–4</a:t>
            </a:r>
          </a:p>
        </p:txBody>
      </p:sp>
      <p:sp>
        <p:nvSpPr>
          <p:cNvPr id="43" name="Rectangle 42"/>
          <p:cNvSpPr/>
          <p:nvPr/>
        </p:nvSpPr>
        <p:spPr>
          <a:xfrm>
            <a:off x="4023359" y="2432304"/>
            <a:ext cx="1600199" cy="41148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114799" y="2478024"/>
            <a:ext cx="1417319" cy="347472"/>
          </a:xfrm>
          <a:prstGeom prst="rect">
            <a:avLst/>
          </a:prstGeom>
          <a:noFill/>
        </p:spPr>
        <p:txBody>
          <a:bodyPr wrap="square">
            <a:spAutoFit/>
          </a:bodyPr>
          <a:lstStyle/>
          <a:p>
            <a:pPr algn="l"/>
            <a:r>
              <a:rPr sz="1000" b="1" i="0">
                <a:solidFill>
                  <a:srgbClr val="FFFFFF"/>
                </a:solidFill>
              </a:rPr>
              <a:t>Data Collection &amp; Preparation</a:t>
            </a:r>
          </a:p>
        </p:txBody>
      </p:sp>
      <p:sp>
        <p:nvSpPr>
          <p:cNvPr id="45" name="TextBox 44"/>
          <p:cNvSpPr txBox="1"/>
          <p:nvPr/>
        </p:nvSpPr>
        <p:spPr>
          <a:xfrm>
            <a:off x="137160" y="3090672"/>
            <a:ext cx="1005840" cy="365760"/>
          </a:xfrm>
          <a:prstGeom prst="rect">
            <a:avLst/>
          </a:prstGeom>
          <a:noFill/>
        </p:spPr>
        <p:txBody>
          <a:bodyPr wrap="square">
            <a:spAutoFit/>
          </a:bodyPr>
          <a:lstStyle/>
          <a:p>
            <a:pPr algn="l"/>
            <a:r>
              <a:rPr sz="1100" b="1" i="0">
                <a:solidFill>
                  <a:srgbClr val="0D2B55"/>
                </a:solidFill>
              </a:rPr>
              <a:t>Phase 3</a:t>
            </a:r>
          </a:p>
        </p:txBody>
      </p:sp>
      <p:sp>
        <p:nvSpPr>
          <p:cNvPr id="46" name="TextBox 45"/>
          <p:cNvSpPr txBox="1"/>
          <p:nvPr/>
        </p:nvSpPr>
        <p:spPr>
          <a:xfrm>
            <a:off x="1188720" y="3090672"/>
            <a:ext cx="2103120" cy="365760"/>
          </a:xfrm>
          <a:prstGeom prst="rect">
            <a:avLst/>
          </a:prstGeom>
          <a:noFill/>
        </p:spPr>
        <p:txBody>
          <a:bodyPr wrap="square">
            <a:spAutoFit/>
          </a:bodyPr>
          <a:lstStyle/>
          <a:p>
            <a:pPr algn="l"/>
            <a:r>
              <a:rPr sz="1000" b="0" i="0">
                <a:solidFill>
                  <a:srgbClr val="333333"/>
                </a:solidFill>
              </a:rPr>
              <a:t>Months 4–7</a:t>
            </a:r>
          </a:p>
        </p:txBody>
      </p:sp>
      <p:sp>
        <p:nvSpPr>
          <p:cNvPr id="47" name="Rectangle 46"/>
          <p:cNvSpPr/>
          <p:nvPr/>
        </p:nvSpPr>
        <p:spPr>
          <a:xfrm>
            <a:off x="5120640" y="3054096"/>
            <a:ext cx="2148840" cy="411480"/>
          </a:xfrm>
          <a:prstGeom prst="rect">
            <a:avLst/>
          </a:prstGeom>
          <a:solidFill>
            <a:srgbClr val="1E6B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212079" y="3099815"/>
            <a:ext cx="1965960" cy="347472"/>
          </a:xfrm>
          <a:prstGeom prst="rect">
            <a:avLst/>
          </a:prstGeom>
          <a:noFill/>
        </p:spPr>
        <p:txBody>
          <a:bodyPr wrap="square">
            <a:spAutoFit/>
          </a:bodyPr>
          <a:lstStyle/>
          <a:p>
            <a:pPr algn="l"/>
            <a:r>
              <a:rPr sz="1000" b="1" i="0">
                <a:solidFill>
                  <a:srgbClr val="FFFFFF"/>
                </a:solidFill>
              </a:rPr>
              <a:t>Model Development</a:t>
            </a:r>
          </a:p>
        </p:txBody>
      </p:sp>
      <p:sp>
        <p:nvSpPr>
          <p:cNvPr id="49" name="TextBox 48"/>
          <p:cNvSpPr txBox="1"/>
          <p:nvPr/>
        </p:nvSpPr>
        <p:spPr>
          <a:xfrm>
            <a:off x="137160" y="3712463"/>
            <a:ext cx="1005840" cy="365760"/>
          </a:xfrm>
          <a:prstGeom prst="rect">
            <a:avLst/>
          </a:prstGeom>
          <a:noFill/>
        </p:spPr>
        <p:txBody>
          <a:bodyPr wrap="square">
            <a:spAutoFit/>
          </a:bodyPr>
          <a:lstStyle/>
          <a:p>
            <a:pPr algn="l"/>
            <a:r>
              <a:rPr sz="1100" b="1" i="0">
                <a:solidFill>
                  <a:srgbClr val="0D2B55"/>
                </a:solidFill>
              </a:rPr>
              <a:t>Phase 4</a:t>
            </a:r>
          </a:p>
        </p:txBody>
      </p:sp>
      <p:sp>
        <p:nvSpPr>
          <p:cNvPr id="50" name="TextBox 49"/>
          <p:cNvSpPr txBox="1"/>
          <p:nvPr/>
        </p:nvSpPr>
        <p:spPr>
          <a:xfrm>
            <a:off x="1188720" y="3712463"/>
            <a:ext cx="2103120" cy="365760"/>
          </a:xfrm>
          <a:prstGeom prst="rect">
            <a:avLst/>
          </a:prstGeom>
          <a:noFill/>
        </p:spPr>
        <p:txBody>
          <a:bodyPr wrap="square">
            <a:spAutoFit/>
          </a:bodyPr>
          <a:lstStyle/>
          <a:p>
            <a:pPr algn="l"/>
            <a:r>
              <a:rPr sz="1000" b="0" i="0">
                <a:solidFill>
                  <a:srgbClr val="333333"/>
                </a:solidFill>
              </a:rPr>
              <a:t>Months 7–9</a:t>
            </a:r>
          </a:p>
        </p:txBody>
      </p:sp>
      <p:sp>
        <p:nvSpPr>
          <p:cNvPr id="51" name="Rectangle 50"/>
          <p:cNvSpPr/>
          <p:nvPr/>
        </p:nvSpPr>
        <p:spPr>
          <a:xfrm>
            <a:off x="6766559" y="3675887"/>
            <a:ext cx="1600199" cy="411480"/>
          </a:xfrm>
          <a:prstGeom prst="rect">
            <a:avLst/>
          </a:prstGeom>
          <a:solidFill>
            <a:srgbClr val="14538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857999" y="3721608"/>
            <a:ext cx="1417319" cy="347472"/>
          </a:xfrm>
          <a:prstGeom prst="rect">
            <a:avLst/>
          </a:prstGeom>
          <a:noFill/>
        </p:spPr>
        <p:txBody>
          <a:bodyPr wrap="square">
            <a:spAutoFit/>
          </a:bodyPr>
          <a:lstStyle/>
          <a:p>
            <a:pPr algn="l"/>
            <a:r>
              <a:rPr sz="1000" b="1" i="0">
                <a:solidFill>
                  <a:srgbClr val="FFFFFF"/>
                </a:solidFill>
              </a:rPr>
              <a:t>System Integration</a:t>
            </a:r>
          </a:p>
        </p:txBody>
      </p:sp>
      <p:sp>
        <p:nvSpPr>
          <p:cNvPr id="53" name="TextBox 52"/>
          <p:cNvSpPr txBox="1"/>
          <p:nvPr/>
        </p:nvSpPr>
        <p:spPr>
          <a:xfrm>
            <a:off x="137160" y="4334256"/>
            <a:ext cx="1005840" cy="365760"/>
          </a:xfrm>
          <a:prstGeom prst="rect">
            <a:avLst/>
          </a:prstGeom>
          <a:noFill/>
        </p:spPr>
        <p:txBody>
          <a:bodyPr wrap="square">
            <a:spAutoFit/>
          </a:bodyPr>
          <a:lstStyle/>
          <a:p>
            <a:pPr algn="l"/>
            <a:r>
              <a:rPr sz="1100" b="1" i="0">
                <a:solidFill>
                  <a:srgbClr val="0D2B55"/>
                </a:solidFill>
              </a:rPr>
              <a:t>Phase 5</a:t>
            </a:r>
          </a:p>
        </p:txBody>
      </p:sp>
      <p:sp>
        <p:nvSpPr>
          <p:cNvPr id="54" name="TextBox 53"/>
          <p:cNvSpPr txBox="1"/>
          <p:nvPr/>
        </p:nvSpPr>
        <p:spPr>
          <a:xfrm>
            <a:off x="1188720" y="4334256"/>
            <a:ext cx="2103120" cy="365760"/>
          </a:xfrm>
          <a:prstGeom prst="rect">
            <a:avLst/>
          </a:prstGeom>
          <a:noFill/>
        </p:spPr>
        <p:txBody>
          <a:bodyPr wrap="square">
            <a:spAutoFit/>
          </a:bodyPr>
          <a:lstStyle/>
          <a:p>
            <a:pPr algn="l"/>
            <a:r>
              <a:rPr sz="1000" b="0" i="0">
                <a:solidFill>
                  <a:srgbClr val="333333"/>
                </a:solidFill>
              </a:rPr>
              <a:t>Months 9–11</a:t>
            </a:r>
          </a:p>
        </p:txBody>
      </p:sp>
      <p:sp>
        <p:nvSpPr>
          <p:cNvPr id="55" name="Rectangle 54"/>
          <p:cNvSpPr/>
          <p:nvPr/>
        </p:nvSpPr>
        <p:spPr>
          <a:xfrm>
            <a:off x="7863840" y="4297680"/>
            <a:ext cx="1600199" cy="411480"/>
          </a:xfrm>
          <a:prstGeom prst="rect">
            <a:avLst/>
          </a:prstGeom>
          <a:solidFill>
            <a:srgbClr val="0D45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955279" y="4343400"/>
            <a:ext cx="1417319" cy="347472"/>
          </a:xfrm>
          <a:prstGeom prst="rect">
            <a:avLst/>
          </a:prstGeom>
          <a:noFill/>
        </p:spPr>
        <p:txBody>
          <a:bodyPr wrap="square">
            <a:spAutoFit/>
          </a:bodyPr>
          <a:lstStyle/>
          <a:p>
            <a:pPr algn="l"/>
            <a:r>
              <a:rPr sz="1000" b="1" i="0">
                <a:solidFill>
                  <a:srgbClr val="FFFFFF"/>
                </a:solidFill>
              </a:rPr>
              <a:t>Testing &amp; Validation</a:t>
            </a:r>
          </a:p>
        </p:txBody>
      </p:sp>
      <p:sp>
        <p:nvSpPr>
          <p:cNvPr id="57" name="TextBox 56"/>
          <p:cNvSpPr txBox="1"/>
          <p:nvPr/>
        </p:nvSpPr>
        <p:spPr>
          <a:xfrm>
            <a:off x="137160" y="4956048"/>
            <a:ext cx="1005840" cy="365760"/>
          </a:xfrm>
          <a:prstGeom prst="rect">
            <a:avLst/>
          </a:prstGeom>
          <a:noFill/>
        </p:spPr>
        <p:txBody>
          <a:bodyPr wrap="square">
            <a:spAutoFit/>
          </a:bodyPr>
          <a:lstStyle/>
          <a:p>
            <a:pPr algn="l"/>
            <a:r>
              <a:rPr sz="1100" b="1" i="0">
                <a:solidFill>
                  <a:srgbClr val="0D2B55"/>
                </a:solidFill>
              </a:rPr>
              <a:t>Phase 6</a:t>
            </a:r>
          </a:p>
        </p:txBody>
      </p:sp>
      <p:sp>
        <p:nvSpPr>
          <p:cNvPr id="58" name="TextBox 57"/>
          <p:cNvSpPr txBox="1"/>
          <p:nvPr/>
        </p:nvSpPr>
        <p:spPr>
          <a:xfrm>
            <a:off x="1188720" y="4956048"/>
            <a:ext cx="2103120" cy="365760"/>
          </a:xfrm>
          <a:prstGeom prst="rect">
            <a:avLst/>
          </a:prstGeom>
          <a:noFill/>
        </p:spPr>
        <p:txBody>
          <a:bodyPr wrap="square">
            <a:spAutoFit/>
          </a:bodyPr>
          <a:lstStyle/>
          <a:p>
            <a:pPr algn="l"/>
            <a:r>
              <a:rPr sz="1000" b="0" i="0">
                <a:solidFill>
                  <a:srgbClr val="333333"/>
                </a:solidFill>
              </a:rPr>
              <a:t>Months 11–13</a:t>
            </a:r>
          </a:p>
        </p:txBody>
      </p:sp>
      <p:sp>
        <p:nvSpPr>
          <p:cNvPr id="59" name="Rectangle 58"/>
          <p:cNvSpPr/>
          <p:nvPr/>
        </p:nvSpPr>
        <p:spPr>
          <a:xfrm>
            <a:off x="8961120" y="4919472"/>
            <a:ext cx="1600199" cy="411480"/>
          </a:xfrm>
          <a:prstGeom prst="rect">
            <a:avLst/>
          </a:prstGeom>
          <a:solidFill>
            <a:srgbClr val="1E8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9052560" y="4965192"/>
            <a:ext cx="1417319" cy="347472"/>
          </a:xfrm>
          <a:prstGeom prst="rect">
            <a:avLst/>
          </a:prstGeom>
          <a:noFill/>
        </p:spPr>
        <p:txBody>
          <a:bodyPr wrap="square">
            <a:spAutoFit/>
          </a:bodyPr>
          <a:lstStyle/>
          <a:p>
            <a:pPr algn="l"/>
            <a:r>
              <a:rPr sz="1000" b="1" i="0">
                <a:solidFill>
                  <a:srgbClr val="FFFFFF"/>
                </a:solidFill>
              </a:rPr>
              <a:t>Pilot Deployment</a:t>
            </a:r>
          </a:p>
        </p:txBody>
      </p:sp>
      <p:sp>
        <p:nvSpPr>
          <p:cNvPr id="61" name="TextBox 60"/>
          <p:cNvSpPr txBox="1"/>
          <p:nvPr/>
        </p:nvSpPr>
        <p:spPr>
          <a:xfrm>
            <a:off x="137160" y="5577840"/>
            <a:ext cx="1005840" cy="365760"/>
          </a:xfrm>
          <a:prstGeom prst="rect">
            <a:avLst/>
          </a:prstGeom>
          <a:noFill/>
        </p:spPr>
        <p:txBody>
          <a:bodyPr wrap="square">
            <a:spAutoFit/>
          </a:bodyPr>
          <a:lstStyle/>
          <a:p>
            <a:pPr algn="l"/>
            <a:r>
              <a:rPr sz="1100" b="1" i="0">
                <a:solidFill>
                  <a:srgbClr val="0D2B55"/>
                </a:solidFill>
              </a:rPr>
              <a:t>Phase 7</a:t>
            </a:r>
          </a:p>
        </p:txBody>
      </p:sp>
      <p:sp>
        <p:nvSpPr>
          <p:cNvPr id="62" name="TextBox 61"/>
          <p:cNvSpPr txBox="1"/>
          <p:nvPr/>
        </p:nvSpPr>
        <p:spPr>
          <a:xfrm>
            <a:off x="1188720" y="5577840"/>
            <a:ext cx="2103120" cy="365760"/>
          </a:xfrm>
          <a:prstGeom prst="rect">
            <a:avLst/>
          </a:prstGeom>
          <a:noFill/>
        </p:spPr>
        <p:txBody>
          <a:bodyPr wrap="square">
            <a:spAutoFit/>
          </a:bodyPr>
          <a:lstStyle/>
          <a:p>
            <a:pPr algn="l"/>
            <a:r>
              <a:rPr sz="1000" b="0" i="0">
                <a:solidFill>
                  <a:srgbClr val="333333"/>
                </a:solidFill>
              </a:rPr>
              <a:t>Months 13–15</a:t>
            </a:r>
          </a:p>
        </p:txBody>
      </p:sp>
      <p:sp>
        <p:nvSpPr>
          <p:cNvPr id="63" name="Rectangle 62"/>
          <p:cNvSpPr/>
          <p:nvPr/>
        </p:nvSpPr>
        <p:spPr>
          <a:xfrm>
            <a:off x="10058400" y="5541264"/>
            <a:ext cx="1600199" cy="411480"/>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10149840" y="5586984"/>
            <a:ext cx="1417319" cy="347472"/>
          </a:xfrm>
          <a:prstGeom prst="rect">
            <a:avLst/>
          </a:prstGeom>
          <a:noFill/>
        </p:spPr>
        <p:txBody>
          <a:bodyPr wrap="square">
            <a:spAutoFit/>
          </a:bodyPr>
          <a:lstStyle/>
          <a:p>
            <a:pPr algn="l"/>
            <a:r>
              <a:rPr sz="1000" b="1" i="0">
                <a:solidFill>
                  <a:srgbClr val="0D2B55"/>
                </a:solidFill>
              </a:rPr>
              <a:t>Evaluation &amp; Publication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9728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097280"/>
            <a:ext cx="12188952" cy="64008"/>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61288"/>
            <a:ext cx="12188952" cy="5696712"/>
          </a:xfrm>
          <a:prstGeom prst="rect">
            <a:avLst/>
          </a:prstGeom>
          <a:solidFill>
            <a:srgbClr val="F2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91440"/>
            <a:ext cx="11430000" cy="914400"/>
          </a:xfrm>
          <a:prstGeom prst="rect">
            <a:avLst/>
          </a:prstGeom>
          <a:noFill/>
        </p:spPr>
        <p:txBody>
          <a:bodyPr wrap="square">
            <a:spAutoFit/>
          </a:bodyPr>
          <a:lstStyle/>
          <a:p>
            <a:pPr algn="l"/>
            <a:r>
              <a:rPr sz="2800" b="1" i="0">
                <a:solidFill>
                  <a:srgbClr val="FFFFFF"/>
                </a:solidFill>
              </a:rPr>
              <a:t>Conclusion &amp; Future Work</a:t>
            </a:r>
          </a:p>
        </p:txBody>
      </p:sp>
      <p:sp>
        <p:nvSpPr>
          <p:cNvPr id="6" name="Rectangle 5"/>
          <p:cNvSpPr/>
          <p:nvPr/>
        </p:nvSpPr>
        <p:spPr>
          <a:xfrm>
            <a:off x="274320" y="1325880"/>
            <a:ext cx="11612880" cy="23774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71600"/>
            <a:ext cx="5029200" cy="411480"/>
          </a:xfrm>
          <a:prstGeom prst="rect">
            <a:avLst/>
          </a:prstGeom>
          <a:noFill/>
        </p:spPr>
        <p:txBody>
          <a:bodyPr wrap="square">
            <a:spAutoFit/>
          </a:bodyPr>
          <a:lstStyle/>
          <a:p>
            <a:pPr algn="l"/>
            <a:r>
              <a:rPr sz="1600" b="1" i="0">
                <a:solidFill>
                  <a:srgbClr val="0D2B55"/>
                </a:solidFill>
              </a:rPr>
              <a:t>Key Takeaways</a:t>
            </a:r>
          </a:p>
        </p:txBody>
      </p:sp>
      <p:sp>
        <p:nvSpPr>
          <p:cNvPr id="8" name="Rectangle 7"/>
          <p:cNvSpPr/>
          <p:nvPr/>
        </p:nvSpPr>
        <p:spPr>
          <a:xfrm>
            <a:off x="457200" y="1828800"/>
            <a:ext cx="109728" cy="274320"/>
          </a:xfrm>
          <a:prstGeom prst="rect">
            <a:avLst/>
          </a:prstGeom>
          <a:solidFill>
            <a:srgbClr val="1E8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1810512"/>
            <a:ext cx="5303520" cy="347472"/>
          </a:xfrm>
          <a:prstGeom prst="rect">
            <a:avLst/>
          </a:prstGeom>
          <a:noFill/>
        </p:spPr>
        <p:txBody>
          <a:bodyPr wrap="square">
            <a:spAutoFit/>
          </a:bodyPr>
          <a:lstStyle/>
          <a:p>
            <a:pPr algn="l"/>
            <a:r>
              <a:rPr sz="1300" b="0" i="0">
                <a:solidFill>
                  <a:srgbClr val="333333"/>
                </a:solidFill>
              </a:rPr>
              <a:t>Insurance is a significant and underutilised AML risk domain</a:t>
            </a:r>
          </a:p>
        </p:txBody>
      </p:sp>
      <p:sp>
        <p:nvSpPr>
          <p:cNvPr id="10" name="Rectangle 9"/>
          <p:cNvSpPr/>
          <p:nvPr/>
        </p:nvSpPr>
        <p:spPr>
          <a:xfrm>
            <a:off x="457200" y="2212848"/>
            <a:ext cx="109728" cy="274320"/>
          </a:xfrm>
          <a:prstGeom prst="rect">
            <a:avLst/>
          </a:prstGeom>
          <a:solidFill>
            <a:srgbClr val="1E8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2194560"/>
            <a:ext cx="5303520" cy="347472"/>
          </a:xfrm>
          <a:prstGeom prst="rect">
            <a:avLst/>
          </a:prstGeom>
          <a:noFill/>
        </p:spPr>
        <p:txBody>
          <a:bodyPr wrap="square">
            <a:spAutoFit/>
          </a:bodyPr>
          <a:lstStyle/>
          <a:p>
            <a:pPr algn="l"/>
            <a:r>
              <a:rPr sz="1300" b="0" i="0">
                <a:solidFill>
                  <a:srgbClr val="333333"/>
                </a:solidFill>
              </a:rPr>
              <a:t>Hybrid ML (supervised + unsupervised + GNN) outperforms rule-based approaches</a:t>
            </a:r>
          </a:p>
        </p:txBody>
      </p:sp>
      <p:sp>
        <p:nvSpPr>
          <p:cNvPr id="12" name="Rectangle 11"/>
          <p:cNvSpPr/>
          <p:nvPr/>
        </p:nvSpPr>
        <p:spPr>
          <a:xfrm>
            <a:off x="457200" y="2596896"/>
            <a:ext cx="109728" cy="274320"/>
          </a:xfrm>
          <a:prstGeom prst="rect">
            <a:avLst/>
          </a:prstGeom>
          <a:solidFill>
            <a:srgbClr val="1E8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2578608"/>
            <a:ext cx="5303520" cy="347472"/>
          </a:xfrm>
          <a:prstGeom prst="rect">
            <a:avLst/>
          </a:prstGeom>
          <a:noFill/>
        </p:spPr>
        <p:txBody>
          <a:bodyPr wrap="square">
            <a:spAutoFit/>
          </a:bodyPr>
          <a:lstStyle/>
          <a:p>
            <a:pPr algn="l"/>
            <a:r>
              <a:rPr sz="1300" b="0" i="0">
                <a:solidFill>
                  <a:srgbClr val="333333"/>
                </a:solidFill>
              </a:rPr>
              <a:t>Explainable AI (SHAP) bridges ML models and regulatory acceptance</a:t>
            </a:r>
          </a:p>
        </p:txBody>
      </p:sp>
      <p:sp>
        <p:nvSpPr>
          <p:cNvPr id="14" name="Rectangle 13"/>
          <p:cNvSpPr/>
          <p:nvPr/>
        </p:nvSpPr>
        <p:spPr>
          <a:xfrm>
            <a:off x="457200" y="2980944"/>
            <a:ext cx="109728" cy="274320"/>
          </a:xfrm>
          <a:prstGeom prst="rect">
            <a:avLst/>
          </a:prstGeom>
          <a:solidFill>
            <a:srgbClr val="1E8A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8368" y="2962656"/>
            <a:ext cx="5303520" cy="347472"/>
          </a:xfrm>
          <a:prstGeom prst="rect">
            <a:avLst/>
          </a:prstGeom>
          <a:noFill/>
        </p:spPr>
        <p:txBody>
          <a:bodyPr wrap="square">
            <a:spAutoFit/>
          </a:bodyPr>
          <a:lstStyle/>
          <a:p>
            <a:pPr algn="l"/>
            <a:r>
              <a:rPr sz="1300" b="0" i="0">
                <a:solidFill>
                  <a:srgbClr val="333333"/>
                </a:solidFill>
              </a:rPr>
              <a:t>Automated SAR generation dramatically reduces compliance burden</a:t>
            </a:r>
          </a:p>
        </p:txBody>
      </p:sp>
      <p:sp>
        <p:nvSpPr>
          <p:cNvPr id="16" name="TextBox 15"/>
          <p:cNvSpPr txBox="1"/>
          <p:nvPr/>
        </p:nvSpPr>
        <p:spPr>
          <a:xfrm>
            <a:off x="6583680" y="1371600"/>
            <a:ext cx="5212080" cy="411480"/>
          </a:xfrm>
          <a:prstGeom prst="rect">
            <a:avLst/>
          </a:prstGeom>
          <a:noFill/>
        </p:spPr>
        <p:txBody>
          <a:bodyPr wrap="square">
            <a:spAutoFit/>
          </a:bodyPr>
          <a:lstStyle/>
          <a:p>
            <a:pPr algn="l"/>
            <a:r>
              <a:rPr sz="1600" b="1" i="0">
                <a:solidFill>
                  <a:srgbClr val="0D2B55"/>
                </a:solidFill>
              </a:rPr>
              <a:t>Future Research Directions</a:t>
            </a:r>
          </a:p>
        </p:txBody>
      </p:sp>
      <p:sp>
        <p:nvSpPr>
          <p:cNvPr id="17" name="Rectangle 16"/>
          <p:cNvSpPr/>
          <p:nvPr/>
        </p:nvSpPr>
        <p:spPr>
          <a:xfrm>
            <a:off x="6583680" y="1828800"/>
            <a:ext cx="109728" cy="27432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12280" y="1810512"/>
            <a:ext cx="5120640" cy="347472"/>
          </a:xfrm>
          <a:prstGeom prst="rect">
            <a:avLst/>
          </a:prstGeom>
          <a:noFill/>
        </p:spPr>
        <p:txBody>
          <a:bodyPr wrap="square">
            <a:spAutoFit/>
          </a:bodyPr>
          <a:lstStyle/>
          <a:p>
            <a:pPr algn="l"/>
            <a:r>
              <a:rPr sz="1300" b="0" i="0">
                <a:solidFill>
                  <a:srgbClr val="333333"/>
                </a:solidFill>
              </a:rPr>
              <a:t>Extend to reinsurance &amp; non-life insurance products</a:t>
            </a:r>
          </a:p>
        </p:txBody>
      </p:sp>
      <p:sp>
        <p:nvSpPr>
          <p:cNvPr id="19" name="Rectangle 18"/>
          <p:cNvSpPr/>
          <p:nvPr/>
        </p:nvSpPr>
        <p:spPr>
          <a:xfrm>
            <a:off x="6583680" y="2212848"/>
            <a:ext cx="109728" cy="27432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12280" y="2194560"/>
            <a:ext cx="5120640" cy="347472"/>
          </a:xfrm>
          <a:prstGeom prst="rect">
            <a:avLst/>
          </a:prstGeom>
          <a:noFill/>
        </p:spPr>
        <p:txBody>
          <a:bodyPr wrap="square">
            <a:spAutoFit/>
          </a:bodyPr>
          <a:lstStyle/>
          <a:p>
            <a:pPr algn="l"/>
            <a:r>
              <a:rPr sz="1300" b="0" i="0">
                <a:solidFill>
                  <a:srgbClr val="333333"/>
                </a:solidFill>
              </a:rPr>
              <a:t>Federated learning for cross-insurer data sharing</a:t>
            </a:r>
          </a:p>
        </p:txBody>
      </p:sp>
      <p:sp>
        <p:nvSpPr>
          <p:cNvPr id="21" name="Rectangle 20"/>
          <p:cNvSpPr/>
          <p:nvPr/>
        </p:nvSpPr>
        <p:spPr>
          <a:xfrm>
            <a:off x="6583680" y="2596896"/>
            <a:ext cx="109728" cy="27432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12280" y="2578608"/>
            <a:ext cx="5120640" cy="347472"/>
          </a:xfrm>
          <a:prstGeom prst="rect">
            <a:avLst/>
          </a:prstGeom>
          <a:noFill/>
        </p:spPr>
        <p:txBody>
          <a:bodyPr wrap="square">
            <a:spAutoFit/>
          </a:bodyPr>
          <a:lstStyle/>
          <a:p>
            <a:pPr algn="l"/>
            <a:r>
              <a:rPr sz="1300" b="0" i="0">
                <a:solidFill>
                  <a:srgbClr val="333333"/>
                </a:solidFill>
              </a:rPr>
              <a:t>Integration with national FIU intelligence platforms</a:t>
            </a:r>
          </a:p>
        </p:txBody>
      </p:sp>
      <p:sp>
        <p:nvSpPr>
          <p:cNvPr id="23" name="Rectangle 22"/>
          <p:cNvSpPr/>
          <p:nvPr/>
        </p:nvSpPr>
        <p:spPr>
          <a:xfrm>
            <a:off x="6583680" y="2980944"/>
            <a:ext cx="109728" cy="274320"/>
          </a:xfrm>
          <a:prstGeom prst="rect">
            <a:avLst/>
          </a:prstGeom>
          <a:solidFill>
            <a:srgbClr val="1A53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12280" y="2962656"/>
            <a:ext cx="5120640" cy="347472"/>
          </a:xfrm>
          <a:prstGeom prst="rect">
            <a:avLst/>
          </a:prstGeom>
          <a:noFill/>
        </p:spPr>
        <p:txBody>
          <a:bodyPr wrap="square">
            <a:spAutoFit/>
          </a:bodyPr>
          <a:lstStyle/>
          <a:p>
            <a:pPr algn="l"/>
            <a:r>
              <a:rPr sz="1300" b="0" i="0">
                <a:solidFill>
                  <a:srgbClr val="333333"/>
                </a:solidFill>
              </a:rPr>
              <a:t>Real-time streaming architecture (Kafka/Flink)</a:t>
            </a:r>
          </a:p>
        </p:txBody>
      </p:sp>
      <p:sp>
        <p:nvSpPr>
          <p:cNvPr id="25" name="Rectangle 24"/>
          <p:cNvSpPr/>
          <p:nvPr/>
        </p:nvSpPr>
        <p:spPr>
          <a:xfrm>
            <a:off x="274320" y="3794760"/>
            <a:ext cx="11612880" cy="45720"/>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74320" y="3886200"/>
            <a:ext cx="11612880" cy="256032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3977639"/>
            <a:ext cx="11247120" cy="365760"/>
          </a:xfrm>
          <a:prstGeom prst="rect">
            <a:avLst/>
          </a:prstGeom>
          <a:noFill/>
        </p:spPr>
        <p:txBody>
          <a:bodyPr wrap="square">
            <a:spAutoFit/>
          </a:bodyPr>
          <a:lstStyle/>
          <a:p>
            <a:pPr algn="ctr"/>
            <a:r>
              <a:rPr sz="1400" b="1" i="0">
                <a:solidFill>
                  <a:srgbClr val="F0A500"/>
                </a:solidFill>
              </a:rPr>
              <a:t>Publication Venues</a:t>
            </a:r>
          </a:p>
        </p:txBody>
      </p:sp>
      <p:sp>
        <p:nvSpPr>
          <p:cNvPr id="28" name="TextBox 27"/>
          <p:cNvSpPr txBox="1"/>
          <p:nvPr/>
        </p:nvSpPr>
        <p:spPr>
          <a:xfrm>
            <a:off x="457200" y="4389120"/>
            <a:ext cx="11247120" cy="914400"/>
          </a:xfrm>
          <a:prstGeom prst="rect">
            <a:avLst/>
          </a:prstGeom>
          <a:noFill/>
        </p:spPr>
        <p:txBody>
          <a:bodyPr wrap="square">
            <a:spAutoFit/>
          </a:bodyPr>
          <a:lstStyle/>
          <a:p>
            <a:pPr algn="ctr"/>
            <a:r>
              <a:rPr sz="1300" b="0" i="1">
                <a:solidFill>
                  <a:srgbClr val="FFFFFF"/>
                </a:solidFill>
              </a:rPr>
              <a:t>IEEE Transactions on Information Forensics and Security
Journal of Financial Crime  •  Expert Systems with Applications
Journal of Money Laundering Control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2B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017520"/>
            <a:ext cx="12188952" cy="109728"/>
          </a:xfrm>
          <a:prstGeom prst="rect">
            <a:avLst/>
          </a:prstGeom>
          <a:solidFill>
            <a:srgbClr val="F0A5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914400"/>
            <a:ext cx="11247120" cy="1371600"/>
          </a:xfrm>
          <a:prstGeom prst="rect">
            <a:avLst/>
          </a:prstGeom>
          <a:noFill/>
        </p:spPr>
        <p:txBody>
          <a:bodyPr wrap="square">
            <a:spAutoFit/>
          </a:bodyPr>
          <a:lstStyle/>
          <a:p>
            <a:pPr algn="ctr"/>
            <a:r>
              <a:rPr sz="6000" b="1" i="0">
                <a:solidFill>
                  <a:srgbClr val="FFFFFF"/>
                </a:solidFill>
              </a:rPr>
              <a:t>Thank You</a:t>
            </a:r>
          </a:p>
        </p:txBody>
      </p:sp>
      <p:sp>
        <p:nvSpPr>
          <p:cNvPr id="5" name="TextBox 4"/>
          <p:cNvSpPr txBox="1"/>
          <p:nvPr/>
        </p:nvSpPr>
        <p:spPr>
          <a:xfrm>
            <a:off x="457200" y="2377440"/>
            <a:ext cx="11247120" cy="640080"/>
          </a:xfrm>
          <a:prstGeom prst="rect">
            <a:avLst/>
          </a:prstGeom>
          <a:noFill/>
        </p:spPr>
        <p:txBody>
          <a:bodyPr wrap="square">
            <a:spAutoFit/>
          </a:bodyPr>
          <a:lstStyle/>
          <a:p>
            <a:pPr algn="ctr"/>
            <a:r>
              <a:rPr sz="2200" b="0" i="0">
                <a:solidFill>
                  <a:srgbClr val="F0A500"/>
                </a:solidFill>
              </a:rPr>
              <a:t>Questions &amp; Discussion Welcome</a:t>
            </a:r>
          </a:p>
        </p:txBody>
      </p:sp>
      <p:sp>
        <p:nvSpPr>
          <p:cNvPr id="6" name="TextBox 5"/>
          <p:cNvSpPr txBox="1"/>
          <p:nvPr/>
        </p:nvSpPr>
        <p:spPr>
          <a:xfrm>
            <a:off x="457200" y="3291840"/>
            <a:ext cx="11247120" cy="502920"/>
          </a:xfrm>
          <a:prstGeom prst="rect">
            <a:avLst/>
          </a:prstGeom>
          <a:noFill/>
        </p:spPr>
        <p:txBody>
          <a:bodyPr wrap="square">
            <a:spAutoFit/>
          </a:bodyPr>
          <a:lstStyle/>
          <a:p>
            <a:pPr algn="ctr"/>
            <a:r>
              <a:rPr sz="1500" b="0" i="1">
                <a:solidFill>
                  <a:srgbClr val="88AADD"/>
                </a:solidFill>
              </a:rPr>
              <a:t>AML in Insurance · 25-Paper Literature Review · Multi-Layer ML Framework</a:t>
            </a:r>
          </a:p>
        </p:txBody>
      </p:sp>
      <p:sp>
        <p:nvSpPr>
          <p:cNvPr id="7" name="TextBox 6"/>
          <p:cNvSpPr txBox="1"/>
          <p:nvPr/>
        </p:nvSpPr>
        <p:spPr>
          <a:xfrm>
            <a:off x="457200" y="6035040"/>
            <a:ext cx="11247120" cy="457200"/>
          </a:xfrm>
          <a:prstGeom prst="rect">
            <a:avLst/>
          </a:prstGeom>
          <a:noFill/>
        </p:spPr>
        <p:txBody>
          <a:bodyPr wrap="square">
            <a:spAutoFit/>
          </a:bodyPr>
          <a:lstStyle/>
          <a:p>
            <a:pPr algn="ctr"/>
            <a:r>
              <a:rPr sz="1300" b="0" i="0">
                <a:solidFill>
                  <a:srgbClr val="6688BB"/>
                </a:solidFill>
              </a:rPr>
              <a:t>Research Study ·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